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56" r:id="rId5"/>
    <p:sldId id="257" r:id="rId6"/>
    <p:sldId id="260" r:id="rId7"/>
    <p:sldId id="259" r:id="rId8"/>
    <p:sldId id="261" r:id="rId9"/>
    <p:sldId id="264" r:id="rId10"/>
    <p:sldId id="267" r:id="rId11"/>
    <p:sldId id="266" r:id="rId12"/>
    <p:sldId id="268" r:id="rId13"/>
    <p:sldId id="269" r:id="rId14"/>
    <p:sldId id="270" r:id="rId15"/>
    <p:sldId id="271" r:id="rId16"/>
    <p:sldId id="262" r:id="rId17"/>
    <p:sldId id="272" r:id="rId18"/>
    <p:sldId id="258" r:id="rId19"/>
    <p:sldId id="276" r:id="rId20"/>
    <p:sldId id="274" r:id="rId21"/>
    <p:sldId id="273" r:id="rId22"/>
    <p:sldId id="277" r:id="rId23"/>
    <p:sldId id="279" r:id="rId24"/>
    <p:sldId id="280" r:id="rId25"/>
    <p:sldId id="278" r:id="rId26"/>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80079" autoAdjust="0"/>
  </p:normalViewPr>
  <p:slideViewPr>
    <p:cSldViewPr snapToGrid="0">
      <p:cViewPr varScale="1">
        <p:scale>
          <a:sx n="66" d="100"/>
          <a:sy n="66" d="100"/>
        </p:scale>
        <p:origin x="6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42DE1-D69B-4279-A391-662F062F44A3}" type="datetimeFigureOut">
              <a:rPr lang="pl-PL" smtClean="0"/>
              <a:t>2.01.2026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3A4C6A-F68F-4203-B784-6D1417D8E235}" type="slidenum">
              <a:rPr lang="pl-PL" smtClean="0"/>
              <a:t>‹#›</a:t>
            </a:fld>
            <a:endParaRPr lang="pl-PL"/>
          </a:p>
        </p:txBody>
      </p:sp>
    </p:spTree>
    <p:extLst>
      <p:ext uri="{BB962C8B-B14F-4D97-AF65-F5344CB8AC3E}">
        <p14:creationId xmlns:p14="http://schemas.microsoft.com/office/powerpoint/2010/main" val="221574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503A4C6A-F68F-4203-B784-6D1417D8E235}" type="slidenum">
              <a:rPr lang="pl-PL" smtClean="0"/>
              <a:t>1</a:t>
            </a:fld>
            <a:endParaRPr lang="pl-PL"/>
          </a:p>
        </p:txBody>
      </p:sp>
    </p:spTree>
    <p:extLst>
      <p:ext uri="{BB962C8B-B14F-4D97-AF65-F5344CB8AC3E}">
        <p14:creationId xmlns:p14="http://schemas.microsoft.com/office/powerpoint/2010/main" val="126335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503A4C6A-F68F-4203-B784-6D1417D8E235}" type="slidenum">
              <a:rPr lang="pl-PL" smtClean="0"/>
              <a:t>4</a:t>
            </a:fld>
            <a:endParaRPr lang="pl-PL"/>
          </a:p>
        </p:txBody>
      </p:sp>
    </p:spTree>
    <p:extLst>
      <p:ext uri="{BB962C8B-B14F-4D97-AF65-F5344CB8AC3E}">
        <p14:creationId xmlns:p14="http://schemas.microsoft.com/office/powerpoint/2010/main" val="3933289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sz="1200" kern="1200" dirty="0">
                <a:solidFill>
                  <a:schemeClr val="tx1"/>
                </a:solidFill>
                <a:effectLst/>
                <a:latin typeface="+mn-lt"/>
                <a:ea typeface="+mn-ea"/>
                <a:cs typeface="+mn-cs"/>
              </a:rPr>
              <a:t> transmisyjnego mikroskopu elektronowego (TEM), wibracyjnego magnetometru próbki (VSM) i dyfrakcji rentgenowskiej (XRD)</a:t>
            </a:r>
          </a:p>
          <a:p>
            <a:r>
              <a:rPr lang="pl-PL" sz="1200" kern="1200" dirty="0">
                <a:solidFill>
                  <a:schemeClr val="tx1"/>
                </a:solidFill>
                <a:effectLst/>
                <a:latin typeface="+mn-lt"/>
                <a:ea typeface="+mn-ea"/>
                <a:cs typeface="+mn-cs"/>
              </a:rPr>
              <a:t>Właściwości optyczne materiałów również zależą od rozmiaru krystalitów. </a:t>
            </a:r>
            <a:endParaRPr lang="pl-PL" dirty="0"/>
          </a:p>
        </p:txBody>
      </p:sp>
      <p:sp>
        <p:nvSpPr>
          <p:cNvPr id="4" name="Symbol zastępczy numeru slajdu 3"/>
          <p:cNvSpPr>
            <a:spLocks noGrp="1"/>
          </p:cNvSpPr>
          <p:nvPr>
            <p:ph type="sldNum" sz="quarter" idx="5"/>
          </p:nvPr>
        </p:nvSpPr>
        <p:spPr/>
        <p:txBody>
          <a:bodyPr/>
          <a:lstStyle/>
          <a:p>
            <a:fld id="{503A4C6A-F68F-4203-B784-6D1417D8E235}" type="slidenum">
              <a:rPr lang="pl-PL" smtClean="0"/>
              <a:t>5</a:t>
            </a:fld>
            <a:endParaRPr lang="pl-PL"/>
          </a:p>
        </p:txBody>
      </p:sp>
    </p:spTree>
    <p:extLst>
      <p:ext uri="{BB962C8B-B14F-4D97-AF65-F5344CB8AC3E}">
        <p14:creationId xmlns:p14="http://schemas.microsoft.com/office/powerpoint/2010/main" val="4140872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503A4C6A-F68F-4203-B784-6D1417D8E235}" type="slidenum">
              <a:rPr lang="pl-PL" smtClean="0"/>
              <a:t>6</a:t>
            </a:fld>
            <a:endParaRPr lang="pl-PL"/>
          </a:p>
        </p:txBody>
      </p:sp>
    </p:spTree>
    <p:extLst>
      <p:ext uri="{BB962C8B-B14F-4D97-AF65-F5344CB8AC3E}">
        <p14:creationId xmlns:p14="http://schemas.microsoft.com/office/powerpoint/2010/main" val="3122313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62084-169F-3C67-5961-BDE21DB017EA}"/>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16746534-243C-94C3-EC59-92FC63004A46}"/>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FD52D4C4-A983-D18E-08A3-2EDAAAD2A912}"/>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696D7522-2B93-A1C1-ED9A-6F70FCA29930}"/>
              </a:ext>
            </a:extLst>
          </p:cNvPr>
          <p:cNvSpPr>
            <a:spLocks noGrp="1"/>
          </p:cNvSpPr>
          <p:nvPr>
            <p:ph type="sldNum" sz="quarter" idx="5"/>
          </p:nvPr>
        </p:nvSpPr>
        <p:spPr/>
        <p:txBody>
          <a:bodyPr/>
          <a:lstStyle/>
          <a:p>
            <a:fld id="{503A4C6A-F68F-4203-B784-6D1417D8E235}" type="slidenum">
              <a:rPr lang="pl-PL" smtClean="0"/>
              <a:t>7</a:t>
            </a:fld>
            <a:endParaRPr lang="pl-PL"/>
          </a:p>
        </p:txBody>
      </p:sp>
    </p:spTree>
    <p:extLst>
      <p:ext uri="{BB962C8B-B14F-4D97-AF65-F5344CB8AC3E}">
        <p14:creationId xmlns:p14="http://schemas.microsoft.com/office/powerpoint/2010/main" val="1960991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503A4C6A-F68F-4203-B784-6D1417D8E235}" type="slidenum">
              <a:rPr lang="pl-PL" smtClean="0"/>
              <a:t>8</a:t>
            </a:fld>
            <a:endParaRPr lang="pl-PL"/>
          </a:p>
        </p:txBody>
      </p:sp>
    </p:spTree>
    <p:extLst>
      <p:ext uri="{BB962C8B-B14F-4D97-AF65-F5344CB8AC3E}">
        <p14:creationId xmlns:p14="http://schemas.microsoft.com/office/powerpoint/2010/main" val="3800037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0364A-3C7A-6330-2F0B-49ACA9FCB54D}"/>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76795C02-BE2C-D7C8-7316-B0499932A87A}"/>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B07FADEC-4504-1EB7-213C-83060B9C8E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sz="1200" kern="1200" dirty="0">
                <a:solidFill>
                  <a:schemeClr val="tx1"/>
                </a:solidFill>
                <a:effectLst/>
                <a:latin typeface="+mn-lt"/>
                <a:ea typeface="+mn-ea"/>
                <a:cs typeface="+mn-cs"/>
              </a:rPr>
              <a:t>To poszerzenie instrumentalne w pikach XRD wynika z przenikania promieni X do próbki, szerokości szczeliny, niedoskonałej monochromatyczności oraz niedoskonałego ogniskowania.</a:t>
            </a:r>
          </a:p>
          <a:p>
            <a:r>
              <a:rPr lang="pl-PL" sz="1200" kern="1200" dirty="0">
                <a:solidFill>
                  <a:schemeClr val="tx1"/>
                </a:solidFill>
                <a:effectLst/>
                <a:latin typeface="+mn-lt"/>
                <a:ea typeface="+mn-ea"/>
                <a:cs typeface="+mn-cs"/>
              </a:rPr>
              <a:t>Aby odseparować te czynniki, konieczne jest zebranie widma dyfrakcyjnego z próbki referencyjnej. Duże cząstki krzemu mogą pełnić funkcję próbki odniesienia. Można również użyć gruboziarnistych cząstek tego samego materiału.</a:t>
            </a:r>
            <a:endParaRPr lang="pl-PL" dirty="0"/>
          </a:p>
        </p:txBody>
      </p:sp>
      <p:sp>
        <p:nvSpPr>
          <p:cNvPr id="4" name="Symbol zastępczy numeru slajdu 3">
            <a:extLst>
              <a:ext uri="{FF2B5EF4-FFF2-40B4-BE49-F238E27FC236}">
                <a16:creationId xmlns:a16="http://schemas.microsoft.com/office/drawing/2014/main" id="{2EF17CB1-2232-8645-3E69-250EE533AB17}"/>
              </a:ext>
            </a:extLst>
          </p:cNvPr>
          <p:cNvSpPr>
            <a:spLocks noGrp="1"/>
          </p:cNvSpPr>
          <p:nvPr>
            <p:ph type="sldNum" sz="quarter" idx="5"/>
          </p:nvPr>
        </p:nvSpPr>
        <p:spPr/>
        <p:txBody>
          <a:bodyPr/>
          <a:lstStyle/>
          <a:p>
            <a:fld id="{503A4C6A-F68F-4203-B784-6D1417D8E235}" type="slidenum">
              <a:rPr lang="pl-PL" smtClean="0"/>
              <a:t>9</a:t>
            </a:fld>
            <a:endParaRPr lang="pl-PL"/>
          </a:p>
        </p:txBody>
      </p:sp>
    </p:spTree>
    <p:extLst>
      <p:ext uri="{BB962C8B-B14F-4D97-AF65-F5344CB8AC3E}">
        <p14:creationId xmlns:p14="http://schemas.microsoft.com/office/powerpoint/2010/main" val="579217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D002C-EEA9-7ABF-A6C9-8FA70B664356}"/>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019F2B14-0415-184C-FB7D-9C9D70BA7564}"/>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058446BE-A8DC-AF55-09CB-2E3345C9AFC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sz="1200" kern="1200" dirty="0">
                <a:solidFill>
                  <a:schemeClr val="tx1"/>
                </a:solidFill>
                <a:effectLst/>
                <a:latin typeface="+mn-lt"/>
                <a:ea typeface="+mn-ea"/>
                <a:cs typeface="+mn-cs"/>
              </a:rPr>
              <a:t>To poszerzenie instrumentalne w pikach XRD wynika z przenikania promieni X do próbki, szerokości szczeliny, niedoskonałej monochromatyczności oraz niedoskonałego ogniskowania.</a:t>
            </a:r>
          </a:p>
          <a:p>
            <a:r>
              <a:rPr lang="pl-PL" sz="1200" kern="1200" dirty="0">
                <a:solidFill>
                  <a:schemeClr val="tx1"/>
                </a:solidFill>
                <a:effectLst/>
                <a:latin typeface="+mn-lt"/>
                <a:ea typeface="+mn-ea"/>
                <a:cs typeface="+mn-cs"/>
              </a:rPr>
              <a:t>Aby odseparować te czynniki, konieczne jest zebranie widma dyfrakcyjnego z próbki referencyjnej. Duże cząstki krzemu mogą pełnić funkcję próbki odniesienia. Można również użyć gruboziarnistych cząstek tego samego materiału.</a:t>
            </a:r>
            <a:endParaRPr lang="pl-PL" dirty="0"/>
          </a:p>
          <a:p>
            <a:endParaRPr lang="pl-PL" dirty="0"/>
          </a:p>
        </p:txBody>
      </p:sp>
      <p:sp>
        <p:nvSpPr>
          <p:cNvPr id="4" name="Symbol zastępczy numeru slajdu 3">
            <a:extLst>
              <a:ext uri="{FF2B5EF4-FFF2-40B4-BE49-F238E27FC236}">
                <a16:creationId xmlns:a16="http://schemas.microsoft.com/office/drawing/2014/main" id="{1D8652E3-5CC8-9A61-A3EB-EBDBCE808BAE}"/>
              </a:ext>
            </a:extLst>
          </p:cNvPr>
          <p:cNvSpPr>
            <a:spLocks noGrp="1"/>
          </p:cNvSpPr>
          <p:nvPr>
            <p:ph type="sldNum" sz="quarter" idx="5"/>
          </p:nvPr>
        </p:nvSpPr>
        <p:spPr/>
        <p:txBody>
          <a:bodyPr/>
          <a:lstStyle/>
          <a:p>
            <a:fld id="{503A4C6A-F68F-4203-B784-6D1417D8E235}" type="slidenum">
              <a:rPr lang="pl-PL" smtClean="0"/>
              <a:t>10</a:t>
            </a:fld>
            <a:endParaRPr lang="pl-PL"/>
          </a:p>
        </p:txBody>
      </p:sp>
    </p:spTree>
    <p:extLst>
      <p:ext uri="{BB962C8B-B14F-4D97-AF65-F5344CB8AC3E}">
        <p14:creationId xmlns:p14="http://schemas.microsoft.com/office/powerpoint/2010/main" val="4122360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4D621-1138-8F8D-8017-72C726457C60}"/>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083753FE-8C9C-CB49-2CE5-B57FF2936E20}"/>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EDC262BF-3C83-A8D1-639A-5F0AB40E5240}"/>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D2314D31-BDE8-9EA7-6A69-452101DCD233}"/>
              </a:ext>
            </a:extLst>
          </p:cNvPr>
          <p:cNvSpPr>
            <a:spLocks noGrp="1"/>
          </p:cNvSpPr>
          <p:nvPr>
            <p:ph type="sldNum" sz="quarter" idx="5"/>
          </p:nvPr>
        </p:nvSpPr>
        <p:spPr/>
        <p:txBody>
          <a:bodyPr/>
          <a:lstStyle/>
          <a:p>
            <a:fld id="{503A4C6A-F68F-4203-B784-6D1417D8E235}" type="slidenum">
              <a:rPr lang="pl-PL" smtClean="0"/>
              <a:t>11</a:t>
            </a:fld>
            <a:endParaRPr lang="pl-PL"/>
          </a:p>
        </p:txBody>
      </p:sp>
    </p:spTree>
    <p:extLst>
      <p:ext uri="{BB962C8B-B14F-4D97-AF65-F5344CB8AC3E}">
        <p14:creationId xmlns:p14="http://schemas.microsoft.com/office/powerpoint/2010/main" val="1666752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2043E-8226-8CB8-BD0B-997E96AA59A3}"/>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BFE18CFA-064E-D93E-7CF1-AE93CFC6CB59}"/>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23EAE9A0-9FDE-712F-EA90-19E1433BAE39}"/>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13B021C3-FB35-1136-318C-CFAE3F44BA64}"/>
              </a:ext>
            </a:extLst>
          </p:cNvPr>
          <p:cNvSpPr>
            <a:spLocks noGrp="1"/>
          </p:cNvSpPr>
          <p:nvPr>
            <p:ph type="sldNum" sz="quarter" idx="5"/>
          </p:nvPr>
        </p:nvSpPr>
        <p:spPr/>
        <p:txBody>
          <a:bodyPr/>
          <a:lstStyle/>
          <a:p>
            <a:fld id="{503A4C6A-F68F-4203-B784-6D1417D8E235}" type="slidenum">
              <a:rPr lang="pl-PL" smtClean="0"/>
              <a:t>12</a:t>
            </a:fld>
            <a:endParaRPr lang="pl-PL"/>
          </a:p>
        </p:txBody>
      </p:sp>
    </p:spTree>
    <p:extLst>
      <p:ext uri="{BB962C8B-B14F-4D97-AF65-F5344CB8AC3E}">
        <p14:creationId xmlns:p14="http://schemas.microsoft.com/office/powerpoint/2010/main" val="3882314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3E24-D6BD-34C2-F48C-0951246AE037}"/>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C561C540-C610-6542-8C3A-555A280A335C}"/>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BC74A1B7-BAD0-D719-18FF-C894FDE1E5BC}"/>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6A1F61CB-5070-6090-69EB-97DB6716EFA9}"/>
              </a:ext>
            </a:extLst>
          </p:cNvPr>
          <p:cNvSpPr>
            <a:spLocks noGrp="1"/>
          </p:cNvSpPr>
          <p:nvPr>
            <p:ph type="sldNum" sz="quarter" idx="5"/>
          </p:nvPr>
        </p:nvSpPr>
        <p:spPr/>
        <p:txBody>
          <a:bodyPr/>
          <a:lstStyle/>
          <a:p>
            <a:fld id="{503A4C6A-F68F-4203-B784-6D1417D8E235}" type="slidenum">
              <a:rPr lang="pl-PL" smtClean="0"/>
              <a:t>14</a:t>
            </a:fld>
            <a:endParaRPr lang="pl-PL"/>
          </a:p>
        </p:txBody>
      </p:sp>
    </p:spTree>
    <p:extLst>
      <p:ext uri="{BB962C8B-B14F-4D97-AF65-F5344CB8AC3E}">
        <p14:creationId xmlns:p14="http://schemas.microsoft.com/office/powerpoint/2010/main" val="1070795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503A4C6A-F68F-4203-B784-6D1417D8E235}" type="slidenum">
              <a:rPr lang="pl-PL" smtClean="0"/>
              <a:t>15</a:t>
            </a:fld>
            <a:endParaRPr lang="pl-PL"/>
          </a:p>
        </p:txBody>
      </p:sp>
    </p:spTree>
    <p:extLst>
      <p:ext uri="{BB962C8B-B14F-4D97-AF65-F5344CB8AC3E}">
        <p14:creationId xmlns:p14="http://schemas.microsoft.com/office/powerpoint/2010/main" val="3375359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9A172-CFF5-B120-C7EB-29B3ABE036C8}"/>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6D72A21E-9845-F841-F174-38E38CCEE50E}"/>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61A35948-8A0F-2DF8-5522-964389622C6E}"/>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A25D262F-0B82-CC08-7C68-4114E30873B9}"/>
              </a:ext>
            </a:extLst>
          </p:cNvPr>
          <p:cNvSpPr>
            <a:spLocks noGrp="1"/>
          </p:cNvSpPr>
          <p:nvPr>
            <p:ph type="sldNum" sz="quarter" idx="5"/>
          </p:nvPr>
        </p:nvSpPr>
        <p:spPr/>
        <p:txBody>
          <a:bodyPr/>
          <a:lstStyle/>
          <a:p>
            <a:fld id="{503A4C6A-F68F-4203-B784-6D1417D8E235}" type="slidenum">
              <a:rPr lang="pl-PL" smtClean="0"/>
              <a:t>16</a:t>
            </a:fld>
            <a:endParaRPr lang="pl-PL"/>
          </a:p>
        </p:txBody>
      </p:sp>
    </p:spTree>
    <p:extLst>
      <p:ext uri="{BB962C8B-B14F-4D97-AF65-F5344CB8AC3E}">
        <p14:creationId xmlns:p14="http://schemas.microsoft.com/office/powerpoint/2010/main" val="2824121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503A4C6A-F68F-4203-B784-6D1417D8E235}" type="slidenum">
              <a:rPr lang="pl-PL" smtClean="0"/>
              <a:t>17</a:t>
            </a:fld>
            <a:endParaRPr lang="pl-PL"/>
          </a:p>
        </p:txBody>
      </p:sp>
    </p:spTree>
    <p:extLst>
      <p:ext uri="{BB962C8B-B14F-4D97-AF65-F5344CB8AC3E}">
        <p14:creationId xmlns:p14="http://schemas.microsoft.com/office/powerpoint/2010/main" val="4122026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fld id="{503A4C6A-F68F-4203-B784-6D1417D8E235}" type="slidenum">
              <a:rPr lang="pl-PL" smtClean="0"/>
              <a:t>22</a:t>
            </a:fld>
            <a:endParaRPr lang="pl-PL"/>
          </a:p>
        </p:txBody>
      </p:sp>
    </p:spTree>
    <p:extLst>
      <p:ext uri="{BB962C8B-B14F-4D97-AF65-F5344CB8AC3E}">
        <p14:creationId xmlns:p14="http://schemas.microsoft.com/office/powerpoint/2010/main" val="3167337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E6A5D18-4251-112B-5D22-577FD15CFC0F}"/>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72AF2A08-AEBF-3428-6806-8A9C81A969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03903B52-8011-FC5E-721F-FA1A1E175B91}"/>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5" name="Symbol zastępczy stopki 4">
            <a:extLst>
              <a:ext uri="{FF2B5EF4-FFF2-40B4-BE49-F238E27FC236}">
                <a16:creationId xmlns:a16="http://schemas.microsoft.com/office/drawing/2014/main" id="{F4E862FD-3298-676D-8601-3484CA194C4B}"/>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9E724F8E-EC40-5A1C-EE6A-23362BF9256E}"/>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112081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AA5A0CA-699C-C17D-3D12-1EB90D7A1DD5}"/>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40819A52-DDC4-DB0B-E7D0-73EC35BF26D7}"/>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D4B7FAAE-333E-09FC-E0F7-E7134B7535D4}"/>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5" name="Symbol zastępczy stopki 4">
            <a:extLst>
              <a:ext uri="{FF2B5EF4-FFF2-40B4-BE49-F238E27FC236}">
                <a16:creationId xmlns:a16="http://schemas.microsoft.com/office/drawing/2014/main" id="{64DFDBCC-E429-9186-B8CA-CF4CD25057A8}"/>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0D93CB81-9CF0-9C18-6011-AAB1984CDC16}"/>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209434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D9AD8F9-140B-805B-0F6E-6821290F1466}"/>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03E5FD80-7E9F-C62D-9DF7-915E5FDA1B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B7933438-13FC-D68D-35DA-CB0ED878F616}"/>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5" name="Symbol zastępczy stopki 4">
            <a:extLst>
              <a:ext uri="{FF2B5EF4-FFF2-40B4-BE49-F238E27FC236}">
                <a16:creationId xmlns:a16="http://schemas.microsoft.com/office/drawing/2014/main" id="{3E9F504C-29CA-3910-F500-D84ECB6688CA}"/>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AC5739B5-9649-8181-D887-FBB6FE723CBE}"/>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52644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6756177-CFDF-51AC-D635-10610F4E06AB}"/>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F5760BC9-2CE7-EC12-73BF-BA7AE8F59F76}"/>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A5EE4A38-A1B1-E3AA-990B-23AA681B9B52}"/>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01362790-76F3-8CA1-D36E-E6DF504F67C6}"/>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6" name="Symbol zastępczy stopki 5">
            <a:extLst>
              <a:ext uri="{FF2B5EF4-FFF2-40B4-BE49-F238E27FC236}">
                <a16:creationId xmlns:a16="http://schemas.microsoft.com/office/drawing/2014/main" id="{68D89FF3-DB32-290F-872D-A0F0F5E90C20}"/>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22BF36A8-FCF5-73F8-3B0D-577D08A10DEA}"/>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3021227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58EEDF-B59B-27EA-C735-48DF7D982739}"/>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DDD84417-85E5-B873-65F8-763F7111C3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F0A1FA3D-362C-CFC4-DCB2-2362E9CD1574}"/>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06DE3C68-ABAB-25C4-5F0C-6CDBA4CE29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73AB08E4-FB2D-0C39-730D-AE02F811E41C}"/>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D9A50B65-E468-DFB8-F058-9C5FA1FAA3C1}"/>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8" name="Symbol zastępczy stopki 7">
            <a:extLst>
              <a:ext uri="{FF2B5EF4-FFF2-40B4-BE49-F238E27FC236}">
                <a16:creationId xmlns:a16="http://schemas.microsoft.com/office/drawing/2014/main" id="{1C4EA028-1E69-33BA-6E0A-C18FB610A8EF}"/>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815B5591-CD06-19BF-E11D-39185BD67CAF}"/>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2574187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57192FB-A9AC-7709-348C-8FE71D7E85C1}"/>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48020F1B-380F-2CA9-9D9F-B067DEA5CC58}"/>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4" name="Symbol zastępczy stopki 3">
            <a:extLst>
              <a:ext uri="{FF2B5EF4-FFF2-40B4-BE49-F238E27FC236}">
                <a16:creationId xmlns:a16="http://schemas.microsoft.com/office/drawing/2014/main" id="{20BD05DA-2113-2486-18B5-5483FCC67E0A}"/>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927A8B82-B954-A5B1-7F82-ED61F7F030FB}"/>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3504806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9443CCCB-9EBB-8F22-2862-64E48D3FB176}"/>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3" name="Symbol zastępczy stopki 2">
            <a:extLst>
              <a:ext uri="{FF2B5EF4-FFF2-40B4-BE49-F238E27FC236}">
                <a16:creationId xmlns:a16="http://schemas.microsoft.com/office/drawing/2014/main" id="{0D52F16D-9BEE-6214-BB4C-5C7D7D4E51B2}"/>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C7E59ED5-82FA-B679-AAAA-F747F87F0F04}"/>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538006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87C2F83-754C-DB8C-DCBD-8D35EFF58335}"/>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F1F6EA31-B175-3D99-7F80-4CEDDF648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BD520D71-6015-3F7B-333B-6CB012B0DB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53827C27-C7EB-0E02-1D11-76BBFE9DD65B}"/>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6" name="Symbol zastępczy stopki 5">
            <a:extLst>
              <a:ext uri="{FF2B5EF4-FFF2-40B4-BE49-F238E27FC236}">
                <a16:creationId xmlns:a16="http://schemas.microsoft.com/office/drawing/2014/main" id="{420B1D8B-D853-2D7F-8C2F-3EC0B209C83F}"/>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079218B9-EF20-FDDC-AD5A-8A3456BA85B9}"/>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2681030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EF664F0-2E8F-7E41-7DF0-EBCCD0D97880}"/>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D1A09FF2-2491-B4D9-A605-D4C93CA7A4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D0CCC436-6E9A-701F-7DDB-EE4EF706F6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8F48D2C2-05D4-F650-D2C2-3BE665280CBA}"/>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6" name="Symbol zastępczy stopki 5">
            <a:extLst>
              <a:ext uri="{FF2B5EF4-FFF2-40B4-BE49-F238E27FC236}">
                <a16:creationId xmlns:a16="http://schemas.microsoft.com/office/drawing/2014/main" id="{3BBCC5CB-0D69-D050-1D7A-3B507890C514}"/>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ED6E4007-A17E-433B-5130-98C237CD796D}"/>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1360366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3FA6AFF-7948-65C2-2457-810AD5784120}"/>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E1F57FDD-1652-BA48-B616-5517E970A3E9}"/>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4BE008C5-CB3F-6BB0-786D-2DEA78E424E7}"/>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5" name="Symbol zastępczy stopki 4">
            <a:extLst>
              <a:ext uri="{FF2B5EF4-FFF2-40B4-BE49-F238E27FC236}">
                <a16:creationId xmlns:a16="http://schemas.microsoft.com/office/drawing/2014/main" id="{A81A451B-CAF1-83BE-CDA5-ADD53AB0C200}"/>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262842B5-5D94-B0F2-BC1A-50C12B435E06}"/>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1213992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A3E44F75-57CE-85AB-0501-E037D067AE86}"/>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9E2B6A0A-0136-A0CA-0D73-5040ADC476AA}"/>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AD320204-5316-040A-AFC7-B6FFDDA536A6}"/>
              </a:ext>
            </a:extLst>
          </p:cNvPr>
          <p:cNvSpPr>
            <a:spLocks noGrp="1"/>
          </p:cNvSpPr>
          <p:nvPr>
            <p:ph type="dt" sz="half" idx="10"/>
          </p:nvPr>
        </p:nvSpPr>
        <p:spPr/>
        <p:txBody>
          <a:bodyPr/>
          <a:lstStyle/>
          <a:p>
            <a:fld id="{D9C31D7B-E9EB-41FE-8BBA-E15624062425}" type="datetimeFigureOut">
              <a:rPr lang="pl-PL" smtClean="0"/>
              <a:t>2.01.2026</a:t>
            </a:fld>
            <a:endParaRPr lang="pl-PL"/>
          </a:p>
        </p:txBody>
      </p:sp>
      <p:sp>
        <p:nvSpPr>
          <p:cNvPr id="5" name="Symbol zastępczy stopki 4">
            <a:extLst>
              <a:ext uri="{FF2B5EF4-FFF2-40B4-BE49-F238E27FC236}">
                <a16:creationId xmlns:a16="http://schemas.microsoft.com/office/drawing/2014/main" id="{E133B590-574A-618E-31EA-A8A55DD4A197}"/>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00097D38-3085-712D-C5F1-729830657190}"/>
              </a:ext>
            </a:extLst>
          </p:cNvPr>
          <p:cNvSpPr>
            <a:spLocks noGrp="1"/>
          </p:cNvSpPr>
          <p:nvPr>
            <p:ph type="sldNum" sz="quarter" idx="12"/>
          </p:nvPr>
        </p:nvSpPr>
        <p:spPr/>
        <p:txBody>
          <a:bodyPr/>
          <a:lstStyle/>
          <a:p>
            <a:fld id="{B6A1F7C1-9267-4C7F-A6B6-89ED00FFE3F1}" type="slidenum">
              <a:rPr lang="pl-PL" smtClean="0"/>
              <a:t>‹#›</a:t>
            </a:fld>
            <a:endParaRPr lang="pl-PL"/>
          </a:p>
        </p:txBody>
      </p:sp>
    </p:spTree>
    <p:extLst>
      <p:ext uri="{BB962C8B-B14F-4D97-AF65-F5344CB8AC3E}">
        <p14:creationId xmlns:p14="http://schemas.microsoft.com/office/powerpoint/2010/main" val="3547792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48B36342-45CC-3557-CB58-2E0A99BF1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8E4E6D4E-1D93-8182-00EE-7FEC79F19E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6DAFE0D1-06A2-08F1-70DE-AA44EF01E0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C31D7B-E9EB-41FE-8BBA-E15624062425}" type="datetimeFigureOut">
              <a:rPr lang="pl-PL" smtClean="0"/>
              <a:t>2.01.2026</a:t>
            </a:fld>
            <a:endParaRPr lang="pl-PL"/>
          </a:p>
        </p:txBody>
      </p:sp>
      <p:sp>
        <p:nvSpPr>
          <p:cNvPr id="5" name="Symbol zastępczy stopki 4">
            <a:extLst>
              <a:ext uri="{FF2B5EF4-FFF2-40B4-BE49-F238E27FC236}">
                <a16:creationId xmlns:a16="http://schemas.microsoft.com/office/drawing/2014/main" id="{1D4E3DB1-5F30-607C-48AF-3ED02BCC58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7A1EB2F3-8D24-42B2-7689-654FE11C89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A1F7C1-9267-4C7F-A6B6-89ED00FFE3F1}" type="slidenum">
              <a:rPr lang="pl-PL" smtClean="0"/>
              <a:t>‹#›</a:t>
            </a:fld>
            <a:endParaRPr lang="pl-PL"/>
          </a:p>
        </p:txBody>
      </p:sp>
    </p:spTree>
    <p:extLst>
      <p:ext uri="{BB962C8B-B14F-4D97-AF65-F5344CB8AC3E}">
        <p14:creationId xmlns:p14="http://schemas.microsoft.com/office/powerpoint/2010/main" val="3681678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FEC7823C-FDD6-429C-986C-063FDEBF9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B0651F5E-0457-4065-ACB2-8B81590C2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ytuł 1">
            <a:extLst>
              <a:ext uri="{FF2B5EF4-FFF2-40B4-BE49-F238E27FC236}">
                <a16:creationId xmlns:a16="http://schemas.microsoft.com/office/drawing/2014/main" id="{1D754AF2-F09E-D82C-942F-C74CB0D3DFDE}"/>
              </a:ext>
            </a:extLst>
          </p:cNvPr>
          <p:cNvSpPr>
            <a:spLocks noGrp="1"/>
          </p:cNvSpPr>
          <p:nvPr>
            <p:ph type="ctrTitle"/>
          </p:nvPr>
        </p:nvSpPr>
        <p:spPr>
          <a:xfrm>
            <a:off x="5791200" y="1058780"/>
            <a:ext cx="5562599" cy="3092116"/>
          </a:xfrm>
        </p:spPr>
        <p:txBody>
          <a:bodyPr anchor="ctr">
            <a:normAutofit/>
          </a:bodyPr>
          <a:lstStyle/>
          <a:p>
            <a:pPr algn="r"/>
            <a:r>
              <a:rPr lang="pl-PL" sz="5200" dirty="0"/>
              <a:t>Rozmiar krystalitu, metody XRD </a:t>
            </a:r>
            <a:br>
              <a:rPr lang="pl-PL" sz="5200" dirty="0"/>
            </a:br>
            <a:r>
              <a:rPr lang="pl-PL" sz="5200" dirty="0"/>
              <a:t>i   </a:t>
            </a:r>
            <a:r>
              <a:rPr lang="pl-PL" sz="5200" dirty="0" err="1"/>
              <a:t>Williamsona</a:t>
            </a:r>
            <a:r>
              <a:rPr lang="pl-PL" sz="5200" dirty="0"/>
              <a:t> - Halla</a:t>
            </a:r>
          </a:p>
        </p:txBody>
      </p:sp>
      <p:sp>
        <p:nvSpPr>
          <p:cNvPr id="3" name="Podtytuł 2">
            <a:extLst>
              <a:ext uri="{FF2B5EF4-FFF2-40B4-BE49-F238E27FC236}">
                <a16:creationId xmlns:a16="http://schemas.microsoft.com/office/drawing/2014/main" id="{8C061B8E-D93B-6C14-CEFF-9AF033EE2E0D}"/>
              </a:ext>
            </a:extLst>
          </p:cNvPr>
          <p:cNvSpPr>
            <a:spLocks noGrp="1"/>
          </p:cNvSpPr>
          <p:nvPr>
            <p:ph type="subTitle" idx="1"/>
          </p:nvPr>
        </p:nvSpPr>
        <p:spPr>
          <a:xfrm>
            <a:off x="838200" y="5041616"/>
            <a:ext cx="3781926" cy="1246472"/>
          </a:xfrm>
        </p:spPr>
        <p:txBody>
          <a:bodyPr anchor="ctr">
            <a:normAutofit/>
          </a:bodyPr>
          <a:lstStyle/>
          <a:p>
            <a:pPr algn="l"/>
            <a:r>
              <a:rPr lang="pl-PL"/>
              <a:t>Kurdziel Natalia</a:t>
            </a:r>
          </a:p>
        </p:txBody>
      </p:sp>
    </p:spTree>
    <p:extLst>
      <p:ext uri="{BB962C8B-B14F-4D97-AF65-F5344CB8AC3E}">
        <p14:creationId xmlns:p14="http://schemas.microsoft.com/office/powerpoint/2010/main" val="391247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ytuł 1">
            <a:extLst>
              <a:ext uri="{FF2B5EF4-FFF2-40B4-BE49-F238E27FC236}">
                <a16:creationId xmlns:a16="http://schemas.microsoft.com/office/drawing/2014/main" id="{CCE73A90-F100-4678-9EFD-AE91EC560768}"/>
              </a:ext>
            </a:extLst>
          </p:cNvPr>
          <p:cNvSpPr>
            <a:spLocks noGrp="1"/>
          </p:cNvSpPr>
          <p:nvPr>
            <p:ph type="title"/>
          </p:nvPr>
        </p:nvSpPr>
        <p:spPr>
          <a:xfrm>
            <a:off x="838200" y="713312"/>
            <a:ext cx="4038600" cy="5431376"/>
          </a:xfrm>
        </p:spPr>
        <p:txBody>
          <a:bodyPr>
            <a:normAutofit/>
          </a:bodyPr>
          <a:lstStyle/>
          <a:p>
            <a:r>
              <a:rPr lang="pl-PL" dirty="0"/>
              <a:t>Spis treści</a:t>
            </a:r>
          </a:p>
        </p:txBody>
      </p:sp>
      <p:sp>
        <p:nvSpPr>
          <p:cNvPr id="3" name="Symbol zastępczy zawartości 2">
            <a:extLst>
              <a:ext uri="{FF2B5EF4-FFF2-40B4-BE49-F238E27FC236}">
                <a16:creationId xmlns:a16="http://schemas.microsoft.com/office/drawing/2014/main" id="{4FFA64B2-21D9-A5B1-01FF-A49DC6F8DE71}"/>
              </a:ext>
            </a:extLst>
          </p:cNvPr>
          <p:cNvSpPr>
            <a:spLocks noGrp="1"/>
          </p:cNvSpPr>
          <p:nvPr>
            <p:ph idx="1"/>
          </p:nvPr>
        </p:nvSpPr>
        <p:spPr>
          <a:xfrm>
            <a:off x="6095999" y="713313"/>
            <a:ext cx="5257801" cy="5431376"/>
          </a:xfrm>
        </p:spPr>
        <p:txBody>
          <a:bodyPr anchor="ctr">
            <a:normAutofit/>
          </a:bodyPr>
          <a:lstStyle/>
          <a:p>
            <a:r>
              <a:rPr lang="pl-PL" sz="2400" dirty="0"/>
              <a:t>Krystalit</a:t>
            </a:r>
          </a:p>
          <a:p>
            <a:r>
              <a:rPr lang="pl-PL" sz="2400" dirty="0"/>
              <a:t>Jakie znaczenie ma rozmiar kryształu</a:t>
            </a:r>
          </a:p>
          <a:p>
            <a:r>
              <a:rPr lang="pl-PL" sz="2400" dirty="0"/>
              <a:t>Wpływ rozmiaru na właściwości materiałów </a:t>
            </a:r>
          </a:p>
          <a:p>
            <a:r>
              <a:rPr lang="pl-PL" sz="2400" dirty="0"/>
              <a:t>Metody do pomiaru rozmiarów krystalitów</a:t>
            </a:r>
          </a:p>
          <a:p>
            <a:r>
              <a:rPr lang="pl-PL" sz="2400" dirty="0"/>
              <a:t>Metoda XRD</a:t>
            </a:r>
          </a:p>
          <a:p>
            <a:r>
              <a:rPr lang="pl-PL" sz="2400" dirty="0"/>
              <a:t>Określenie szerokości połówkowej FWHM</a:t>
            </a:r>
          </a:p>
          <a:p>
            <a:r>
              <a:rPr lang="pl-PL" sz="2400" dirty="0"/>
              <a:t>Metoda </a:t>
            </a:r>
            <a:r>
              <a:rPr lang="pl-PL" sz="2400" dirty="0" err="1"/>
              <a:t>Williamsona</a:t>
            </a:r>
            <a:r>
              <a:rPr lang="pl-PL" sz="2400" dirty="0"/>
              <a:t>-Halla</a:t>
            </a:r>
          </a:p>
          <a:p>
            <a:r>
              <a:rPr lang="pl-PL" sz="2400" dirty="0"/>
              <a:t>Posiadane dane</a:t>
            </a:r>
          </a:p>
          <a:p>
            <a:r>
              <a:rPr lang="pl-PL" sz="2400" dirty="0"/>
              <a:t>Sfery wymagające dopracowania</a:t>
            </a:r>
          </a:p>
        </p:txBody>
      </p:sp>
    </p:spTree>
    <p:extLst>
      <p:ext uri="{BB962C8B-B14F-4D97-AF65-F5344CB8AC3E}">
        <p14:creationId xmlns:p14="http://schemas.microsoft.com/office/powerpoint/2010/main" val="1967063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ytuł 1">
            <a:extLst>
              <a:ext uri="{FF2B5EF4-FFF2-40B4-BE49-F238E27FC236}">
                <a16:creationId xmlns:a16="http://schemas.microsoft.com/office/drawing/2014/main" id="{AB7BD79F-00A1-229E-3836-17AC9F832225}"/>
              </a:ext>
            </a:extLst>
          </p:cNvPr>
          <p:cNvSpPr>
            <a:spLocks noGrp="1"/>
          </p:cNvSpPr>
          <p:nvPr>
            <p:ph type="title"/>
          </p:nvPr>
        </p:nvSpPr>
        <p:spPr>
          <a:xfrm>
            <a:off x="1137034" y="609597"/>
            <a:ext cx="9392421" cy="1330841"/>
          </a:xfrm>
        </p:spPr>
        <p:txBody>
          <a:bodyPr>
            <a:normAutofit/>
          </a:bodyPr>
          <a:lstStyle/>
          <a:p>
            <a:r>
              <a:rPr lang="pl-PL" dirty="0"/>
              <a:t>Krystalit</a:t>
            </a:r>
          </a:p>
        </p:txBody>
      </p:sp>
      <p:pic>
        <p:nvPicPr>
          <p:cNvPr id="5" name="Obraz 4">
            <a:extLst>
              <a:ext uri="{FF2B5EF4-FFF2-40B4-BE49-F238E27FC236}">
                <a16:creationId xmlns:a16="http://schemas.microsoft.com/office/drawing/2014/main" id="{A4E60E38-043E-8ADA-A0EA-AA5A4C8D97C4}"/>
              </a:ext>
            </a:extLst>
          </p:cNvPr>
          <p:cNvPicPr>
            <a:picLocks noChangeAspect="1"/>
          </p:cNvPicPr>
          <p:nvPr/>
        </p:nvPicPr>
        <p:blipFill>
          <a:blip r:embed="rId2"/>
          <a:stretch>
            <a:fillRect/>
          </a:stretch>
        </p:blipFill>
        <p:spPr>
          <a:xfrm>
            <a:off x="4792993" y="4136177"/>
            <a:ext cx="7085903" cy="2356063"/>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ymbol zastępczy zawartości 2">
            <a:extLst>
              <a:ext uri="{FF2B5EF4-FFF2-40B4-BE49-F238E27FC236}">
                <a16:creationId xmlns:a16="http://schemas.microsoft.com/office/drawing/2014/main" id="{33608A3D-A4BA-B633-0092-D4A3152D713C}"/>
              </a:ext>
            </a:extLst>
          </p:cNvPr>
          <p:cNvSpPr>
            <a:spLocks noGrp="1"/>
          </p:cNvSpPr>
          <p:nvPr>
            <p:ph idx="1"/>
          </p:nvPr>
        </p:nvSpPr>
        <p:spPr>
          <a:xfrm>
            <a:off x="1137034" y="2198362"/>
            <a:ext cx="10064366" cy="3917773"/>
          </a:xfrm>
        </p:spPr>
        <p:txBody>
          <a:bodyPr>
            <a:normAutofit/>
          </a:bodyPr>
          <a:lstStyle/>
          <a:p>
            <a:pPr marL="0" indent="0">
              <a:buNone/>
            </a:pPr>
            <a:r>
              <a:rPr lang="pl-PL" sz="2000" dirty="0"/>
              <a:t>Krystalit to obszar materii stałej o jednakowej strukturze i identycznej orientacji krystalograficznej. Krystality mogą mieć rozmiary od kilku nanometrów do kilku milimetrów. </a:t>
            </a:r>
          </a:p>
          <a:p>
            <a:pPr marL="0" indent="0">
              <a:buNone/>
            </a:pPr>
            <a:r>
              <a:rPr lang="pl-PL" sz="2000" dirty="0"/>
              <a:t>Struktury te powstają podczas syntezy, na przykład w procesie chłodzenia i krzepnięcia lub reakcji chemicznej. </a:t>
            </a:r>
          </a:p>
          <a:p>
            <a:pPr marL="0" indent="0">
              <a:buNone/>
            </a:pPr>
            <a:r>
              <a:rPr lang="pl-PL" sz="2000" dirty="0"/>
              <a:t>Innymi słowy, krystalit stanowi parametr </a:t>
            </a:r>
            <a:br>
              <a:rPr lang="pl-PL" sz="2000" dirty="0"/>
            </a:br>
            <a:r>
              <a:rPr lang="pl-PL" sz="2000" dirty="0"/>
              <a:t>strukturalny. Poszczególne krystality są </a:t>
            </a:r>
            <a:br>
              <a:rPr lang="pl-PL" sz="2000" dirty="0"/>
            </a:br>
            <a:r>
              <a:rPr lang="pl-PL" sz="2000" dirty="0"/>
              <a:t>połączone ze sobą nieregularnymi</a:t>
            </a:r>
            <a:br>
              <a:rPr lang="pl-PL" sz="2000" dirty="0"/>
            </a:br>
            <a:r>
              <a:rPr lang="pl-PL" sz="2000" dirty="0"/>
              <a:t>granicami, tworząc ciało </a:t>
            </a:r>
            <a:br>
              <a:rPr lang="pl-PL" sz="2000" dirty="0"/>
            </a:br>
            <a:r>
              <a:rPr lang="pl-PL" sz="2000" dirty="0"/>
              <a:t>polikrystaliczne.</a:t>
            </a:r>
          </a:p>
          <a:p>
            <a:pPr marL="0" indent="0">
              <a:buNone/>
            </a:pPr>
            <a:endParaRPr lang="pl-PL" sz="2000" dirty="0"/>
          </a:p>
          <a:p>
            <a:pPr marL="0" indent="0">
              <a:buNone/>
            </a:pPr>
            <a:endParaRPr lang="pl-PL" sz="2000" dirty="0"/>
          </a:p>
        </p:txBody>
      </p:sp>
    </p:spTree>
    <p:extLst>
      <p:ext uri="{BB962C8B-B14F-4D97-AF65-F5344CB8AC3E}">
        <p14:creationId xmlns:p14="http://schemas.microsoft.com/office/powerpoint/2010/main" val="2048544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ytuł 1">
            <a:extLst>
              <a:ext uri="{FF2B5EF4-FFF2-40B4-BE49-F238E27FC236}">
                <a16:creationId xmlns:a16="http://schemas.microsoft.com/office/drawing/2014/main" id="{413D40CA-58B4-F6DA-492F-B1D15E6A0E13}"/>
              </a:ext>
            </a:extLst>
          </p:cNvPr>
          <p:cNvSpPr>
            <a:spLocks noGrp="1"/>
          </p:cNvSpPr>
          <p:nvPr>
            <p:ph type="title"/>
          </p:nvPr>
        </p:nvSpPr>
        <p:spPr>
          <a:xfrm>
            <a:off x="1167516" y="538480"/>
            <a:ext cx="9543405" cy="1188720"/>
          </a:xfrm>
        </p:spPr>
        <p:txBody>
          <a:bodyPr>
            <a:normAutofit/>
          </a:bodyPr>
          <a:lstStyle/>
          <a:p>
            <a:r>
              <a:rPr lang="pl-PL">
                <a:solidFill>
                  <a:schemeClr val="tx1">
                    <a:lumMod val="85000"/>
                    <a:lumOff val="15000"/>
                  </a:schemeClr>
                </a:solidFill>
              </a:rPr>
              <a:t>Jakie znaczenie ma rozmiar krystalitu? </a:t>
            </a:r>
          </a:p>
        </p:txBody>
      </p:sp>
      <p:sp>
        <p:nvSpPr>
          <p:cNvPr id="3" name="Symbol zastępczy zawartości 2">
            <a:extLst>
              <a:ext uri="{FF2B5EF4-FFF2-40B4-BE49-F238E27FC236}">
                <a16:creationId xmlns:a16="http://schemas.microsoft.com/office/drawing/2014/main" id="{E331C1B8-6031-8A2E-1DBD-96F69122C72F}"/>
              </a:ext>
            </a:extLst>
          </p:cNvPr>
          <p:cNvSpPr>
            <a:spLocks noGrp="1"/>
          </p:cNvSpPr>
          <p:nvPr>
            <p:ph idx="1"/>
          </p:nvPr>
        </p:nvSpPr>
        <p:spPr>
          <a:xfrm>
            <a:off x="737937" y="1508761"/>
            <a:ext cx="11149262" cy="2295238"/>
          </a:xfrm>
        </p:spPr>
        <p:txBody>
          <a:bodyPr anchor="ctr">
            <a:normAutofit/>
          </a:bodyPr>
          <a:lstStyle/>
          <a:p>
            <a:r>
              <a:rPr lang="pl-PL" sz="2000" dirty="0">
                <a:solidFill>
                  <a:schemeClr val="tx1">
                    <a:lumMod val="85000"/>
                    <a:lumOff val="15000"/>
                  </a:schemeClr>
                </a:solidFill>
              </a:rPr>
              <a:t>Istotny wpływ na właściwości chemiczne, fizyczne i mechaniczne nanomateriałów metalicznych, polimerowych i ceramicznych. </a:t>
            </a:r>
          </a:p>
          <a:p>
            <a:r>
              <a:rPr lang="pl-PL" sz="2000" dirty="0">
                <a:solidFill>
                  <a:schemeClr val="tx1">
                    <a:lumMod val="85000"/>
                    <a:lumOff val="15000"/>
                  </a:schemeClr>
                </a:solidFill>
              </a:rPr>
              <a:t>Odchylenia od typowych </a:t>
            </a:r>
            <a:r>
              <a:rPr lang="pl-PL" sz="2000" dirty="0" err="1">
                <a:solidFill>
                  <a:schemeClr val="tx1">
                    <a:lumMod val="85000"/>
                    <a:lumOff val="15000"/>
                  </a:schemeClr>
                </a:solidFill>
              </a:rPr>
              <a:t>zachowań</a:t>
            </a:r>
            <a:r>
              <a:rPr lang="pl-PL" sz="2000" dirty="0">
                <a:solidFill>
                  <a:schemeClr val="tx1">
                    <a:lumMod val="85000"/>
                    <a:lumOff val="15000"/>
                  </a:schemeClr>
                </a:solidFill>
              </a:rPr>
              <a:t> zależą w dużym stopniu od rozmiaru krystalitów. </a:t>
            </a:r>
          </a:p>
          <a:p>
            <a:r>
              <a:rPr lang="pl-PL" sz="2000" dirty="0">
                <a:solidFill>
                  <a:schemeClr val="tx1">
                    <a:lumMod val="85000"/>
                    <a:lumOff val="15000"/>
                  </a:schemeClr>
                </a:solidFill>
              </a:rPr>
              <a:t>Pomiar rozmiaru krystalitów jest równie istotny jak inne techniki charakteryzacji materiałów.</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ole tekstowe 8">
            <a:extLst>
              <a:ext uri="{FF2B5EF4-FFF2-40B4-BE49-F238E27FC236}">
                <a16:creationId xmlns:a16="http://schemas.microsoft.com/office/drawing/2014/main" id="{F5103842-15D8-3143-4F83-36B01860E8A2}"/>
              </a:ext>
            </a:extLst>
          </p:cNvPr>
          <p:cNvSpPr txBox="1"/>
          <p:nvPr/>
        </p:nvSpPr>
        <p:spPr>
          <a:xfrm>
            <a:off x="1524000" y="3921880"/>
            <a:ext cx="10363199" cy="2000548"/>
          </a:xfrm>
          <a:prstGeom prst="rect">
            <a:avLst/>
          </a:prstGeom>
          <a:noFill/>
        </p:spPr>
        <p:txBody>
          <a:bodyPr wrap="square">
            <a:spAutoFit/>
          </a:bodyPr>
          <a:lstStyle/>
          <a:p>
            <a:pPr marL="285750" indent="-285750">
              <a:buFont typeface="Courier New" panose="02070309020205020404" pitchFamily="49" charset="0"/>
              <a:buChar char="o"/>
            </a:pPr>
            <a:r>
              <a:rPr lang="pl-PL" sz="2000" dirty="0"/>
              <a:t>Krystality o średnicach 1 -100 </a:t>
            </a:r>
            <a:r>
              <a:rPr lang="pl-PL" sz="2000" dirty="0" err="1"/>
              <a:t>nm</a:t>
            </a:r>
            <a:r>
              <a:rPr lang="pl-PL" sz="2000" dirty="0"/>
              <a:t>  </a:t>
            </a:r>
            <a:r>
              <a:rPr lang="pl-PL" sz="2000" dirty="0">
                <a:sym typeface="Wingdings" panose="05000000000000000000" pitchFamily="2" charset="2"/>
              </a:rPr>
              <a:t></a:t>
            </a:r>
            <a:r>
              <a:rPr lang="pl-PL" sz="2000" dirty="0"/>
              <a:t> materiały nanokrystaliczne</a:t>
            </a:r>
            <a:br>
              <a:rPr lang="pl-PL" sz="2000" dirty="0"/>
            </a:br>
            <a:endParaRPr lang="pl-PL" sz="2000" dirty="0"/>
          </a:p>
          <a:p>
            <a:pPr marL="285750" indent="-285750">
              <a:buFont typeface="Courier New" panose="02070309020205020404" pitchFamily="49" charset="0"/>
              <a:buChar char="o"/>
            </a:pPr>
            <a:r>
              <a:rPr lang="pl-PL" sz="2000" dirty="0"/>
              <a:t>Krystality większe o kilka rzędów wielkości </a:t>
            </a:r>
            <a:r>
              <a:rPr lang="pl-PL" sz="2000" dirty="0">
                <a:sym typeface="Wingdings" panose="05000000000000000000" pitchFamily="2" charset="2"/>
              </a:rPr>
              <a:t> </a:t>
            </a:r>
            <a:r>
              <a:rPr lang="pl-PL" sz="2000" dirty="0"/>
              <a:t>materiały polikrystaliczne  </a:t>
            </a:r>
          </a:p>
          <a:p>
            <a:endParaRPr lang="pl-PL" sz="2400" dirty="0"/>
          </a:p>
          <a:p>
            <a:r>
              <a:rPr lang="pl-PL" sz="2000" dirty="0"/>
              <a:t>W stanie nanokrystalicznym ta różnica może prowadzić do unikalnych lub ulepszonych właściwości mechanicznych, magnetycznych, </a:t>
            </a:r>
            <a:r>
              <a:rPr lang="pl-PL" sz="2000" dirty="0" err="1"/>
              <a:t>fotokatalitycznych</a:t>
            </a:r>
            <a:r>
              <a:rPr lang="pl-PL" sz="2000" dirty="0"/>
              <a:t> oraz transportowych. </a:t>
            </a:r>
          </a:p>
        </p:txBody>
      </p:sp>
    </p:spTree>
    <p:extLst>
      <p:ext uri="{BB962C8B-B14F-4D97-AF65-F5344CB8AC3E}">
        <p14:creationId xmlns:p14="http://schemas.microsoft.com/office/powerpoint/2010/main" val="3967643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5F316D-A388-CF03-F6D6-BECEA555344C}"/>
              </a:ext>
            </a:extLst>
          </p:cNvPr>
          <p:cNvSpPr>
            <a:spLocks noGrp="1"/>
          </p:cNvSpPr>
          <p:nvPr>
            <p:ph type="title"/>
          </p:nvPr>
        </p:nvSpPr>
        <p:spPr/>
        <p:txBody>
          <a:bodyPr/>
          <a:lstStyle/>
          <a:p>
            <a:r>
              <a:rPr lang="pl-PL" dirty="0"/>
              <a:t>Wpływ rozmiaru na właściwości materiałów</a:t>
            </a:r>
          </a:p>
        </p:txBody>
      </p:sp>
      <p:grpSp>
        <p:nvGrpSpPr>
          <p:cNvPr id="7" name="Grupa 6">
            <a:extLst>
              <a:ext uri="{FF2B5EF4-FFF2-40B4-BE49-F238E27FC236}">
                <a16:creationId xmlns:a16="http://schemas.microsoft.com/office/drawing/2014/main" id="{524F4B3E-3DA2-5929-D6DD-54603E797E57}"/>
              </a:ext>
            </a:extLst>
          </p:cNvPr>
          <p:cNvGrpSpPr/>
          <p:nvPr/>
        </p:nvGrpSpPr>
        <p:grpSpPr>
          <a:xfrm>
            <a:off x="838200" y="1826156"/>
            <a:ext cx="10515600" cy="4350806"/>
            <a:chOff x="838200" y="1826156"/>
            <a:chExt cx="10515600" cy="4350806"/>
          </a:xfrm>
        </p:grpSpPr>
        <p:sp>
          <p:nvSpPr>
            <p:cNvPr id="8" name="Prostokąt: zaokrąglone rogi 7">
              <a:extLst>
                <a:ext uri="{FF2B5EF4-FFF2-40B4-BE49-F238E27FC236}">
                  <a16:creationId xmlns:a16="http://schemas.microsoft.com/office/drawing/2014/main" id="{A1309E7C-3CBD-DE02-FDED-050704FF1730}"/>
                </a:ext>
              </a:extLst>
            </p:cNvPr>
            <p:cNvSpPr/>
            <p:nvPr/>
          </p:nvSpPr>
          <p:spPr>
            <a:xfrm>
              <a:off x="838200" y="1826156"/>
              <a:ext cx="10515600" cy="1242935"/>
            </a:xfrm>
            <a:prstGeom prst="roundRect">
              <a:avLst>
                <a:gd name="adj" fmla="val 10000"/>
              </a:avLst>
            </a:prstGeom>
            <a:solidFill>
              <a:schemeClr val="bg2"/>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pl-PL"/>
            </a:p>
          </p:txBody>
        </p:sp>
        <p:sp>
          <p:nvSpPr>
            <p:cNvPr id="9" name="Prostokąt 8">
              <a:extLst>
                <a:ext uri="{FF2B5EF4-FFF2-40B4-BE49-F238E27FC236}">
                  <a16:creationId xmlns:a16="http://schemas.microsoft.com/office/drawing/2014/main" id="{EE7A63EF-AF42-C59C-0313-0AD238248812}"/>
                </a:ext>
              </a:extLst>
            </p:cNvPr>
            <p:cNvSpPr/>
            <p:nvPr/>
          </p:nvSpPr>
          <p:spPr>
            <a:xfrm>
              <a:off x="1839025" y="5493348"/>
              <a:ext cx="683614" cy="683614"/>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pl-PL"/>
            </a:p>
          </p:txBody>
        </p:sp>
        <p:sp>
          <p:nvSpPr>
            <p:cNvPr id="10" name="Dowolny kształt: kształt 9">
              <a:extLst>
                <a:ext uri="{FF2B5EF4-FFF2-40B4-BE49-F238E27FC236}">
                  <a16:creationId xmlns:a16="http://schemas.microsoft.com/office/drawing/2014/main" id="{730524C0-2BFD-83B8-8F96-7C3A83C62862}"/>
                </a:ext>
              </a:extLst>
            </p:cNvPr>
            <p:cNvSpPr/>
            <p:nvPr/>
          </p:nvSpPr>
          <p:spPr>
            <a:xfrm>
              <a:off x="993630" y="1826156"/>
              <a:ext cx="4732020" cy="1242935"/>
            </a:xfrm>
            <a:custGeom>
              <a:avLst/>
              <a:gdLst>
                <a:gd name="connsiteX0" fmla="*/ 0 w 4732020"/>
                <a:gd name="connsiteY0" fmla="*/ 0 h 1242935"/>
                <a:gd name="connsiteX1" fmla="*/ 4732020 w 4732020"/>
                <a:gd name="connsiteY1" fmla="*/ 0 h 1242935"/>
                <a:gd name="connsiteX2" fmla="*/ 4732020 w 4732020"/>
                <a:gd name="connsiteY2" fmla="*/ 1242935 h 1242935"/>
                <a:gd name="connsiteX3" fmla="*/ 0 w 4732020"/>
                <a:gd name="connsiteY3" fmla="*/ 1242935 h 1242935"/>
                <a:gd name="connsiteX4" fmla="*/ 0 w 4732020"/>
                <a:gd name="connsiteY4" fmla="*/ 0 h 1242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2020" h="1242935">
                  <a:moveTo>
                    <a:pt x="0" y="0"/>
                  </a:moveTo>
                  <a:lnTo>
                    <a:pt x="4732020" y="0"/>
                  </a:lnTo>
                  <a:lnTo>
                    <a:pt x="4732020" y="1242935"/>
                  </a:lnTo>
                  <a:lnTo>
                    <a:pt x="0" y="12429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pl-PL" sz="2100" kern="1200" dirty="0"/>
                <a:t>Badanie magnetycznych </a:t>
              </a:r>
              <a:br>
                <a:rPr lang="pl-PL" sz="2100" kern="1200" dirty="0"/>
              </a:br>
              <a:r>
                <a:rPr lang="pl-PL" sz="2100" kern="1200" dirty="0"/>
                <a:t>i strukturalnych właściwości tlenku żelaza (TEM,VSM,XRD): </a:t>
              </a:r>
              <a:endParaRPr lang="en-US" sz="2100" kern="1200" dirty="0"/>
            </a:p>
          </p:txBody>
        </p:sp>
        <p:sp>
          <p:nvSpPr>
            <p:cNvPr id="11" name="Dowolny kształt: kształt 10">
              <a:extLst>
                <a:ext uri="{FF2B5EF4-FFF2-40B4-BE49-F238E27FC236}">
                  <a16:creationId xmlns:a16="http://schemas.microsoft.com/office/drawing/2014/main" id="{F8F2F3DA-ADAB-A618-AD82-42C579F40AA1}"/>
                </a:ext>
              </a:extLst>
            </p:cNvPr>
            <p:cNvSpPr/>
            <p:nvPr/>
          </p:nvSpPr>
          <p:spPr>
            <a:xfrm>
              <a:off x="5266512" y="1826156"/>
              <a:ext cx="6087287" cy="1242935"/>
            </a:xfrm>
            <a:custGeom>
              <a:avLst/>
              <a:gdLst>
                <a:gd name="connsiteX0" fmla="*/ 0 w 4347989"/>
                <a:gd name="connsiteY0" fmla="*/ 0 h 1242935"/>
                <a:gd name="connsiteX1" fmla="*/ 4347989 w 4347989"/>
                <a:gd name="connsiteY1" fmla="*/ 0 h 1242935"/>
                <a:gd name="connsiteX2" fmla="*/ 4347989 w 4347989"/>
                <a:gd name="connsiteY2" fmla="*/ 1242935 h 1242935"/>
                <a:gd name="connsiteX3" fmla="*/ 0 w 4347989"/>
                <a:gd name="connsiteY3" fmla="*/ 1242935 h 1242935"/>
                <a:gd name="connsiteX4" fmla="*/ 0 w 4347989"/>
                <a:gd name="connsiteY4" fmla="*/ 0 h 1242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7989" h="1242935">
                  <a:moveTo>
                    <a:pt x="0" y="0"/>
                  </a:moveTo>
                  <a:lnTo>
                    <a:pt x="4347989" y="0"/>
                  </a:lnTo>
                  <a:lnTo>
                    <a:pt x="4347989" y="1242935"/>
                  </a:lnTo>
                  <a:lnTo>
                    <a:pt x="0" y="12429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1544" tIns="131544" rIns="131544" bIns="131544" numCol="1" spcCol="1270" anchor="ctr" anchorCtr="0">
              <a:noAutofit/>
            </a:bodyPr>
            <a:lstStyle/>
            <a:p>
              <a:pPr marL="0" lvl="0" indent="0" algn="l" defTabSz="533400">
                <a:lnSpc>
                  <a:spcPct val="100000"/>
                </a:lnSpc>
                <a:spcBef>
                  <a:spcPct val="0"/>
                </a:spcBef>
                <a:spcAft>
                  <a:spcPct val="35000"/>
                </a:spcAft>
                <a:buNone/>
              </a:pPr>
              <a:r>
                <a:rPr lang="pl-PL" sz="1600" kern="1200" dirty="0"/>
                <a:t>Wnioski: </a:t>
              </a:r>
              <a:endParaRPr lang="en-US" sz="1600" kern="1200" dirty="0"/>
            </a:p>
            <a:p>
              <a:pPr marL="114300" lvl="1" indent="-114300" algn="l" defTabSz="533400">
                <a:lnSpc>
                  <a:spcPct val="90000"/>
                </a:lnSpc>
                <a:spcBef>
                  <a:spcPct val="0"/>
                </a:spcBef>
                <a:spcAft>
                  <a:spcPct val="15000"/>
                </a:spcAft>
                <a:buChar char="•"/>
              </a:pPr>
              <a:r>
                <a:rPr lang="pl-PL" sz="1600" kern="1200" dirty="0"/>
                <a:t>– jeśli rozmiar cząstki &lt; 14nm – wykazuje właściwości superparamagnetyczne</a:t>
              </a:r>
              <a:endParaRPr lang="en-US" sz="1600" kern="1200" dirty="0"/>
            </a:p>
            <a:p>
              <a:pPr marL="114300" lvl="1" indent="-114300" algn="l" defTabSz="533400">
                <a:lnSpc>
                  <a:spcPct val="90000"/>
                </a:lnSpc>
                <a:spcBef>
                  <a:spcPct val="0"/>
                </a:spcBef>
                <a:spcAft>
                  <a:spcPct val="15000"/>
                </a:spcAft>
                <a:buChar char="•"/>
              </a:pPr>
              <a:r>
                <a:rPr lang="pl-PL" sz="1600" kern="1200" dirty="0"/>
                <a:t>- jeśli rozmiar cząstki &gt; 36nm – wykazuje cechy wielodomenowe</a:t>
              </a:r>
              <a:endParaRPr lang="en-US" sz="1600" kern="1200" dirty="0"/>
            </a:p>
          </p:txBody>
        </p:sp>
        <p:sp>
          <p:nvSpPr>
            <p:cNvPr id="12" name="Prostokąt: zaokrąglone rogi 11">
              <a:extLst>
                <a:ext uri="{FF2B5EF4-FFF2-40B4-BE49-F238E27FC236}">
                  <a16:creationId xmlns:a16="http://schemas.microsoft.com/office/drawing/2014/main" id="{2BB67A5C-4CCB-18CF-F91D-840FF8548B65}"/>
                </a:ext>
              </a:extLst>
            </p:cNvPr>
            <p:cNvSpPr/>
            <p:nvPr/>
          </p:nvSpPr>
          <p:spPr>
            <a:xfrm>
              <a:off x="838200" y="3379826"/>
              <a:ext cx="10515600" cy="1242935"/>
            </a:xfrm>
            <a:prstGeom prst="roundRect">
              <a:avLst>
                <a:gd name="adj" fmla="val 10000"/>
              </a:avLst>
            </a:prstGeom>
            <a:solidFill>
              <a:schemeClr val="bg2"/>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pl-PL"/>
            </a:p>
          </p:txBody>
        </p:sp>
        <p:sp>
          <p:nvSpPr>
            <p:cNvPr id="13" name="Prostokąt 12">
              <a:extLst>
                <a:ext uri="{FF2B5EF4-FFF2-40B4-BE49-F238E27FC236}">
                  <a16:creationId xmlns:a16="http://schemas.microsoft.com/office/drawing/2014/main" id="{0FA6EB32-6074-CE68-E42A-88B33CC3D572}"/>
                </a:ext>
              </a:extLst>
            </p:cNvPr>
            <p:cNvSpPr/>
            <p:nvPr/>
          </p:nvSpPr>
          <p:spPr>
            <a:xfrm>
              <a:off x="1920245" y="5233646"/>
              <a:ext cx="683614" cy="683614"/>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pl-PL"/>
            </a:p>
          </p:txBody>
        </p:sp>
        <p:sp>
          <p:nvSpPr>
            <p:cNvPr id="14" name="Dowolny kształt: kształt 13">
              <a:extLst>
                <a:ext uri="{FF2B5EF4-FFF2-40B4-BE49-F238E27FC236}">
                  <a16:creationId xmlns:a16="http://schemas.microsoft.com/office/drawing/2014/main" id="{F7EB7EDF-D2F8-557C-C98E-6EA951E29A7E}"/>
                </a:ext>
              </a:extLst>
            </p:cNvPr>
            <p:cNvSpPr/>
            <p:nvPr/>
          </p:nvSpPr>
          <p:spPr>
            <a:xfrm>
              <a:off x="993630" y="3379826"/>
              <a:ext cx="4732020" cy="1242935"/>
            </a:xfrm>
            <a:custGeom>
              <a:avLst/>
              <a:gdLst>
                <a:gd name="connsiteX0" fmla="*/ 0 w 4732020"/>
                <a:gd name="connsiteY0" fmla="*/ 0 h 1242935"/>
                <a:gd name="connsiteX1" fmla="*/ 4732020 w 4732020"/>
                <a:gd name="connsiteY1" fmla="*/ 0 h 1242935"/>
                <a:gd name="connsiteX2" fmla="*/ 4732020 w 4732020"/>
                <a:gd name="connsiteY2" fmla="*/ 1242935 h 1242935"/>
                <a:gd name="connsiteX3" fmla="*/ 0 w 4732020"/>
                <a:gd name="connsiteY3" fmla="*/ 1242935 h 1242935"/>
                <a:gd name="connsiteX4" fmla="*/ 0 w 4732020"/>
                <a:gd name="connsiteY4" fmla="*/ 0 h 1242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2020" h="1242935">
                  <a:moveTo>
                    <a:pt x="0" y="0"/>
                  </a:moveTo>
                  <a:lnTo>
                    <a:pt x="4732020" y="0"/>
                  </a:lnTo>
                  <a:lnTo>
                    <a:pt x="4732020" y="1242935"/>
                  </a:lnTo>
                  <a:lnTo>
                    <a:pt x="0" y="12429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pl-PL" sz="2100" kern="1200" dirty="0"/>
                <a:t>Wpływ rozmiaru krystalitów na właściwości magnetyczne </a:t>
              </a:r>
              <a:r>
                <a:rPr lang="pl-PL" sz="2100" kern="1200" dirty="0" err="1"/>
                <a:t>γ-Fe₂O</a:t>
              </a:r>
              <a:r>
                <a:rPr lang="pl-PL" sz="2100" kern="1200" dirty="0"/>
                <a:t>₃:</a:t>
              </a:r>
              <a:endParaRPr lang="en-US" sz="2100" kern="1200" dirty="0"/>
            </a:p>
          </p:txBody>
        </p:sp>
        <p:sp>
          <p:nvSpPr>
            <p:cNvPr id="15" name="Dowolny kształt: kształt 14">
              <a:extLst>
                <a:ext uri="{FF2B5EF4-FFF2-40B4-BE49-F238E27FC236}">
                  <a16:creationId xmlns:a16="http://schemas.microsoft.com/office/drawing/2014/main" id="{A8347FC5-7B7D-9D64-28AB-5C2AE95CA885}"/>
                </a:ext>
              </a:extLst>
            </p:cNvPr>
            <p:cNvSpPr/>
            <p:nvPr/>
          </p:nvSpPr>
          <p:spPr>
            <a:xfrm>
              <a:off x="5266512" y="3379826"/>
              <a:ext cx="6087287" cy="1242935"/>
            </a:xfrm>
            <a:custGeom>
              <a:avLst/>
              <a:gdLst>
                <a:gd name="connsiteX0" fmla="*/ 0 w 4347989"/>
                <a:gd name="connsiteY0" fmla="*/ 0 h 1242935"/>
                <a:gd name="connsiteX1" fmla="*/ 4347989 w 4347989"/>
                <a:gd name="connsiteY1" fmla="*/ 0 h 1242935"/>
                <a:gd name="connsiteX2" fmla="*/ 4347989 w 4347989"/>
                <a:gd name="connsiteY2" fmla="*/ 1242935 h 1242935"/>
                <a:gd name="connsiteX3" fmla="*/ 0 w 4347989"/>
                <a:gd name="connsiteY3" fmla="*/ 1242935 h 1242935"/>
                <a:gd name="connsiteX4" fmla="*/ 0 w 4347989"/>
                <a:gd name="connsiteY4" fmla="*/ 0 h 1242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7989" h="1242935">
                  <a:moveTo>
                    <a:pt x="0" y="0"/>
                  </a:moveTo>
                  <a:lnTo>
                    <a:pt x="4347989" y="0"/>
                  </a:lnTo>
                  <a:lnTo>
                    <a:pt x="4347989" y="1242935"/>
                  </a:lnTo>
                  <a:lnTo>
                    <a:pt x="0" y="12429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1544" tIns="131544" rIns="131544" bIns="131544" numCol="1" spcCol="1270" anchor="ctr" anchorCtr="0">
              <a:noAutofit/>
            </a:bodyPr>
            <a:lstStyle/>
            <a:p>
              <a:pPr marL="0" lvl="0" indent="0" algn="l" defTabSz="533400">
                <a:lnSpc>
                  <a:spcPct val="100000"/>
                </a:lnSpc>
                <a:spcBef>
                  <a:spcPct val="0"/>
                </a:spcBef>
                <a:spcAft>
                  <a:spcPct val="35000"/>
                </a:spcAft>
                <a:buNone/>
              </a:pPr>
              <a:r>
                <a:rPr lang="pl-PL" sz="1600" kern="1200" dirty="0"/>
                <a:t>Wnioski:</a:t>
              </a:r>
              <a:r>
                <a:rPr lang="pl-PL" sz="1600" dirty="0"/>
                <a:t>  </a:t>
              </a:r>
              <a:r>
                <a:rPr lang="pl-PL" sz="1600" kern="1200" dirty="0"/>
                <a:t>nasycenie magnetyczne maleje wraz ze zmniejszeniem rozmiaru krystalitów</a:t>
              </a:r>
              <a:endParaRPr lang="en-US" sz="1600" kern="1200" dirty="0"/>
            </a:p>
          </p:txBody>
        </p:sp>
        <p:sp>
          <p:nvSpPr>
            <p:cNvPr id="16" name="Prostokąt: zaokrąglone rogi 15">
              <a:extLst>
                <a:ext uri="{FF2B5EF4-FFF2-40B4-BE49-F238E27FC236}">
                  <a16:creationId xmlns:a16="http://schemas.microsoft.com/office/drawing/2014/main" id="{0629D88D-D9AA-DACE-875C-1182B6753139}"/>
                </a:ext>
              </a:extLst>
            </p:cNvPr>
            <p:cNvSpPr/>
            <p:nvPr/>
          </p:nvSpPr>
          <p:spPr>
            <a:xfrm>
              <a:off x="838200" y="4933495"/>
              <a:ext cx="10515600" cy="1242935"/>
            </a:xfrm>
            <a:prstGeom prst="roundRect">
              <a:avLst>
                <a:gd name="adj" fmla="val 10000"/>
              </a:avLst>
            </a:prstGeom>
            <a:solidFill>
              <a:schemeClr val="bg2"/>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pl-PL"/>
            </a:p>
          </p:txBody>
        </p:sp>
        <p:sp>
          <p:nvSpPr>
            <p:cNvPr id="18" name="Dowolny kształt: kształt 17">
              <a:extLst>
                <a:ext uri="{FF2B5EF4-FFF2-40B4-BE49-F238E27FC236}">
                  <a16:creationId xmlns:a16="http://schemas.microsoft.com/office/drawing/2014/main" id="{BF00E016-A73F-A10C-4020-E3CAA1E83506}"/>
                </a:ext>
              </a:extLst>
            </p:cNvPr>
            <p:cNvSpPr/>
            <p:nvPr/>
          </p:nvSpPr>
          <p:spPr>
            <a:xfrm>
              <a:off x="993630" y="4933495"/>
              <a:ext cx="3669810" cy="1242935"/>
            </a:xfrm>
            <a:custGeom>
              <a:avLst/>
              <a:gdLst>
                <a:gd name="connsiteX0" fmla="*/ 0 w 4732020"/>
                <a:gd name="connsiteY0" fmla="*/ 0 h 1242935"/>
                <a:gd name="connsiteX1" fmla="*/ 4732020 w 4732020"/>
                <a:gd name="connsiteY1" fmla="*/ 0 h 1242935"/>
                <a:gd name="connsiteX2" fmla="*/ 4732020 w 4732020"/>
                <a:gd name="connsiteY2" fmla="*/ 1242935 h 1242935"/>
                <a:gd name="connsiteX3" fmla="*/ 0 w 4732020"/>
                <a:gd name="connsiteY3" fmla="*/ 1242935 h 1242935"/>
                <a:gd name="connsiteX4" fmla="*/ 0 w 4732020"/>
                <a:gd name="connsiteY4" fmla="*/ 0 h 1242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2020" h="1242935">
                  <a:moveTo>
                    <a:pt x="0" y="0"/>
                  </a:moveTo>
                  <a:lnTo>
                    <a:pt x="4732020" y="0"/>
                  </a:lnTo>
                  <a:lnTo>
                    <a:pt x="4732020" y="1242935"/>
                  </a:lnTo>
                  <a:lnTo>
                    <a:pt x="0" y="12429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pl-PL" sz="2100" kern="1200" dirty="0"/>
                <a:t>Badanie </a:t>
              </a:r>
              <a:r>
                <a:rPr lang="pl-PL" sz="2100" kern="1200" dirty="0" err="1"/>
                <a:t>CuFe</a:t>
              </a:r>
              <a:r>
                <a:rPr lang="pl-PL" sz="2100" kern="1200" dirty="0"/>
                <a:t>₂₄ o różnych rozmiarach krystalitów:</a:t>
              </a:r>
              <a:endParaRPr lang="en-US" sz="2100" kern="1200" dirty="0"/>
            </a:p>
          </p:txBody>
        </p:sp>
        <p:sp>
          <p:nvSpPr>
            <p:cNvPr id="19" name="Dowolny kształt: kształt 18">
              <a:extLst>
                <a:ext uri="{FF2B5EF4-FFF2-40B4-BE49-F238E27FC236}">
                  <a16:creationId xmlns:a16="http://schemas.microsoft.com/office/drawing/2014/main" id="{A20FDCC6-5397-D091-F743-AEE2AA194A32}"/>
                </a:ext>
              </a:extLst>
            </p:cNvPr>
            <p:cNvSpPr/>
            <p:nvPr/>
          </p:nvSpPr>
          <p:spPr>
            <a:xfrm>
              <a:off x="5266512" y="4933495"/>
              <a:ext cx="6087288" cy="1242935"/>
            </a:xfrm>
            <a:custGeom>
              <a:avLst/>
              <a:gdLst>
                <a:gd name="connsiteX0" fmla="*/ 0 w 4347989"/>
                <a:gd name="connsiteY0" fmla="*/ 0 h 1242935"/>
                <a:gd name="connsiteX1" fmla="*/ 4347989 w 4347989"/>
                <a:gd name="connsiteY1" fmla="*/ 0 h 1242935"/>
                <a:gd name="connsiteX2" fmla="*/ 4347989 w 4347989"/>
                <a:gd name="connsiteY2" fmla="*/ 1242935 h 1242935"/>
                <a:gd name="connsiteX3" fmla="*/ 0 w 4347989"/>
                <a:gd name="connsiteY3" fmla="*/ 1242935 h 1242935"/>
                <a:gd name="connsiteX4" fmla="*/ 0 w 4347989"/>
                <a:gd name="connsiteY4" fmla="*/ 0 h 1242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7989" h="1242935">
                  <a:moveTo>
                    <a:pt x="0" y="0"/>
                  </a:moveTo>
                  <a:lnTo>
                    <a:pt x="4347989" y="0"/>
                  </a:lnTo>
                  <a:lnTo>
                    <a:pt x="4347989" y="1242935"/>
                  </a:lnTo>
                  <a:lnTo>
                    <a:pt x="0" y="12429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1544" tIns="131544" rIns="131544" bIns="131544" numCol="1" spcCol="1270" anchor="ctr" anchorCtr="0">
              <a:noAutofit/>
            </a:bodyPr>
            <a:lstStyle/>
            <a:p>
              <a:pPr marL="0" lvl="0" indent="0" algn="l" defTabSz="533400">
                <a:lnSpc>
                  <a:spcPct val="100000"/>
                </a:lnSpc>
                <a:spcBef>
                  <a:spcPct val="0"/>
                </a:spcBef>
                <a:spcAft>
                  <a:spcPct val="35000"/>
                </a:spcAft>
                <a:buNone/>
              </a:pPr>
              <a:r>
                <a:rPr lang="pl-PL" sz="1600" kern="1200" dirty="0"/>
                <a:t>Wnioski:</a:t>
              </a:r>
              <a:r>
                <a:rPr lang="pl-PL" sz="1600" dirty="0"/>
                <a:t>  </a:t>
              </a:r>
              <a:r>
                <a:rPr lang="pl-PL" sz="1600" kern="1200" dirty="0"/>
                <a:t> ze wzrostem rozmiaru krystalitów zmieniały się m.in.: temperatura Curie, stała dielektryczna, rezystywność elektryczna DC </a:t>
              </a:r>
              <a:endParaRPr lang="en-US" sz="1600" kern="1200" dirty="0"/>
            </a:p>
          </p:txBody>
        </p:sp>
      </p:grpSp>
    </p:spTree>
    <p:extLst>
      <p:ext uri="{BB962C8B-B14F-4D97-AF65-F5344CB8AC3E}">
        <p14:creationId xmlns:p14="http://schemas.microsoft.com/office/powerpoint/2010/main" val="2804898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ytuł 1">
            <a:extLst>
              <a:ext uri="{FF2B5EF4-FFF2-40B4-BE49-F238E27FC236}">
                <a16:creationId xmlns:a16="http://schemas.microsoft.com/office/drawing/2014/main" id="{B420E2D4-DB81-8E2B-9AC0-B89CFC1973C2}"/>
              </a:ext>
            </a:extLst>
          </p:cNvPr>
          <p:cNvSpPr>
            <a:spLocks noGrp="1"/>
          </p:cNvSpPr>
          <p:nvPr>
            <p:ph type="title"/>
          </p:nvPr>
        </p:nvSpPr>
        <p:spPr>
          <a:xfrm>
            <a:off x="1137036" y="548640"/>
            <a:ext cx="9916632" cy="1188720"/>
          </a:xfrm>
        </p:spPr>
        <p:txBody>
          <a:bodyPr>
            <a:normAutofit/>
          </a:bodyPr>
          <a:lstStyle/>
          <a:p>
            <a:r>
              <a:rPr lang="pl-PL">
                <a:solidFill>
                  <a:schemeClr val="tx1">
                    <a:lumMod val="85000"/>
                    <a:lumOff val="15000"/>
                  </a:schemeClr>
                </a:solidFill>
              </a:rPr>
              <a:t>Metody do pomiaru rozmiaru krystalitów</a:t>
            </a:r>
          </a:p>
        </p:txBody>
      </p:sp>
      <p:sp>
        <p:nvSpPr>
          <p:cNvPr id="3" name="Symbol zastępczy zawartości 2">
            <a:extLst>
              <a:ext uri="{FF2B5EF4-FFF2-40B4-BE49-F238E27FC236}">
                <a16:creationId xmlns:a16="http://schemas.microsoft.com/office/drawing/2014/main" id="{36C11EBA-4394-CBC9-633B-617959CD1A44}"/>
              </a:ext>
            </a:extLst>
          </p:cNvPr>
          <p:cNvSpPr>
            <a:spLocks noGrp="1"/>
          </p:cNvSpPr>
          <p:nvPr>
            <p:ph idx="1"/>
          </p:nvPr>
        </p:nvSpPr>
        <p:spPr>
          <a:xfrm>
            <a:off x="1053296" y="2431767"/>
            <a:ext cx="9803757" cy="3685156"/>
          </a:xfrm>
        </p:spPr>
        <p:txBody>
          <a:bodyPr anchor="ctr">
            <a:normAutofit/>
          </a:bodyPr>
          <a:lstStyle/>
          <a:p>
            <a:pPr marL="0" indent="0">
              <a:buNone/>
            </a:pPr>
            <a:r>
              <a:rPr lang="pl-PL" sz="2000" dirty="0">
                <a:solidFill>
                  <a:schemeClr val="tx1">
                    <a:lumMod val="85000"/>
                    <a:lumOff val="15000"/>
                  </a:schemeClr>
                </a:solidFill>
              </a:rPr>
              <a:t>Najbardziej popularna metoda bazuje na szerokości połówkowej pików – dyfrakcja rentgenowska (XRD)</a:t>
            </a:r>
          </a:p>
          <a:p>
            <a:pPr marL="0" indent="0">
              <a:buNone/>
            </a:pPr>
            <a:r>
              <a:rPr lang="pl-PL" sz="2000" dirty="0">
                <a:solidFill>
                  <a:schemeClr val="tx1">
                    <a:lumMod val="85000"/>
                    <a:lumOff val="15000"/>
                  </a:schemeClr>
                </a:solidFill>
              </a:rPr>
              <a:t>Do tej metody zaproponowano kilka formuł z różnymi założeniami:  </a:t>
            </a:r>
          </a:p>
          <a:p>
            <a:r>
              <a:rPr lang="en-US" sz="2000" dirty="0">
                <a:solidFill>
                  <a:schemeClr val="tx1">
                    <a:lumMod val="85000"/>
                    <a:lumOff val="15000"/>
                  </a:schemeClr>
                </a:solidFill>
              </a:rPr>
              <a:t>Scherrer, Williamson-Hall, Size-Strain, Halder–Wagner, Rietveld, Variance, and Warren-Averbach. </a:t>
            </a:r>
            <a:endParaRPr lang="pl-PL" sz="2000" dirty="0">
              <a:solidFill>
                <a:schemeClr val="tx1">
                  <a:lumMod val="85000"/>
                  <a:lumOff val="15000"/>
                </a:schemeClr>
              </a:solidFill>
            </a:endParaRPr>
          </a:p>
          <a:p>
            <a:pPr marL="0" indent="0">
              <a:buNone/>
            </a:pPr>
            <a:r>
              <a:rPr lang="pl-PL" sz="2000" dirty="0">
                <a:solidFill>
                  <a:schemeClr val="tx1">
                    <a:lumMod val="85000"/>
                    <a:lumOff val="15000"/>
                  </a:schemeClr>
                </a:solidFill>
              </a:rPr>
              <a:t>Inne podejście obliczeniowe opiera się na spektroskopii </a:t>
            </a:r>
            <a:r>
              <a:rPr lang="pl-PL" sz="2000" dirty="0" err="1">
                <a:solidFill>
                  <a:schemeClr val="tx1">
                    <a:lumMod val="85000"/>
                    <a:lumOff val="15000"/>
                  </a:schemeClr>
                </a:solidFill>
              </a:rPr>
              <a:t>Ramana</a:t>
            </a:r>
            <a:r>
              <a:rPr lang="pl-PL" sz="2000" dirty="0">
                <a:solidFill>
                  <a:schemeClr val="tx1">
                    <a:lumMod val="85000"/>
                    <a:lumOff val="15000"/>
                  </a:schemeClr>
                </a:solidFill>
              </a:rPr>
              <a:t>, która jest  bardziej praktyczna i udokumentowana dla materiałów na bazie węgla.</a:t>
            </a:r>
          </a:p>
          <a:p>
            <a:pPr marL="0" indent="0">
              <a:buNone/>
            </a:pPr>
            <a:r>
              <a:rPr lang="pl-PL" sz="2000" dirty="0">
                <a:solidFill>
                  <a:schemeClr val="tx1">
                    <a:lumMod val="85000"/>
                    <a:lumOff val="15000"/>
                  </a:schemeClr>
                </a:solidFill>
              </a:rPr>
              <a:t>Ostatnie podejście opiera się na trybie ciemnego pola TEM lub HARTEM – metoda daje </a:t>
            </a:r>
            <a:br>
              <a:rPr lang="pl-PL" sz="2000" dirty="0">
                <a:solidFill>
                  <a:schemeClr val="tx1">
                    <a:lumMod val="85000"/>
                    <a:lumOff val="15000"/>
                  </a:schemeClr>
                </a:solidFill>
              </a:rPr>
            </a:br>
            <a:r>
              <a:rPr lang="pl-PL" sz="2000" dirty="0">
                <a:solidFill>
                  <a:schemeClr val="tx1">
                    <a:lumMod val="85000"/>
                    <a:lumOff val="15000"/>
                  </a:schemeClr>
                </a:solidFill>
              </a:rPr>
              <a:t>z dużą dokładnością średnią wielkość krystalitów oraz rozkład wielkości krystalitów, ma jednak ograniczenia.</a:t>
            </a:r>
          </a:p>
        </p:txBody>
      </p:sp>
    </p:spTree>
    <p:extLst>
      <p:ext uri="{BB962C8B-B14F-4D97-AF65-F5344CB8AC3E}">
        <p14:creationId xmlns:p14="http://schemas.microsoft.com/office/powerpoint/2010/main" val="3171289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36E2F4-7925-654A-CE8E-5172A1A49AD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366EC5F-177D-0CD7-11A6-C452BC1CD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0737084-3790-4CD0-1DA6-E71ABF37A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ymbol zastępczy zawartości 4">
            <a:extLst>
              <a:ext uri="{FF2B5EF4-FFF2-40B4-BE49-F238E27FC236}">
                <a16:creationId xmlns:a16="http://schemas.microsoft.com/office/drawing/2014/main" id="{99FBB223-67F3-55C8-73DB-25F0AEF5CDF8}"/>
              </a:ext>
            </a:extLst>
          </p:cNvPr>
          <p:cNvSpPr>
            <a:spLocks noGrp="1"/>
          </p:cNvSpPr>
          <p:nvPr>
            <p:ph idx="1"/>
          </p:nvPr>
        </p:nvSpPr>
        <p:spPr>
          <a:xfrm>
            <a:off x="838200" y="1871345"/>
            <a:ext cx="10515600" cy="4351338"/>
          </a:xfrm>
        </p:spPr>
        <p:txBody>
          <a:bodyPr/>
          <a:lstStyle/>
          <a:p>
            <a:pPr marL="0" indent="0">
              <a:buNone/>
            </a:pPr>
            <a:r>
              <a:rPr lang="pl-PL" dirty="0"/>
              <a:t> </a:t>
            </a:r>
          </a:p>
        </p:txBody>
      </p:sp>
      <p:sp>
        <p:nvSpPr>
          <p:cNvPr id="7" name="Tytuł 6">
            <a:extLst>
              <a:ext uri="{FF2B5EF4-FFF2-40B4-BE49-F238E27FC236}">
                <a16:creationId xmlns:a16="http://schemas.microsoft.com/office/drawing/2014/main" id="{F959A7C1-492F-0FF5-AB2E-4BFA0AD82AD7}"/>
              </a:ext>
            </a:extLst>
          </p:cNvPr>
          <p:cNvSpPr>
            <a:spLocks noGrp="1"/>
          </p:cNvSpPr>
          <p:nvPr>
            <p:ph type="title"/>
          </p:nvPr>
        </p:nvSpPr>
        <p:spPr/>
        <p:txBody>
          <a:bodyPr/>
          <a:lstStyle/>
          <a:p>
            <a:r>
              <a:rPr lang="pl-PL" dirty="0"/>
              <a:t> </a:t>
            </a:r>
          </a:p>
        </p:txBody>
      </p:sp>
      <p:sp>
        <p:nvSpPr>
          <p:cNvPr id="13" name="Tytuł 1">
            <a:extLst>
              <a:ext uri="{FF2B5EF4-FFF2-40B4-BE49-F238E27FC236}">
                <a16:creationId xmlns:a16="http://schemas.microsoft.com/office/drawing/2014/main" id="{EB469AF5-20E6-303E-237E-F6937D98FBA0}"/>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l-PL" dirty="0"/>
              <a:t>Metoda XRD </a:t>
            </a:r>
            <a:r>
              <a:rPr lang="pl-PL" sz="2800" dirty="0"/>
              <a:t>– najpopularniejsza, bo najprostsza</a:t>
            </a:r>
            <a:endParaRPr lang="pl-PL" dirty="0"/>
          </a:p>
        </p:txBody>
      </p:sp>
      <p:sp>
        <p:nvSpPr>
          <p:cNvPr id="14" name="Symbol zastępczy zawartości 2">
            <a:extLst>
              <a:ext uri="{FF2B5EF4-FFF2-40B4-BE49-F238E27FC236}">
                <a16:creationId xmlns:a16="http://schemas.microsoft.com/office/drawing/2014/main" id="{94881702-D702-2763-F8C4-E95B6F32D6CF}"/>
              </a:ext>
            </a:extLst>
          </p:cNvPr>
          <p:cNvSpPr txBox="1">
            <a:spLocks/>
          </p:cNvSpPr>
          <p:nvPr/>
        </p:nvSpPr>
        <p:spPr>
          <a:xfrm>
            <a:off x="838200" y="1825625"/>
            <a:ext cx="10515600"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pl-PL" dirty="0"/>
              <a:t>Podstawą metody jest fakt, że mniejsze krystality powodują powstawanie szerszych</a:t>
            </a:r>
            <a:br>
              <a:rPr lang="pl-PL" dirty="0"/>
            </a:br>
            <a:r>
              <a:rPr lang="pl-PL" dirty="0"/>
              <a:t> i bardziej rozmytych pików. </a:t>
            </a:r>
          </a:p>
          <a:p>
            <a:pPr marL="0" indent="0">
              <a:buFont typeface="Arial" panose="020B0604020202020204" pitchFamily="34" charset="0"/>
              <a:buNone/>
            </a:pPr>
            <a:endParaRPr lang="pl-PL" dirty="0"/>
          </a:p>
          <a:p>
            <a:pPr marL="0" indent="0">
              <a:buFont typeface="Arial" panose="020B0604020202020204" pitchFamily="34" charset="0"/>
              <a:buNone/>
            </a:pPr>
            <a:endParaRPr lang="pl-PL" dirty="0"/>
          </a:p>
          <a:p>
            <a:pPr marL="0" indent="0">
              <a:buFont typeface="Arial" panose="020B0604020202020204" pitchFamily="34" charset="0"/>
              <a:buNone/>
            </a:pPr>
            <a:endParaRPr lang="pl-PL" dirty="0"/>
          </a:p>
          <a:p>
            <a:pPr marL="0" indent="0">
              <a:buFont typeface="Arial" panose="020B0604020202020204" pitchFamily="34" charset="0"/>
              <a:buNone/>
            </a:pPr>
            <a:endParaRPr lang="pl-PL" dirty="0"/>
          </a:p>
          <a:p>
            <a:pPr marL="0" indent="0">
              <a:buFont typeface="Arial" panose="020B0604020202020204" pitchFamily="34" charset="0"/>
              <a:buNone/>
            </a:pPr>
            <a:endParaRPr lang="pl-PL" dirty="0"/>
          </a:p>
          <a:p>
            <a:pPr marL="0" indent="0">
              <a:lnSpc>
                <a:spcPct val="120000"/>
              </a:lnSpc>
              <a:buFont typeface="Arial" panose="020B0604020202020204" pitchFamily="34" charset="0"/>
              <a:buNone/>
            </a:pPr>
            <a:r>
              <a:rPr lang="pl-PL" dirty="0"/>
              <a:t>Uważa się, że technika XRD nadaje się do rozmiarów do około 100 nm. Maksymalny rozmiar krystalitów możliwy do obliczenia metodą XRD zależy od długości fali promieniowania rentgenowskiego oraz kąta dyfrakcyjnego. Nawet przy najlepszym sprzęcie trudno jest z wysoką precyzją określić rozmiary powyżej 100–200 nm.</a:t>
            </a:r>
          </a:p>
        </p:txBody>
      </p:sp>
      <p:sp>
        <p:nvSpPr>
          <p:cNvPr id="15" name="pole tekstowe 14">
            <a:extLst>
              <a:ext uri="{FF2B5EF4-FFF2-40B4-BE49-F238E27FC236}">
                <a16:creationId xmlns:a16="http://schemas.microsoft.com/office/drawing/2014/main" id="{6A3F3CFF-F5D0-3EA0-2AC6-AD3BDD8186C2}"/>
              </a:ext>
            </a:extLst>
          </p:cNvPr>
          <p:cNvSpPr txBox="1"/>
          <p:nvPr/>
        </p:nvSpPr>
        <p:spPr>
          <a:xfrm>
            <a:off x="605742" y="2696883"/>
            <a:ext cx="10748058" cy="1657892"/>
          </a:xfrm>
          <a:prstGeom prst="roundRect">
            <a:avLst/>
          </a:prstGeom>
          <a:solidFill>
            <a:schemeClr val="bg2"/>
          </a:solidFill>
          <a:ln w="12700">
            <a:noFill/>
          </a:ln>
        </p:spPr>
        <p:txBody>
          <a:bodyPr wrap="square">
            <a:spAutoFit/>
          </a:bodyPr>
          <a:lstStyle/>
          <a:p>
            <a:endParaRPr lang="pl-PL" sz="2000" dirty="0"/>
          </a:p>
        </p:txBody>
      </p:sp>
      <p:sp>
        <p:nvSpPr>
          <p:cNvPr id="17" name="pole tekstowe 16">
            <a:extLst>
              <a:ext uri="{FF2B5EF4-FFF2-40B4-BE49-F238E27FC236}">
                <a16:creationId xmlns:a16="http://schemas.microsoft.com/office/drawing/2014/main" id="{5347965A-4E93-183D-DD6A-FDAA5D8B0076}"/>
              </a:ext>
            </a:extLst>
          </p:cNvPr>
          <p:cNvSpPr txBox="1"/>
          <p:nvPr/>
        </p:nvSpPr>
        <p:spPr>
          <a:xfrm>
            <a:off x="838198" y="2887931"/>
            <a:ext cx="10058400" cy="1323439"/>
          </a:xfrm>
          <a:prstGeom prst="rect">
            <a:avLst/>
          </a:prstGeom>
          <a:noFill/>
        </p:spPr>
        <p:txBody>
          <a:bodyPr wrap="square">
            <a:spAutoFit/>
          </a:bodyPr>
          <a:lstStyle/>
          <a:p>
            <a:r>
              <a:rPr lang="pl-PL" sz="2000" dirty="0"/>
              <a:t>W najprostszym wyjaśnieniu, warunek </a:t>
            </a:r>
            <a:r>
              <a:rPr lang="pl-PL" sz="2000" dirty="0" err="1"/>
              <a:t>Bragga</a:t>
            </a:r>
            <a:r>
              <a:rPr lang="pl-PL" sz="2000" dirty="0"/>
              <a:t> jest mniej rygorystycznie spełniony </a:t>
            </a:r>
            <a:br>
              <a:rPr lang="pl-PL" sz="2000" dirty="0"/>
            </a:br>
            <a:r>
              <a:rPr lang="pl-PL" sz="2000" dirty="0"/>
              <a:t>w przypadku małych krystalitów, ponieważ powtarzające się płaszczyzny sieci krystalicznej są mniej liczne. W rezultacie promienie X są odbijane pod szerszym kątem, bez wygaszania przez interferencję.  </a:t>
            </a:r>
          </a:p>
        </p:txBody>
      </p:sp>
      <p:pic>
        <p:nvPicPr>
          <p:cNvPr id="21" name="Obraz 20">
            <a:extLst>
              <a:ext uri="{FF2B5EF4-FFF2-40B4-BE49-F238E27FC236}">
                <a16:creationId xmlns:a16="http://schemas.microsoft.com/office/drawing/2014/main" id="{C82063C2-21A2-C88E-1B44-9216363F07ED}"/>
              </a:ext>
            </a:extLst>
          </p:cNvPr>
          <p:cNvPicPr>
            <a:picLocks noChangeAspect="1"/>
          </p:cNvPicPr>
          <p:nvPr/>
        </p:nvPicPr>
        <p:blipFill>
          <a:blip r:embed="rId3"/>
          <a:stretch>
            <a:fillRect/>
          </a:stretch>
        </p:blipFill>
        <p:spPr>
          <a:xfrm>
            <a:off x="9215081" y="445343"/>
            <a:ext cx="2391995" cy="1109137"/>
          </a:xfrm>
          <a:prstGeom prst="rect">
            <a:avLst/>
          </a:prstGeom>
          <a:ln>
            <a:noFill/>
          </a:ln>
          <a:effectLst>
            <a:softEdge rad="127000"/>
          </a:effectLst>
        </p:spPr>
      </p:pic>
    </p:spTree>
    <p:extLst>
      <p:ext uri="{BB962C8B-B14F-4D97-AF65-F5344CB8AC3E}">
        <p14:creationId xmlns:p14="http://schemas.microsoft.com/office/powerpoint/2010/main" val="232576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33B29C-0B9A-DD18-A164-5BF9072B3BF2}"/>
            </a:ext>
          </a:extLst>
        </p:cNvPr>
        <p:cNvGrpSpPr/>
        <p:nvPr/>
      </p:nvGrpSpPr>
      <p:grpSpPr>
        <a:xfrm>
          <a:off x="0" y="0"/>
          <a:ext cx="0" cy="0"/>
          <a:chOff x="0" y="0"/>
          <a:chExt cx="0" cy="0"/>
        </a:xfrm>
      </p:grpSpPr>
      <p:sp useBgFill="1">
        <p:nvSpPr>
          <p:cNvPr id="21" name="Rectangle 10">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A8FC28B7-4298-AB33-FAC0-93B5FE8CA3FF}"/>
              </a:ext>
            </a:extLst>
          </p:cNvPr>
          <p:cNvSpPr>
            <a:spLocks noGrp="1"/>
          </p:cNvSpPr>
          <p:nvPr>
            <p:ph type="title"/>
          </p:nvPr>
        </p:nvSpPr>
        <p:spPr>
          <a:xfrm>
            <a:off x="1137034" y="609600"/>
            <a:ext cx="6478417" cy="1322887"/>
          </a:xfrm>
        </p:spPr>
        <p:txBody>
          <a:bodyPr>
            <a:normAutofit/>
          </a:bodyPr>
          <a:lstStyle/>
          <a:p>
            <a:r>
              <a:rPr lang="pl-PL" dirty="0"/>
              <a:t>Metoda XRF </a:t>
            </a:r>
            <a:r>
              <a:rPr lang="pl-PL" sz="2800" dirty="0"/>
              <a:t>– analiza pików</a:t>
            </a:r>
            <a:endParaRPr lang="pl-PL" dirty="0"/>
          </a:p>
        </p:txBody>
      </p:sp>
      <p:sp>
        <p:nvSpPr>
          <p:cNvPr id="22" name="Freeform: Shape 12">
            <a:extLst>
              <a:ext uri="{FF2B5EF4-FFF2-40B4-BE49-F238E27FC236}">
                <a16:creationId xmlns:a16="http://schemas.microsoft.com/office/drawing/2014/main" id="{C1657055-16FE-41A2-B207-7880F6DCA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89924" y="2"/>
            <a:ext cx="7602076" cy="470844"/>
          </a:xfrm>
          <a:custGeom>
            <a:avLst/>
            <a:gdLst>
              <a:gd name="connsiteX0" fmla="*/ 9683888 w 9683888"/>
              <a:gd name="connsiteY0" fmla="*/ 0 h 743457"/>
              <a:gd name="connsiteX1" fmla="*/ 0 w 9683888"/>
              <a:gd name="connsiteY1" fmla="*/ 0 h 743457"/>
              <a:gd name="connsiteX2" fmla="*/ 0 w 9683888"/>
              <a:gd name="connsiteY2" fmla="*/ 365878 h 743457"/>
              <a:gd name="connsiteX3" fmla="*/ 11844 w 9683888"/>
              <a:gd name="connsiteY3" fmla="*/ 367909 h 743457"/>
              <a:gd name="connsiteX4" fmla="*/ 106208 w 9683888"/>
              <a:gd name="connsiteY4" fmla="*/ 385974 h 743457"/>
              <a:gd name="connsiteX5" fmla="*/ 183667 w 9683888"/>
              <a:gd name="connsiteY5" fmla="*/ 399162 h 743457"/>
              <a:gd name="connsiteX6" fmla="*/ 292430 w 9683888"/>
              <a:gd name="connsiteY6" fmla="*/ 390408 h 743457"/>
              <a:gd name="connsiteX7" fmla="*/ 386942 w 9683888"/>
              <a:gd name="connsiteY7" fmla="*/ 395582 h 743457"/>
              <a:gd name="connsiteX8" fmla="*/ 485751 w 9683888"/>
              <a:gd name="connsiteY8" fmla="*/ 408404 h 743457"/>
              <a:gd name="connsiteX9" fmla="*/ 604107 w 9683888"/>
              <a:gd name="connsiteY9" fmla="*/ 418647 h 743457"/>
              <a:gd name="connsiteX10" fmla="*/ 694081 w 9683888"/>
              <a:gd name="connsiteY10" fmla="*/ 449524 h 743457"/>
              <a:gd name="connsiteX11" fmla="*/ 762452 w 9683888"/>
              <a:gd name="connsiteY11" fmla="*/ 456090 h 743457"/>
              <a:gd name="connsiteX12" fmla="*/ 987872 w 9683888"/>
              <a:gd name="connsiteY12" fmla="*/ 481862 h 743457"/>
              <a:gd name="connsiteX13" fmla="*/ 1077163 w 9683888"/>
              <a:gd name="connsiteY13" fmla="*/ 524467 h 743457"/>
              <a:gd name="connsiteX14" fmla="*/ 1258716 w 9683888"/>
              <a:gd name="connsiteY14" fmla="*/ 587975 h 743457"/>
              <a:gd name="connsiteX15" fmla="*/ 1298056 w 9683888"/>
              <a:gd name="connsiteY15" fmla="*/ 595413 h 743457"/>
              <a:gd name="connsiteX16" fmla="*/ 1327017 w 9683888"/>
              <a:gd name="connsiteY16" fmla="*/ 617412 h 743457"/>
              <a:gd name="connsiteX17" fmla="*/ 1347909 w 9683888"/>
              <a:gd name="connsiteY17" fmla="*/ 620209 h 743457"/>
              <a:gd name="connsiteX18" fmla="*/ 1421792 w 9683888"/>
              <a:gd name="connsiteY18" fmla="*/ 626139 h 743457"/>
              <a:gd name="connsiteX19" fmla="*/ 1519789 w 9683888"/>
              <a:gd name="connsiteY19" fmla="*/ 645011 h 743457"/>
              <a:gd name="connsiteX20" fmla="*/ 1620886 w 9683888"/>
              <a:gd name="connsiteY20" fmla="*/ 687715 h 743457"/>
              <a:gd name="connsiteX21" fmla="*/ 1676745 w 9683888"/>
              <a:gd name="connsiteY21" fmla="*/ 690130 h 743457"/>
              <a:gd name="connsiteX22" fmla="*/ 1832228 w 9683888"/>
              <a:gd name="connsiteY22" fmla="*/ 690860 h 743457"/>
              <a:gd name="connsiteX23" fmla="*/ 1980464 w 9683888"/>
              <a:gd name="connsiteY23" fmla="*/ 704858 h 743457"/>
              <a:gd name="connsiteX24" fmla="*/ 2051150 w 9683888"/>
              <a:gd name="connsiteY24" fmla="*/ 711187 h 743457"/>
              <a:gd name="connsiteX25" fmla="*/ 2162824 w 9683888"/>
              <a:gd name="connsiteY25" fmla="*/ 709178 h 743457"/>
              <a:gd name="connsiteX26" fmla="*/ 2259859 w 9683888"/>
              <a:gd name="connsiteY26" fmla="*/ 718188 h 743457"/>
              <a:gd name="connsiteX27" fmla="*/ 2378290 w 9683888"/>
              <a:gd name="connsiteY27" fmla="*/ 738748 h 743457"/>
              <a:gd name="connsiteX28" fmla="*/ 2407828 w 9683888"/>
              <a:gd name="connsiteY28" fmla="*/ 743457 h 743457"/>
              <a:gd name="connsiteX29" fmla="*/ 2428936 w 9683888"/>
              <a:gd name="connsiteY29" fmla="*/ 734697 h 743457"/>
              <a:gd name="connsiteX30" fmla="*/ 2646106 w 9683888"/>
              <a:gd name="connsiteY30" fmla="*/ 660204 h 743457"/>
              <a:gd name="connsiteX31" fmla="*/ 2799920 w 9683888"/>
              <a:gd name="connsiteY31" fmla="*/ 630451 h 743457"/>
              <a:gd name="connsiteX32" fmla="*/ 2953556 w 9683888"/>
              <a:gd name="connsiteY32" fmla="*/ 607173 h 743457"/>
              <a:gd name="connsiteX33" fmla="*/ 3009839 w 9683888"/>
              <a:gd name="connsiteY33" fmla="*/ 601743 h 743457"/>
              <a:gd name="connsiteX34" fmla="*/ 3115016 w 9683888"/>
              <a:gd name="connsiteY34" fmla="*/ 584982 h 743457"/>
              <a:gd name="connsiteX35" fmla="*/ 3185844 w 9683888"/>
              <a:gd name="connsiteY35" fmla="*/ 595356 h 743457"/>
              <a:gd name="connsiteX36" fmla="*/ 3246013 w 9683888"/>
              <a:gd name="connsiteY36" fmla="*/ 592418 h 743457"/>
              <a:gd name="connsiteX37" fmla="*/ 3313565 w 9683888"/>
              <a:gd name="connsiteY37" fmla="*/ 574138 h 743457"/>
              <a:gd name="connsiteX38" fmla="*/ 3414143 w 9683888"/>
              <a:gd name="connsiteY38" fmla="*/ 553730 h 743457"/>
              <a:gd name="connsiteX39" fmla="*/ 3552895 w 9683888"/>
              <a:gd name="connsiteY39" fmla="*/ 548563 h 743457"/>
              <a:gd name="connsiteX40" fmla="*/ 3753012 w 9683888"/>
              <a:gd name="connsiteY40" fmla="*/ 599520 h 743457"/>
              <a:gd name="connsiteX41" fmla="*/ 3804392 w 9683888"/>
              <a:gd name="connsiteY41" fmla="*/ 604131 h 743457"/>
              <a:gd name="connsiteX42" fmla="*/ 3916696 w 9683888"/>
              <a:gd name="connsiteY42" fmla="*/ 606540 h 743457"/>
              <a:gd name="connsiteX43" fmla="*/ 4063849 w 9683888"/>
              <a:gd name="connsiteY43" fmla="*/ 604058 h 743457"/>
              <a:gd name="connsiteX44" fmla="*/ 4172179 w 9683888"/>
              <a:gd name="connsiteY44" fmla="*/ 592355 h 743457"/>
              <a:gd name="connsiteX45" fmla="*/ 4276294 w 9683888"/>
              <a:gd name="connsiteY45" fmla="*/ 587119 h 743457"/>
              <a:gd name="connsiteX46" fmla="*/ 4411090 w 9683888"/>
              <a:gd name="connsiteY46" fmla="*/ 575600 h 743457"/>
              <a:gd name="connsiteX47" fmla="*/ 4540465 w 9683888"/>
              <a:gd name="connsiteY47" fmla="*/ 567464 h 743457"/>
              <a:gd name="connsiteX48" fmla="*/ 4545352 w 9683888"/>
              <a:gd name="connsiteY48" fmla="*/ 555554 h 743457"/>
              <a:gd name="connsiteX49" fmla="*/ 4564014 w 9683888"/>
              <a:gd name="connsiteY49" fmla="*/ 553660 h 743457"/>
              <a:gd name="connsiteX50" fmla="*/ 4568602 w 9683888"/>
              <a:gd name="connsiteY50" fmla="*/ 550913 h 743457"/>
              <a:gd name="connsiteX51" fmla="*/ 4595289 w 9683888"/>
              <a:gd name="connsiteY51" fmla="*/ 537407 h 743457"/>
              <a:gd name="connsiteX52" fmla="*/ 4739026 w 9683888"/>
              <a:gd name="connsiteY52" fmla="*/ 532483 h 743457"/>
              <a:gd name="connsiteX53" fmla="*/ 5061335 w 9683888"/>
              <a:gd name="connsiteY53" fmla="*/ 545635 h 743457"/>
              <a:gd name="connsiteX54" fmla="*/ 5338634 w 9683888"/>
              <a:gd name="connsiteY54" fmla="*/ 595754 h 743457"/>
              <a:gd name="connsiteX55" fmla="*/ 5529430 w 9683888"/>
              <a:gd name="connsiteY55" fmla="*/ 606335 h 743457"/>
              <a:gd name="connsiteX56" fmla="*/ 5604039 w 9683888"/>
              <a:gd name="connsiteY56" fmla="*/ 607676 h 743457"/>
              <a:gd name="connsiteX57" fmla="*/ 5625281 w 9683888"/>
              <a:gd name="connsiteY57" fmla="*/ 617253 h 743457"/>
              <a:gd name="connsiteX58" fmla="*/ 5628138 w 9683888"/>
              <a:gd name="connsiteY58" fmla="*/ 615483 h 743457"/>
              <a:gd name="connsiteX59" fmla="*/ 5653593 w 9683888"/>
              <a:gd name="connsiteY59" fmla="*/ 617873 h 743457"/>
              <a:gd name="connsiteX60" fmla="*/ 5658658 w 9683888"/>
              <a:gd name="connsiteY60" fmla="*/ 624279 h 743457"/>
              <a:gd name="connsiteX61" fmla="*/ 5675963 w 9683888"/>
              <a:gd name="connsiteY61" fmla="*/ 627762 h 743457"/>
              <a:gd name="connsiteX62" fmla="*/ 5709625 w 9683888"/>
              <a:gd name="connsiteY62" fmla="*/ 639593 h 743457"/>
              <a:gd name="connsiteX63" fmla="*/ 5716324 w 9683888"/>
              <a:gd name="connsiteY63" fmla="*/ 637148 h 743457"/>
              <a:gd name="connsiteX64" fmla="*/ 5767720 w 9683888"/>
              <a:gd name="connsiteY64" fmla="*/ 647737 h 743457"/>
              <a:gd name="connsiteX65" fmla="*/ 5768619 w 9683888"/>
              <a:gd name="connsiteY65" fmla="*/ 645671 h 743457"/>
              <a:gd name="connsiteX66" fmla="*/ 5858696 w 9683888"/>
              <a:gd name="connsiteY66" fmla="*/ 628099 h 743457"/>
              <a:gd name="connsiteX67" fmla="*/ 5935260 w 9683888"/>
              <a:gd name="connsiteY67" fmla="*/ 596904 h 743457"/>
              <a:gd name="connsiteX68" fmla="*/ 5946176 w 9683888"/>
              <a:gd name="connsiteY68" fmla="*/ 597874 h 743457"/>
              <a:gd name="connsiteX69" fmla="*/ 5946447 w 9683888"/>
              <a:gd name="connsiteY69" fmla="*/ 597396 h 743457"/>
              <a:gd name="connsiteX70" fmla="*/ 5958069 w 9683888"/>
              <a:gd name="connsiteY70" fmla="*/ 597432 h 743457"/>
              <a:gd name="connsiteX71" fmla="*/ 5966081 w 9683888"/>
              <a:gd name="connsiteY71" fmla="*/ 599643 h 743457"/>
              <a:gd name="connsiteX72" fmla="*/ 5987259 w 9683888"/>
              <a:gd name="connsiteY72" fmla="*/ 601523 h 743457"/>
              <a:gd name="connsiteX73" fmla="*/ 5994905 w 9683888"/>
              <a:gd name="connsiteY73" fmla="*/ 598873 h 743457"/>
              <a:gd name="connsiteX74" fmla="*/ 6054803 w 9683888"/>
              <a:gd name="connsiteY74" fmla="*/ 541202 h 743457"/>
              <a:gd name="connsiteX75" fmla="*/ 6188672 w 9683888"/>
              <a:gd name="connsiteY75" fmla="*/ 496389 h 743457"/>
              <a:gd name="connsiteX76" fmla="*/ 6323280 w 9683888"/>
              <a:gd name="connsiteY76" fmla="*/ 458013 h 743457"/>
              <a:gd name="connsiteX77" fmla="*/ 6457257 w 9683888"/>
              <a:gd name="connsiteY77" fmla="*/ 414621 h 743457"/>
              <a:gd name="connsiteX78" fmla="*/ 6530019 w 9683888"/>
              <a:gd name="connsiteY78" fmla="*/ 423168 h 743457"/>
              <a:gd name="connsiteX79" fmla="*/ 6626800 w 9683888"/>
              <a:gd name="connsiteY79" fmla="*/ 375078 h 743457"/>
              <a:gd name="connsiteX80" fmla="*/ 6689231 w 9683888"/>
              <a:gd name="connsiteY80" fmla="*/ 353501 h 743457"/>
              <a:gd name="connsiteX81" fmla="*/ 6726440 w 9683888"/>
              <a:gd name="connsiteY81" fmla="*/ 340276 h 743457"/>
              <a:gd name="connsiteX82" fmla="*/ 6835228 w 9683888"/>
              <a:gd name="connsiteY82" fmla="*/ 329393 h 743457"/>
              <a:gd name="connsiteX83" fmla="*/ 7039363 w 9683888"/>
              <a:gd name="connsiteY83" fmla="*/ 370823 h 743457"/>
              <a:gd name="connsiteX84" fmla="*/ 7095156 w 9683888"/>
              <a:gd name="connsiteY84" fmla="*/ 366075 h 743457"/>
              <a:gd name="connsiteX85" fmla="*/ 7187061 w 9683888"/>
              <a:gd name="connsiteY85" fmla="*/ 383876 h 743457"/>
              <a:gd name="connsiteX86" fmla="*/ 7295039 w 9683888"/>
              <a:gd name="connsiteY86" fmla="*/ 355046 h 743457"/>
              <a:gd name="connsiteX87" fmla="*/ 7373651 w 9683888"/>
              <a:gd name="connsiteY87" fmla="*/ 322299 h 743457"/>
              <a:gd name="connsiteX88" fmla="*/ 7418964 w 9683888"/>
              <a:gd name="connsiteY88" fmla="*/ 308685 h 743457"/>
              <a:gd name="connsiteX89" fmla="*/ 7450568 w 9683888"/>
              <a:gd name="connsiteY89" fmla="*/ 293511 h 743457"/>
              <a:gd name="connsiteX90" fmla="*/ 7538380 w 9683888"/>
              <a:gd name="connsiteY90" fmla="*/ 283235 h 743457"/>
              <a:gd name="connsiteX91" fmla="*/ 7786348 w 9683888"/>
              <a:gd name="connsiteY91" fmla="*/ 225377 h 743457"/>
              <a:gd name="connsiteX92" fmla="*/ 7849534 w 9683888"/>
              <a:gd name="connsiteY92" fmla="*/ 245434 h 743457"/>
              <a:gd name="connsiteX93" fmla="*/ 7981165 w 9683888"/>
              <a:gd name="connsiteY93" fmla="*/ 222252 h 743457"/>
              <a:gd name="connsiteX94" fmla="*/ 8171882 w 9683888"/>
              <a:gd name="connsiteY94" fmla="*/ 222497 h 743457"/>
              <a:gd name="connsiteX95" fmla="*/ 8242270 w 9683888"/>
              <a:gd name="connsiteY95" fmla="*/ 180535 h 743457"/>
              <a:gd name="connsiteX96" fmla="*/ 8490152 w 9683888"/>
              <a:gd name="connsiteY96" fmla="*/ 209193 h 743457"/>
              <a:gd name="connsiteX97" fmla="*/ 8622272 w 9683888"/>
              <a:gd name="connsiteY97" fmla="*/ 188859 h 743457"/>
              <a:gd name="connsiteX98" fmla="*/ 8738606 w 9683888"/>
              <a:gd name="connsiteY98" fmla="*/ 208945 h 743457"/>
              <a:gd name="connsiteX99" fmla="*/ 8831307 w 9683888"/>
              <a:gd name="connsiteY99" fmla="*/ 207738 h 743457"/>
              <a:gd name="connsiteX100" fmla="*/ 8891432 w 9683888"/>
              <a:gd name="connsiteY100" fmla="*/ 184510 h 743457"/>
              <a:gd name="connsiteX101" fmla="*/ 8946980 w 9683888"/>
              <a:gd name="connsiteY101" fmla="*/ 145578 h 743457"/>
              <a:gd name="connsiteX102" fmla="*/ 9107760 w 9683888"/>
              <a:gd name="connsiteY102" fmla="*/ 128052 h 743457"/>
              <a:gd name="connsiteX103" fmla="*/ 9195623 w 9683888"/>
              <a:gd name="connsiteY103" fmla="*/ 100212 h 743457"/>
              <a:gd name="connsiteX104" fmla="*/ 9256898 w 9683888"/>
              <a:gd name="connsiteY104" fmla="*/ 73900 h 743457"/>
              <a:gd name="connsiteX105" fmla="*/ 9351740 w 9683888"/>
              <a:gd name="connsiteY105" fmla="*/ 80439 h 743457"/>
              <a:gd name="connsiteX106" fmla="*/ 9539796 w 9683888"/>
              <a:gd name="connsiteY106" fmla="*/ 87069 h 743457"/>
              <a:gd name="connsiteX107" fmla="*/ 9619109 w 9683888"/>
              <a:gd name="connsiteY107" fmla="*/ 39994 h 74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9683888" h="743457">
                <a:moveTo>
                  <a:pt x="9683888" y="0"/>
                </a:moveTo>
                <a:lnTo>
                  <a:pt x="0" y="0"/>
                </a:lnTo>
                <a:lnTo>
                  <a:pt x="0" y="365878"/>
                </a:lnTo>
                <a:lnTo>
                  <a:pt x="11844" y="367909"/>
                </a:lnTo>
                <a:cubicBezTo>
                  <a:pt x="50423" y="374387"/>
                  <a:pt x="87879" y="380746"/>
                  <a:pt x="106208" y="385974"/>
                </a:cubicBezTo>
                <a:cubicBezTo>
                  <a:pt x="119919" y="389979"/>
                  <a:pt x="149687" y="402128"/>
                  <a:pt x="183667" y="399162"/>
                </a:cubicBezTo>
                <a:cubicBezTo>
                  <a:pt x="228274" y="394575"/>
                  <a:pt x="256969" y="398315"/>
                  <a:pt x="292430" y="390408"/>
                </a:cubicBezTo>
                <a:cubicBezTo>
                  <a:pt x="325377" y="395694"/>
                  <a:pt x="374510" y="420053"/>
                  <a:pt x="386942" y="395582"/>
                </a:cubicBezTo>
                <a:cubicBezTo>
                  <a:pt x="400429" y="416427"/>
                  <a:pt x="451168" y="399411"/>
                  <a:pt x="485751" y="408404"/>
                </a:cubicBezTo>
                <a:cubicBezTo>
                  <a:pt x="520399" y="423586"/>
                  <a:pt x="570416" y="404235"/>
                  <a:pt x="604107" y="418647"/>
                </a:cubicBezTo>
                <a:cubicBezTo>
                  <a:pt x="633631" y="425521"/>
                  <a:pt x="672063" y="446364"/>
                  <a:pt x="694081" y="449524"/>
                </a:cubicBezTo>
                <a:cubicBezTo>
                  <a:pt x="700528" y="463278"/>
                  <a:pt x="713487" y="450700"/>
                  <a:pt x="762452" y="456090"/>
                </a:cubicBezTo>
                <a:cubicBezTo>
                  <a:pt x="811417" y="461479"/>
                  <a:pt x="935420" y="470466"/>
                  <a:pt x="987872" y="481862"/>
                </a:cubicBezTo>
                <a:cubicBezTo>
                  <a:pt x="1018493" y="475799"/>
                  <a:pt x="1019470" y="516810"/>
                  <a:pt x="1077163" y="524467"/>
                </a:cubicBezTo>
                <a:cubicBezTo>
                  <a:pt x="1124222" y="535807"/>
                  <a:pt x="1202940" y="574855"/>
                  <a:pt x="1258716" y="587975"/>
                </a:cubicBezTo>
                <a:cubicBezTo>
                  <a:pt x="1274181" y="586466"/>
                  <a:pt x="1286859" y="589632"/>
                  <a:pt x="1298056" y="595413"/>
                </a:cubicBezTo>
                <a:lnTo>
                  <a:pt x="1327017" y="617412"/>
                </a:lnTo>
                <a:lnTo>
                  <a:pt x="1347909" y="620209"/>
                </a:lnTo>
                <a:cubicBezTo>
                  <a:pt x="1377004" y="628445"/>
                  <a:pt x="1394712" y="616344"/>
                  <a:pt x="1421792" y="626139"/>
                </a:cubicBezTo>
                <a:cubicBezTo>
                  <a:pt x="1466260" y="647543"/>
                  <a:pt x="1506099" y="610975"/>
                  <a:pt x="1519789" y="645011"/>
                </a:cubicBezTo>
                <a:cubicBezTo>
                  <a:pt x="1556219" y="665699"/>
                  <a:pt x="1578776" y="668950"/>
                  <a:pt x="1620886" y="687715"/>
                </a:cubicBezTo>
                <a:cubicBezTo>
                  <a:pt x="1658228" y="693647"/>
                  <a:pt x="1636224" y="694371"/>
                  <a:pt x="1676745" y="690130"/>
                </a:cubicBezTo>
                <a:cubicBezTo>
                  <a:pt x="1713709" y="697532"/>
                  <a:pt x="1774627" y="701403"/>
                  <a:pt x="1832228" y="690860"/>
                </a:cubicBezTo>
                <a:cubicBezTo>
                  <a:pt x="1866586" y="689181"/>
                  <a:pt x="1949046" y="755765"/>
                  <a:pt x="1980464" y="704858"/>
                </a:cubicBezTo>
                <a:cubicBezTo>
                  <a:pt x="2001472" y="716610"/>
                  <a:pt x="2020758" y="710467"/>
                  <a:pt x="2051150" y="711187"/>
                </a:cubicBezTo>
                <a:cubicBezTo>
                  <a:pt x="2081543" y="711907"/>
                  <a:pt x="2117567" y="736153"/>
                  <a:pt x="2162824" y="709178"/>
                </a:cubicBezTo>
                <a:cubicBezTo>
                  <a:pt x="2219712" y="701824"/>
                  <a:pt x="2181421" y="742368"/>
                  <a:pt x="2259859" y="718188"/>
                </a:cubicBezTo>
                <a:cubicBezTo>
                  <a:pt x="2296623" y="733933"/>
                  <a:pt x="2337412" y="741012"/>
                  <a:pt x="2378290" y="738748"/>
                </a:cubicBezTo>
                <a:cubicBezTo>
                  <a:pt x="2380041" y="725410"/>
                  <a:pt x="2399659" y="741017"/>
                  <a:pt x="2407828" y="743457"/>
                </a:cubicBezTo>
                <a:cubicBezTo>
                  <a:pt x="2406113" y="735180"/>
                  <a:pt x="2421642" y="728742"/>
                  <a:pt x="2428936" y="734697"/>
                </a:cubicBezTo>
                <a:cubicBezTo>
                  <a:pt x="2468648" y="720822"/>
                  <a:pt x="2584275" y="677579"/>
                  <a:pt x="2646106" y="660204"/>
                </a:cubicBezTo>
                <a:cubicBezTo>
                  <a:pt x="2706894" y="652346"/>
                  <a:pt x="2738390" y="612318"/>
                  <a:pt x="2799920" y="630451"/>
                </a:cubicBezTo>
                <a:cubicBezTo>
                  <a:pt x="2856798" y="622940"/>
                  <a:pt x="2902940" y="602232"/>
                  <a:pt x="2953556" y="607173"/>
                </a:cubicBezTo>
                <a:cubicBezTo>
                  <a:pt x="2970626" y="593247"/>
                  <a:pt x="2988095" y="586399"/>
                  <a:pt x="3009839" y="601743"/>
                </a:cubicBezTo>
                <a:cubicBezTo>
                  <a:pt x="3046166" y="594868"/>
                  <a:pt x="3085682" y="586046"/>
                  <a:pt x="3115016" y="584982"/>
                </a:cubicBezTo>
                <a:cubicBezTo>
                  <a:pt x="3144992" y="587935"/>
                  <a:pt x="3158740" y="599045"/>
                  <a:pt x="3185844" y="595356"/>
                </a:cubicBezTo>
                <a:cubicBezTo>
                  <a:pt x="3209939" y="576197"/>
                  <a:pt x="3221731" y="614583"/>
                  <a:pt x="3246013" y="592418"/>
                </a:cubicBezTo>
                <a:cubicBezTo>
                  <a:pt x="3228976" y="565486"/>
                  <a:pt x="3320172" y="599686"/>
                  <a:pt x="3313565" y="574138"/>
                </a:cubicBezTo>
                <a:cubicBezTo>
                  <a:pt x="3341586" y="564515"/>
                  <a:pt x="3371901" y="555346"/>
                  <a:pt x="3414143" y="553730"/>
                </a:cubicBezTo>
                <a:cubicBezTo>
                  <a:pt x="3463229" y="557630"/>
                  <a:pt x="3476532" y="539673"/>
                  <a:pt x="3552895" y="548563"/>
                </a:cubicBezTo>
                <a:cubicBezTo>
                  <a:pt x="3620356" y="561042"/>
                  <a:pt x="3688830" y="574962"/>
                  <a:pt x="3753012" y="599520"/>
                </a:cubicBezTo>
                <a:cubicBezTo>
                  <a:pt x="3769580" y="615048"/>
                  <a:pt x="3777112" y="602961"/>
                  <a:pt x="3804392" y="604131"/>
                </a:cubicBezTo>
                <a:cubicBezTo>
                  <a:pt x="3831672" y="605301"/>
                  <a:pt x="3878076" y="605222"/>
                  <a:pt x="3916696" y="606540"/>
                </a:cubicBezTo>
                <a:cubicBezTo>
                  <a:pt x="3970533" y="603881"/>
                  <a:pt x="3981244" y="618066"/>
                  <a:pt x="4063849" y="604058"/>
                </a:cubicBezTo>
                <a:cubicBezTo>
                  <a:pt x="4074473" y="605185"/>
                  <a:pt x="4134611" y="589365"/>
                  <a:pt x="4172179" y="592355"/>
                </a:cubicBezTo>
                <a:cubicBezTo>
                  <a:pt x="4180554" y="576172"/>
                  <a:pt x="4255433" y="602075"/>
                  <a:pt x="4276294" y="587119"/>
                </a:cubicBezTo>
                <a:cubicBezTo>
                  <a:pt x="4326119" y="586973"/>
                  <a:pt x="4361692" y="573867"/>
                  <a:pt x="4411090" y="575600"/>
                </a:cubicBezTo>
                <a:cubicBezTo>
                  <a:pt x="4465125" y="575500"/>
                  <a:pt x="4518088" y="570805"/>
                  <a:pt x="4540465" y="567464"/>
                </a:cubicBezTo>
                <a:lnTo>
                  <a:pt x="4545352" y="555554"/>
                </a:lnTo>
                <a:lnTo>
                  <a:pt x="4564014" y="553660"/>
                </a:lnTo>
                <a:lnTo>
                  <a:pt x="4568602" y="550913"/>
                </a:lnTo>
                <a:cubicBezTo>
                  <a:pt x="4577353" y="545618"/>
                  <a:pt x="4586105" y="540734"/>
                  <a:pt x="4595289" y="537407"/>
                </a:cubicBezTo>
                <a:cubicBezTo>
                  <a:pt x="4623104" y="537511"/>
                  <a:pt x="4660764" y="533229"/>
                  <a:pt x="4739026" y="532483"/>
                </a:cubicBezTo>
                <a:cubicBezTo>
                  <a:pt x="4806238" y="527255"/>
                  <a:pt x="4944577" y="524439"/>
                  <a:pt x="5061335" y="545635"/>
                </a:cubicBezTo>
                <a:cubicBezTo>
                  <a:pt x="5167156" y="553533"/>
                  <a:pt x="5251789" y="586167"/>
                  <a:pt x="5338634" y="595754"/>
                </a:cubicBezTo>
                <a:cubicBezTo>
                  <a:pt x="5415763" y="589622"/>
                  <a:pt x="5434719" y="609365"/>
                  <a:pt x="5529430" y="606335"/>
                </a:cubicBezTo>
                <a:cubicBezTo>
                  <a:pt x="5534498" y="613561"/>
                  <a:pt x="5597157" y="603269"/>
                  <a:pt x="5604039" y="607676"/>
                </a:cubicBezTo>
                <a:lnTo>
                  <a:pt x="5625281" y="617253"/>
                </a:lnTo>
                <a:lnTo>
                  <a:pt x="5628138" y="615483"/>
                </a:lnTo>
                <a:cubicBezTo>
                  <a:pt x="5640641" y="612245"/>
                  <a:pt x="5648217" y="613966"/>
                  <a:pt x="5653593" y="617873"/>
                </a:cubicBezTo>
                <a:lnTo>
                  <a:pt x="5658658" y="624279"/>
                </a:lnTo>
                <a:lnTo>
                  <a:pt x="5675963" y="627762"/>
                </a:lnTo>
                <a:lnTo>
                  <a:pt x="5709625" y="639593"/>
                </a:lnTo>
                <a:lnTo>
                  <a:pt x="5716324" y="637148"/>
                </a:lnTo>
                <a:lnTo>
                  <a:pt x="5767720" y="647737"/>
                </a:lnTo>
                <a:lnTo>
                  <a:pt x="5768619" y="645671"/>
                </a:lnTo>
                <a:cubicBezTo>
                  <a:pt x="5776130" y="642927"/>
                  <a:pt x="5830922" y="636226"/>
                  <a:pt x="5858696" y="628099"/>
                </a:cubicBezTo>
                <a:lnTo>
                  <a:pt x="5935260" y="596904"/>
                </a:lnTo>
                <a:lnTo>
                  <a:pt x="5946176" y="597874"/>
                </a:lnTo>
                <a:lnTo>
                  <a:pt x="5946447" y="597396"/>
                </a:lnTo>
                <a:cubicBezTo>
                  <a:pt x="5948934" y="596546"/>
                  <a:pt x="5952567" y="596468"/>
                  <a:pt x="5958069" y="597432"/>
                </a:cubicBezTo>
                <a:lnTo>
                  <a:pt x="5966081" y="599643"/>
                </a:lnTo>
                <a:lnTo>
                  <a:pt x="5987259" y="601523"/>
                </a:lnTo>
                <a:lnTo>
                  <a:pt x="5994905" y="598873"/>
                </a:lnTo>
                <a:cubicBezTo>
                  <a:pt x="6020610" y="579716"/>
                  <a:pt x="6016968" y="560235"/>
                  <a:pt x="6054803" y="541202"/>
                </a:cubicBezTo>
                <a:cubicBezTo>
                  <a:pt x="6108247" y="527358"/>
                  <a:pt x="6130976" y="484538"/>
                  <a:pt x="6188672" y="496389"/>
                </a:cubicBezTo>
                <a:cubicBezTo>
                  <a:pt x="6238659" y="483279"/>
                  <a:pt x="6277194" y="458153"/>
                  <a:pt x="6323280" y="458013"/>
                </a:cubicBezTo>
                <a:cubicBezTo>
                  <a:pt x="6368044" y="444385"/>
                  <a:pt x="6422801" y="420428"/>
                  <a:pt x="6457257" y="414621"/>
                </a:cubicBezTo>
                <a:cubicBezTo>
                  <a:pt x="6483424" y="410645"/>
                  <a:pt x="6508964" y="423228"/>
                  <a:pt x="6530019" y="423168"/>
                </a:cubicBezTo>
                <a:cubicBezTo>
                  <a:pt x="6558276" y="416578"/>
                  <a:pt x="6600264" y="386690"/>
                  <a:pt x="6626800" y="375078"/>
                </a:cubicBezTo>
                <a:cubicBezTo>
                  <a:pt x="6664418" y="400828"/>
                  <a:pt x="6655535" y="354302"/>
                  <a:pt x="6689231" y="353501"/>
                </a:cubicBezTo>
                <a:cubicBezTo>
                  <a:pt x="6708837" y="361122"/>
                  <a:pt x="6719642" y="359485"/>
                  <a:pt x="6726440" y="340276"/>
                </a:cubicBezTo>
                <a:cubicBezTo>
                  <a:pt x="6818329" y="378763"/>
                  <a:pt x="6765502" y="328183"/>
                  <a:pt x="6835228" y="329393"/>
                </a:cubicBezTo>
                <a:cubicBezTo>
                  <a:pt x="6897464" y="335048"/>
                  <a:pt x="6962224" y="329085"/>
                  <a:pt x="7039363" y="370823"/>
                </a:cubicBezTo>
                <a:cubicBezTo>
                  <a:pt x="7056368" y="384567"/>
                  <a:pt x="7070539" y="363899"/>
                  <a:pt x="7095156" y="366075"/>
                </a:cubicBezTo>
                <a:cubicBezTo>
                  <a:pt x="7119772" y="368250"/>
                  <a:pt x="7153748" y="385714"/>
                  <a:pt x="7187061" y="383876"/>
                </a:cubicBezTo>
                <a:cubicBezTo>
                  <a:pt x="7242115" y="377604"/>
                  <a:pt x="7270954" y="334249"/>
                  <a:pt x="7295039" y="355046"/>
                </a:cubicBezTo>
                <a:cubicBezTo>
                  <a:pt x="7320104" y="344159"/>
                  <a:pt x="7343179" y="301443"/>
                  <a:pt x="7373651" y="322299"/>
                </a:cubicBezTo>
                <a:cubicBezTo>
                  <a:pt x="7367160" y="298575"/>
                  <a:pt x="7410095" y="329040"/>
                  <a:pt x="7418964" y="308685"/>
                </a:cubicBezTo>
                <a:cubicBezTo>
                  <a:pt x="7424243" y="291807"/>
                  <a:pt x="7438503" y="297117"/>
                  <a:pt x="7450568" y="293511"/>
                </a:cubicBezTo>
                <a:cubicBezTo>
                  <a:pt x="7461276" y="277652"/>
                  <a:pt x="7519437" y="275664"/>
                  <a:pt x="7538380" y="283235"/>
                </a:cubicBezTo>
                <a:cubicBezTo>
                  <a:pt x="7594343" y="271879"/>
                  <a:pt x="7734488" y="231676"/>
                  <a:pt x="7786348" y="225377"/>
                </a:cubicBezTo>
                <a:cubicBezTo>
                  <a:pt x="7797693" y="277094"/>
                  <a:pt x="7847327" y="236176"/>
                  <a:pt x="7849534" y="245434"/>
                </a:cubicBezTo>
                <a:cubicBezTo>
                  <a:pt x="7894253" y="231282"/>
                  <a:pt x="7937937" y="238796"/>
                  <a:pt x="7981165" y="222252"/>
                </a:cubicBezTo>
                <a:cubicBezTo>
                  <a:pt x="8066564" y="234459"/>
                  <a:pt x="8127007" y="235277"/>
                  <a:pt x="8171882" y="222497"/>
                </a:cubicBezTo>
                <a:cubicBezTo>
                  <a:pt x="8183092" y="205785"/>
                  <a:pt x="8217423" y="177145"/>
                  <a:pt x="8242270" y="180535"/>
                </a:cubicBezTo>
                <a:cubicBezTo>
                  <a:pt x="8294138" y="178846"/>
                  <a:pt x="8410926" y="208334"/>
                  <a:pt x="8490152" y="209193"/>
                </a:cubicBezTo>
                <a:cubicBezTo>
                  <a:pt x="8558493" y="195433"/>
                  <a:pt x="8564727" y="233466"/>
                  <a:pt x="8622272" y="188859"/>
                </a:cubicBezTo>
                <a:cubicBezTo>
                  <a:pt x="8659556" y="191317"/>
                  <a:pt x="8666988" y="178214"/>
                  <a:pt x="8738606" y="208945"/>
                </a:cubicBezTo>
                <a:cubicBezTo>
                  <a:pt x="8769507" y="208543"/>
                  <a:pt x="8800406" y="224019"/>
                  <a:pt x="8831307" y="207738"/>
                </a:cubicBezTo>
                <a:cubicBezTo>
                  <a:pt x="8836477" y="191612"/>
                  <a:pt x="8870109" y="182455"/>
                  <a:pt x="8891432" y="184510"/>
                </a:cubicBezTo>
                <a:cubicBezTo>
                  <a:pt x="8876795" y="135260"/>
                  <a:pt x="8938553" y="173381"/>
                  <a:pt x="8946980" y="145578"/>
                </a:cubicBezTo>
                <a:cubicBezTo>
                  <a:pt x="9010957" y="156064"/>
                  <a:pt x="9046552" y="157746"/>
                  <a:pt x="9107760" y="128052"/>
                </a:cubicBezTo>
                <a:cubicBezTo>
                  <a:pt x="9135191" y="151813"/>
                  <a:pt x="9184204" y="114911"/>
                  <a:pt x="9195623" y="100212"/>
                </a:cubicBezTo>
                <a:cubicBezTo>
                  <a:pt x="9222736" y="85917"/>
                  <a:pt x="9230892" y="98248"/>
                  <a:pt x="9256898" y="73900"/>
                </a:cubicBezTo>
                <a:cubicBezTo>
                  <a:pt x="9276443" y="63724"/>
                  <a:pt x="9334001" y="80454"/>
                  <a:pt x="9351740" y="80439"/>
                </a:cubicBezTo>
                <a:cubicBezTo>
                  <a:pt x="9398889" y="82633"/>
                  <a:pt x="9473718" y="102566"/>
                  <a:pt x="9539796" y="87069"/>
                </a:cubicBezTo>
                <a:cubicBezTo>
                  <a:pt x="9565852" y="70987"/>
                  <a:pt x="9591569" y="56211"/>
                  <a:pt x="9619109" y="399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Symbol zastępczy zawartości 2">
            <a:extLst>
              <a:ext uri="{FF2B5EF4-FFF2-40B4-BE49-F238E27FC236}">
                <a16:creationId xmlns:a16="http://schemas.microsoft.com/office/drawing/2014/main" id="{E86DC46C-B24C-8159-8C1B-D8B9C1A2E71A}"/>
              </a:ext>
            </a:extLst>
          </p:cNvPr>
          <p:cNvSpPr>
            <a:spLocks noGrp="1"/>
          </p:cNvSpPr>
          <p:nvPr>
            <p:ph idx="1"/>
          </p:nvPr>
        </p:nvSpPr>
        <p:spPr>
          <a:xfrm>
            <a:off x="859669" y="2071240"/>
            <a:ext cx="6755782" cy="4051767"/>
          </a:xfrm>
        </p:spPr>
        <p:txBody>
          <a:bodyPr>
            <a:normAutofit fontScale="92500"/>
          </a:bodyPr>
          <a:lstStyle/>
          <a:p>
            <a:pPr marL="0" indent="0">
              <a:buNone/>
            </a:pPr>
            <a:r>
              <a:rPr lang="pl-PL" sz="2400" dirty="0"/>
              <a:t>Idealna komórka elementarna pokazuje symetryczne, wąskie piki przypominające funkcję delta. </a:t>
            </a:r>
          </a:p>
          <a:p>
            <a:pPr marL="0" indent="0">
              <a:buNone/>
            </a:pPr>
            <a:r>
              <a:rPr lang="pl-PL" sz="2400" dirty="0"/>
              <a:t>W realnych próbkach występują odchylenia, takie jak poszerzenie pików, ich przesunięcia, anizotropowe poszerzenia i asymetrie. </a:t>
            </a:r>
          </a:p>
          <a:p>
            <a:pPr marL="0" indent="0">
              <a:buNone/>
            </a:pPr>
            <a:r>
              <a:rPr lang="pl-PL" sz="2400" dirty="0"/>
              <a:t>Poszerzenie piku może być oznaką małego rozmiaru krystalitów, </a:t>
            </a:r>
            <a:r>
              <a:rPr lang="pl-PL" sz="2400" dirty="0" err="1"/>
              <a:t>mikronaprężeń</a:t>
            </a:r>
            <a:r>
              <a:rPr lang="pl-PL" sz="2400" dirty="0"/>
              <a:t>, </a:t>
            </a:r>
            <a:r>
              <a:rPr lang="pl-PL" sz="2400" dirty="0" err="1"/>
              <a:t>mikrostresów</a:t>
            </a:r>
            <a:r>
              <a:rPr lang="pl-PL" sz="2400" dirty="0"/>
              <a:t>, gradientów </a:t>
            </a:r>
            <a:r>
              <a:rPr lang="pl-PL" sz="2400" dirty="0" err="1"/>
              <a:t>naprężeń</a:t>
            </a:r>
            <a:r>
              <a:rPr lang="pl-PL" sz="2400" dirty="0"/>
              <a:t> i efektów instrumentalnych. </a:t>
            </a:r>
          </a:p>
          <a:p>
            <a:pPr marL="0" indent="0">
              <a:buNone/>
            </a:pPr>
            <a:r>
              <a:rPr lang="pl-PL" sz="2400" dirty="0"/>
              <a:t>Przesunięcia pików mogą wystąpić np. w próbkach zawierających roztwory stałe, domieszki itd.</a:t>
            </a:r>
          </a:p>
        </p:txBody>
      </p:sp>
      <p:sp>
        <p:nvSpPr>
          <p:cNvPr id="23" name="Freeform: Shape 14">
            <a:extLst>
              <a:ext uri="{FF2B5EF4-FFF2-40B4-BE49-F238E27FC236}">
                <a16:creationId xmlns:a16="http://schemas.microsoft.com/office/drawing/2014/main" id="{F3BD3BB9-3CB5-4253-A27D-6B7904723D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9827"/>
            <a:ext cx="10680562" cy="1078174"/>
          </a:xfrm>
          <a:custGeom>
            <a:avLst/>
            <a:gdLst>
              <a:gd name="connsiteX0" fmla="*/ 3617689 w 10680562"/>
              <a:gd name="connsiteY0" fmla="*/ 0 h 1605023"/>
              <a:gd name="connsiteX1" fmla="*/ 3635901 w 10680562"/>
              <a:gd name="connsiteY1" fmla="*/ 7738 h 1605023"/>
              <a:gd name="connsiteX2" fmla="*/ 3690891 w 10680562"/>
              <a:gd name="connsiteY2" fmla="*/ 7049 h 1605023"/>
              <a:gd name="connsiteX3" fmla="*/ 3832247 w 10680562"/>
              <a:gd name="connsiteY3" fmla="*/ 13937 h 1605023"/>
              <a:gd name="connsiteX4" fmla="*/ 3999111 w 10680562"/>
              <a:gd name="connsiteY4" fmla="*/ 44624 h 1605023"/>
              <a:gd name="connsiteX5" fmla="*/ 4034676 w 10680562"/>
              <a:gd name="connsiteY5" fmla="*/ 48775 h 1605023"/>
              <a:gd name="connsiteX6" fmla="*/ 4065394 w 10680562"/>
              <a:gd name="connsiteY6" fmla="*/ 42879 h 1605023"/>
              <a:gd name="connsiteX7" fmla="*/ 4072648 w 10680562"/>
              <a:gd name="connsiteY7" fmla="*/ 33262 h 1605023"/>
              <a:gd name="connsiteX8" fmla="*/ 4092232 w 10680562"/>
              <a:gd name="connsiteY8" fmla="*/ 34026 h 1605023"/>
              <a:gd name="connsiteX9" fmla="*/ 4097470 w 10680562"/>
              <a:gd name="connsiteY9" fmla="*/ 32252 h 1605023"/>
              <a:gd name="connsiteX10" fmla="*/ 4127488 w 10680562"/>
              <a:gd name="connsiteY10" fmla="*/ 24056 h 1605023"/>
              <a:gd name="connsiteX11" fmla="*/ 4190803 w 10680562"/>
              <a:gd name="connsiteY11" fmla="*/ 55685 h 1605023"/>
              <a:gd name="connsiteX12" fmla="*/ 4269333 w 10680562"/>
              <a:gd name="connsiteY12" fmla="*/ 54186 h 1605023"/>
              <a:gd name="connsiteX13" fmla="*/ 4481486 w 10680562"/>
              <a:gd name="connsiteY13" fmla="*/ 116915 h 1605023"/>
              <a:gd name="connsiteX14" fmla="*/ 4651418 w 10680562"/>
              <a:gd name="connsiteY14" fmla="*/ 150071 h 1605023"/>
              <a:gd name="connsiteX15" fmla="*/ 4863575 w 10680562"/>
              <a:gd name="connsiteY15" fmla="*/ 175458 h 1605023"/>
              <a:gd name="connsiteX16" fmla="*/ 5013635 w 10680562"/>
              <a:gd name="connsiteY16" fmla="*/ 213928 h 1605023"/>
              <a:gd name="connsiteX17" fmla="*/ 5203044 w 10680562"/>
              <a:gd name="connsiteY17" fmla="*/ 228946 h 1605023"/>
              <a:gd name="connsiteX18" fmla="*/ 5207070 w 10680562"/>
              <a:gd name="connsiteY18" fmla="*/ 235105 h 1605023"/>
              <a:gd name="connsiteX19" fmla="*/ 5224253 w 10680562"/>
              <a:gd name="connsiteY19" fmla="*/ 240320 h 1605023"/>
              <a:gd name="connsiteX20" fmla="*/ 5256736 w 10680562"/>
              <a:gd name="connsiteY20" fmla="*/ 254811 h 1605023"/>
              <a:gd name="connsiteX21" fmla="*/ 5264095 w 10680562"/>
              <a:gd name="connsiteY21" fmla="*/ 253567 h 1605023"/>
              <a:gd name="connsiteX22" fmla="*/ 5315084 w 10680562"/>
              <a:gd name="connsiteY22" fmla="*/ 269264 h 1605023"/>
              <a:gd name="connsiteX23" fmla="*/ 5316393 w 10680562"/>
              <a:gd name="connsiteY23" fmla="*/ 267603 h 1605023"/>
              <a:gd name="connsiteX24" fmla="*/ 5333427 w 10680562"/>
              <a:gd name="connsiteY24" fmla="*/ 263823 h 1605023"/>
              <a:gd name="connsiteX25" fmla="*/ 5364589 w 10680562"/>
              <a:gd name="connsiteY25" fmla="*/ 260882 h 1605023"/>
              <a:gd name="connsiteX26" fmla="*/ 5443973 w 10680562"/>
              <a:gd name="connsiteY26" fmla="*/ 230866 h 1605023"/>
              <a:gd name="connsiteX27" fmla="*/ 5497201 w 10680562"/>
              <a:gd name="connsiteY27" fmla="*/ 247023 h 1605023"/>
              <a:gd name="connsiteX28" fmla="*/ 5508269 w 10680562"/>
              <a:gd name="connsiteY28" fmla="*/ 249256 h 1605023"/>
              <a:gd name="connsiteX29" fmla="*/ 5508636 w 10680562"/>
              <a:gd name="connsiteY29" fmla="*/ 248880 h 1605023"/>
              <a:gd name="connsiteX30" fmla="*/ 5520606 w 10680562"/>
              <a:gd name="connsiteY30" fmla="*/ 250400 h 1605023"/>
              <a:gd name="connsiteX31" fmla="*/ 5528451 w 10680562"/>
              <a:gd name="connsiteY31" fmla="*/ 253330 h 1605023"/>
              <a:gd name="connsiteX32" fmla="*/ 5549923 w 10680562"/>
              <a:gd name="connsiteY32" fmla="*/ 257662 h 1605023"/>
              <a:gd name="connsiteX33" fmla="*/ 5558295 w 10680562"/>
              <a:gd name="connsiteY33" fmla="*/ 256364 h 1605023"/>
              <a:gd name="connsiteX34" fmla="*/ 5664799 w 10680562"/>
              <a:gd name="connsiteY34" fmla="*/ 278924 h 1605023"/>
              <a:gd name="connsiteX35" fmla="*/ 5796160 w 10680562"/>
              <a:gd name="connsiteY35" fmla="*/ 307979 h 1605023"/>
              <a:gd name="connsiteX36" fmla="*/ 5897647 w 10680562"/>
              <a:gd name="connsiteY36" fmla="*/ 339431 h 1605023"/>
              <a:gd name="connsiteX37" fmla="*/ 5978838 w 10680562"/>
              <a:gd name="connsiteY37" fmla="*/ 367970 h 1605023"/>
              <a:gd name="connsiteX38" fmla="*/ 6050367 w 10680562"/>
              <a:gd name="connsiteY38" fmla="*/ 386341 h 1605023"/>
              <a:gd name="connsiteX39" fmla="*/ 6140609 w 10680562"/>
              <a:gd name="connsiteY39" fmla="*/ 385135 h 1605023"/>
              <a:gd name="connsiteX40" fmla="*/ 6302950 w 10680562"/>
              <a:gd name="connsiteY40" fmla="*/ 448183 h 1605023"/>
              <a:gd name="connsiteX41" fmla="*/ 6308533 w 10680562"/>
              <a:gd name="connsiteY41" fmla="*/ 448551 h 1605023"/>
              <a:gd name="connsiteX42" fmla="*/ 6340278 w 10680562"/>
              <a:gd name="connsiteY42" fmla="*/ 468555 h 1605023"/>
              <a:gd name="connsiteX43" fmla="*/ 6341685 w 10680562"/>
              <a:gd name="connsiteY43" fmla="*/ 467587 h 1605023"/>
              <a:gd name="connsiteX44" fmla="*/ 6354862 w 10680562"/>
              <a:gd name="connsiteY44" fmla="*/ 467794 h 1605023"/>
              <a:gd name="connsiteX45" fmla="*/ 6377840 w 10680562"/>
              <a:gd name="connsiteY45" fmla="*/ 471024 h 1605023"/>
              <a:gd name="connsiteX46" fmla="*/ 6442804 w 10680562"/>
              <a:gd name="connsiteY46" fmla="*/ 463091 h 1605023"/>
              <a:gd name="connsiteX47" fmla="*/ 6476009 w 10680562"/>
              <a:gd name="connsiteY47" fmla="*/ 483807 h 1605023"/>
              <a:gd name="connsiteX48" fmla="*/ 6483237 w 10680562"/>
              <a:gd name="connsiteY48" fmla="*/ 487308 h 1605023"/>
              <a:gd name="connsiteX49" fmla="*/ 6483605 w 10680562"/>
              <a:gd name="connsiteY49" fmla="*/ 487102 h 1605023"/>
              <a:gd name="connsiteX50" fmla="*/ 6491673 w 10680562"/>
              <a:gd name="connsiteY50" fmla="*/ 490243 h 1605023"/>
              <a:gd name="connsiteX51" fmla="*/ 6496411 w 10680562"/>
              <a:gd name="connsiteY51" fmla="*/ 493689 h 1605023"/>
              <a:gd name="connsiteX52" fmla="*/ 6510429 w 10680562"/>
              <a:gd name="connsiteY52" fmla="*/ 500479 h 1605023"/>
              <a:gd name="connsiteX53" fmla="*/ 6516750 w 10680562"/>
              <a:gd name="connsiteY53" fmla="*/ 500983 h 1605023"/>
              <a:gd name="connsiteX54" fmla="*/ 6580199 w 10680562"/>
              <a:gd name="connsiteY54" fmla="*/ 483318 h 1605023"/>
              <a:gd name="connsiteX55" fmla="*/ 6690237 w 10680562"/>
              <a:gd name="connsiteY55" fmla="*/ 493051 h 1605023"/>
              <a:gd name="connsiteX56" fmla="*/ 6798356 w 10680562"/>
              <a:gd name="connsiteY56" fmla="*/ 506748 h 1605023"/>
              <a:gd name="connsiteX57" fmla="*/ 6837102 w 10680562"/>
              <a:gd name="connsiteY57" fmla="*/ 513677 h 1605023"/>
              <a:gd name="connsiteX58" fmla="*/ 6907934 w 10680562"/>
              <a:gd name="connsiteY58" fmla="*/ 517339 h 1605023"/>
              <a:gd name="connsiteX59" fmla="*/ 6941474 w 10680562"/>
              <a:gd name="connsiteY59" fmla="*/ 513632 h 1605023"/>
              <a:gd name="connsiteX60" fmla="*/ 6942754 w 10680562"/>
              <a:gd name="connsiteY60" fmla="*/ 514394 h 1605023"/>
              <a:gd name="connsiteX61" fmla="*/ 6946363 w 10680562"/>
              <a:gd name="connsiteY61" fmla="*/ 511066 h 1605023"/>
              <a:gd name="connsiteX62" fmla="*/ 6952592 w 10680562"/>
              <a:gd name="connsiteY62" fmla="*/ 510252 h 1605023"/>
              <a:gd name="connsiteX63" fmla="*/ 6968398 w 10680562"/>
              <a:gd name="connsiteY63" fmla="*/ 513946 h 1605023"/>
              <a:gd name="connsiteX64" fmla="*/ 6974142 w 10680562"/>
              <a:gd name="connsiteY64" fmla="*/ 516310 h 1605023"/>
              <a:gd name="connsiteX65" fmla="*/ 6982971 w 10680562"/>
              <a:gd name="connsiteY65" fmla="*/ 517694 h 1605023"/>
              <a:gd name="connsiteX66" fmla="*/ 6983252 w 10680562"/>
              <a:gd name="connsiteY66" fmla="*/ 517416 h 1605023"/>
              <a:gd name="connsiteX67" fmla="*/ 6991400 w 10680562"/>
              <a:gd name="connsiteY67" fmla="*/ 519321 h 1605023"/>
              <a:gd name="connsiteX68" fmla="*/ 7030460 w 10680562"/>
              <a:gd name="connsiteY68" fmla="*/ 532556 h 1605023"/>
              <a:gd name="connsiteX69" fmla="*/ 7089916 w 10680562"/>
              <a:gd name="connsiteY69" fmla="*/ 511503 h 1605023"/>
              <a:gd name="connsiteX70" fmla="*/ 7113059 w 10680562"/>
              <a:gd name="connsiteY70" fmla="*/ 509904 h 1605023"/>
              <a:gd name="connsiteX71" fmla="*/ 7125755 w 10680562"/>
              <a:gd name="connsiteY71" fmla="*/ 507393 h 1605023"/>
              <a:gd name="connsiteX72" fmla="*/ 7126765 w 10680562"/>
              <a:gd name="connsiteY72" fmla="*/ 506166 h 1605023"/>
              <a:gd name="connsiteX73" fmla="*/ 7164175 w 10680562"/>
              <a:gd name="connsiteY73" fmla="*/ 519011 h 1605023"/>
              <a:gd name="connsiteX74" fmla="*/ 7169654 w 10680562"/>
              <a:gd name="connsiteY74" fmla="*/ 518219 h 1605023"/>
              <a:gd name="connsiteX75" fmla="*/ 7193386 w 10680562"/>
              <a:gd name="connsiteY75" fmla="*/ 529788 h 1605023"/>
              <a:gd name="connsiteX76" fmla="*/ 7205997 w 10680562"/>
              <a:gd name="connsiteY76" fmla="*/ 534060 h 1605023"/>
              <a:gd name="connsiteX77" fmla="*/ 7208842 w 10680562"/>
              <a:gd name="connsiteY77" fmla="*/ 538783 h 1605023"/>
              <a:gd name="connsiteX78" fmla="*/ 7227817 w 10680562"/>
              <a:gd name="connsiteY78" fmla="*/ 543304 h 1605023"/>
              <a:gd name="connsiteX79" fmla="*/ 7230267 w 10680562"/>
              <a:gd name="connsiteY79" fmla="*/ 542497 h 1605023"/>
              <a:gd name="connsiteX80" fmla="*/ 7244913 w 10680562"/>
              <a:gd name="connsiteY80" fmla="*/ 551160 h 1605023"/>
              <a:gd name="connsiteX81" fmla="*/ 7255970 w 10680562"/>
              <a:gd name="connsiteY81" fmla="*/ 564383 h 1605023"/>
              <a:gd name="connsiteX82" fmla="*/ 7421156 w 10680562"/>
              <a:gd name="connsiteY82" fmla="*/ 584155 h 1605023"/>
              <a:gd name="connsiteX83" fmla="*/ 7553166 w 10680562"/>
              <a:gd name="connsiteY83" fmla="*/ 653085 h 1605023"/>
              <a:gd name="connsiteX84" fmla="*/ 7643092 w 10680562"/>
              <a:gd name="connsiteY84" fmla="*/ 662482 h 1605023"/>
              <a:gd name="connsiteX85" fmla="*/ 7896429 w 10680562"/>
              <a:gd name="connsiteY85" fmla="*/ 689054 h 1605023"/>
              <a:gd name="connsiteX86" fmla="*/ 7954620 w 10680562"/>
              <a:gd name="connsiteY86" fmla="*/ 689481 h 1605023"/>
              <a:gd name="connsiteX87" fmla="*/ 8000803 w 10680562"/>
              <a:gd name="connsiteY87" fmla="*/ 714583 h 1605023"/>
              <a:gd name="connsiteX88" fmla="*/ 8023216 w 10680562"/>
              <a:gd name="connsiteY88" fmla="*/ 709000 h 1605023"/>
              <a:gd name="connsiteX89" fmla="*/ 8027136 w 10680562"/>
              <a:gd name="connsiteY89" fmla="*/ 707765 h 1605023"/>
              <a:gd name="connsiteX90" fmla="*/ 8041622 w 10680562"/>
              <a:gd name="connsiteY90" fmla="*/ 708731 h 1605023"/>
              <a:gd name="connsiteX91" fmla="*/ 8047209 w 10680562"/>
              <a:gd name="connsiteY91" fmla="*/ 701624 h 1605023"/>
              <a:gd name="connsiteX92" fmla="*/ 8070088 w 10680562"/>
              <a:gd name="connsiteY92" fmla="*/ 697789 h 1605023"/>
              <a:gd name="connsiteX93" fmla="*/ 8096332 w 10680562"/>
              <a:gd name="connsiteY93" fmla="*/ 701624 h 1605023"/>
              <a:gd name="connsiteX94" fmla="*/ 8219225 w 10680562"/>
              <a:gd name="connsiteY94" fmla="*/ 728069 h 1605023"/>
              <a:gd name="connsiteX95" fmla="*/ 8293793 w 10680562"/>
              <a:gd name="connsiteY95" fmla="*/ 739200 h 1605023"/>
              <a:gd name="connsiteX96" fmla="*/ 8323753 w 10680562"/>
              <a:gd name="connsiteY96" fmla="*/ 736063 h 1605023"/>
              <a:gd name="connsiteX97" fmla="*/ 8364496 w 10680562"/>
              <a:gd name="connsiteY97" fmla="*/ 736635 h 1605023"/>
              <a:gd name="connsiteX98" fmla="*/ 8437662 w 10680562"/>
              <a:gd name="connsiteY98" fmla="*/ 731942 h 1605023"/>
              <a:gd name="connsiteX99" fmla="*/ 8533764 w 10680562"/>
              <a:gd name="connsiteY99" fmla="*/ 735554 h 1605023"/>
              <a:gd name="connsiteX100" fmla="*/ 8596769 w 10680562"/>
              <a:gd name="connsiteY100" fmla="*/ 769632 h 1605023"/>
              <a:gd name="connsiteX101" fmla="*/ 8604035 w 10680562"/>
              <a:gd name="connsiteY101" fmla="*/ 764982 h 1605023"/>
              <a:gd name="connsiteX102" fmla="*/ 8650929 w 10680562"/>
              <a:gd name="connsiteY102" fmla="*/ 773164 h 1605023"/>
              <a:gd name="connsiteX103" fmla="*/ 8806497 w 10680562"/>
              <a:gd name="connsiteY103" fmla="*/ 839707 h 1605023"/>
              <a:gd name="connsiteX104" fmla="*/ 8898377 w 10680562"/>
              <a:gd name="connsiteY104" fmla="*/ 854651 h 1605023"/>
              <a:gd name="connsiteX105" fmla="*/ 8932389 w 10680562"/>
              <a:gd name="connsiteY105" fmla="*/ 853846 h 1605023"/>
              <a:gd name="connsiteX106" fmla="*/ 8989288 w 10680562"/>
              <a:gd name="connsiteY106" fmla="*/ 852877 h 1605023"/>
              <a:gd name="connsiteX107" fmla="*/ 9035275 w 10680562"/>
              <a:gd name="connsiteY107" fmla="*/ 837110 h 1605023"/>
              <a:gd name="connsiteX108" fmla="*/ 9138626 w 10680562"/>
              <a:gd name="connsiteY108" fmla="*/ 862106 h 1605023"/>
              <a:gd name="connsiteX109" fmla="*/ 9216298 w 10680562"/>
              <a:gd name="connsiteY109" fmla="*/ 858754 h 1605023"/>
              <a:gd name="connsiteX110" fmla="*/ 9259941 w 10680562"/>
              <a:gd name="connsiteY110" fmla="*/ 861843 h 1605023"/>
              <a:gd name="connsiteX111" fmla="*/ 9380407 w 10680562"/>
              <a:gd name="connsiteY111" fmla="*/ 864825 h 1605023"/>
              <a:gd name="connsiteX112" fmla="*/ 9490772 w 10680562"/>
              <a:gd name="connsiteY112" fmla="*/ 901190 h 1605023"/>
              <a:gd name="connsiteX113" fmla="*/ 9584982 w 10680562"/>
              <a:gd name="connsiteY113" fmla="*/ 935980 h 1605023"/>
              <a:gd name="connsiteX114" fmla="*/ 9759797 w 10680562"/>
              <a:gd name="connsiteY114" fmla="*/ 1010923 h 1605023"/>
              <a:gd name="connsiteX115" fmla="*/ 9834455 w 10680562"/>
              <a:gd name="connsiteY115" fmla="*/ 1082908 h 1605023"/>
              <a:gd name="connsiteX116" fmla="*/ 9939504 w 10680562"/>
              <a:gd name="connsiteY116" fmla="*/ 1110614 h 1605023"/>
              <a:gd name="connsiteX117" fmla="*/ 10077001 w 10680562"/>
              <a:gd name="connsiteY117" fmla="*/ 1160906 h 1605023"/>
              <a:gd name="connsiteX118" fmla="*/ 10178431 w 10680562"/>
              <a:gd name="connsiteY118" fmla="*/ 1244920 h 1605023"/>
              <a:gd name="connsiteX119" fmla="*/ 10248658 w 10680562"/>
              <a:gd name="connsiteY119" fmla="*/ 1309335 h 1605023"/>
              <a:gd name="connsiteX120" fmla="*/ 10414709 w 10680562"/>
              <a:gd name="connsiteY120" fmla="*/ 1388645 h 1605023"/>
              <a:gd name="connsiteX121" fmla="*/ 10592469 w 10680562"/>
              <a:gd name="connsiteY121" fmla="*/ 1543828 h 1605023"/>
              <a:gd name="connsiteX122" fmla="*/ 10674941 w 10680562"/>
              <a:gd name="connsiteY122" fmla="*/ 1597388 h 1605023"/>
              <a:gd name="connsiteX123" fmla="*/ 10680562 w 10680562"/>
              <a:gd name="connsiteY123" fmla="*/ 1605023 h 1605023"/>
              <a:gd name="connsiteX124" fmla="*/ 0 w 10680562"/>
              <a:gd name="connsiteY124" fmla="*/ 1605023 h 1605023"/>
              <a:gd name="connsiteX125" fmla="*/ 0 w 10680562"/>
              <a:gd name="connsiteY125" fmla="*/ 415048 h 1605023"/>
              <a:gd name="connsiteX126" fmla="*/ 9656 w 10680562"/>
              <a:gd name="connsiteY126" fmla="*/ 416044 h 1605023"/>
              <a:gd name="connsiteX127" fmla="*/ 179196 w 10680562"/>
              <a:gd name="connsiteY127" fmla="*/ 423071 h 1605023"/>
              <a:gd name="connsiteX128" fmla="*/ 250912 w 10680562"/>
              <a:gd name="connsiteY128" fmla="*/ 408617 h 1605023"/>
              <a:gd name="connsiteX129" fmla="*/ 291375 w 10680562"/>
              <a:gd name="connsiteY129" fmla="*/ 403710 h 1605023"/>
              <a:gd name="connsiteX130" fmla="*/ 320542 w 10680562"/>
              <a:gd name="connsiteY130" fmla="*/ 396592 h 1605023"/>
              <a:gd name="connsiteX131" fmla="*/ 522426 w 10680562"/>
              <a:gd name="connsiteY131" fmla="*/ 407158 h 1605023"/>
              <a:gd name="connsiteX132" fmla="*/ 549068 w 10680562"/>
              <a:gd name="connsiteY132" fmla="*/ 407418 h 1605023"/>
              <a:gd name="connsiteX133" fmla="*/ 571100 w 10680562"/>
              <a:gd name="connsiteY133" fmla="*/ 400562 h 1605023"/>
              <a:gd name="connsiteX134" fmla="*/ 575457 w 10680562"/>
              <a:gd name="connsiteY134" fmla="*/ 392801 h 1605023"/>
              <a:gd name="connsiteX135" fmla="*/ 589968 w 10680562"/>
              <a:gd name="connsiteY135" fmla="*/ 391807 h 1605023"/>
              <a:gd name="connsiteX136" fmla="*/ 593649 w 10680562"/>
              <a:gd name="connsiteY136" fmla="*/ 390062 h 1605023"/>
              <a:gd name="connsiteX137" fmla="*/ 614928 w 10680562"/>
              <a:gd name="connsiteY137" fmla="*/ 381544 h 1605023"/>
              <a:gd name="connsiteX138" fmla="*/ 722580 w 10680562"/>
              <a:gd name="connsiteY138" fmla="*/ 392722 h 1605023"/>
              <a:gd name="connsiteX139" fmla="*/ 946884 w 10680562"/>
              <a:gd name="connsiteY139" fmla="*/ 411854 h 1605023"/>
              <a:gd name="connsiteX140" fmla="*/ 1210905 w 10680562"/>
              <a:gd name="connsiteY140" fmla="*/ 432414 h 1605023"/>
              <a:gd name="connsiteX141" fmla="*/ 1377854 w 10680562"/>
              <a:gd name="connsiteY141" fmla="*/ 429745 h 1605023"/>
              <a:gd name="connsiteX142" fmla="*/ 1391004 w 10680562"/>
              <a:gd name="connsiteY142" fmla="*/ 441307 h 1605023"/>
              <a:gd name="connsiteX143" fmla="*/ 1406953 w 10680562"/>
              <a:gd name="connsiteY143" fmla="*/ 447889 h 1605023"/>
              <a:gd name="connsiteX144" fmla="*/ 1409246 w 10680562"/>
              <a:gd name="connsiteY144" fmla="*/ 446765 h 1605023"/>
              <a:gd name="connsiteX145" fmla="*/ 1428800 w 10680562"/>
              <a:gd name="connsiteY145" fmla="*/ 448677 h 1605023"/>
              <a:gd name="connsiteX146" fmla="*/ 1432402 w 10680562"/>
              <a:gd name="connsiteY146" fmla="*/ 452956 h 1605023"/>
              <a:gd name="connsiteX147" fmla="*/ 1606578 w 10680562"/>
              <a:gd name="connsiteY147" fmla="*/ 430870 h 1605023"/>
              <a:gd name="connsiteX148" fmla="*/ 1647476 w 10680562"/>
              <a:gd name="connsiteY148" fmla="*/ 438687 h 1605023"/>
              <a:gd name="connsiteX149" fmla="*/ 1655866 w 10680562"/>
              <a:gd name="connsiteY149" fmla="*/ 439472 h 1605023"/>
              <a:gd name="connsiteX150" fmla="*/ 1656096 w 10680562"/>
              <a:gd name="connsiteY150" fmla="*/ 439162 h 1605023"/>
              <a:gd name="connsiteX151" fmla="*/ 1670708 w 10680562"/>
              <a:gd name="connsiteY151" fmla="*/ 412530 h 1605023"/>
              <a:gd name="connsiteX152" fmla="*/ 1737953 w 10680562"/>
              <a:gd name="connsiteY152" fmla="*/ 399496 h 1605023"/>
              <a:gd name="connsiteX153" fmla="*/ 1848192 w 10680562"/>
              <a:gd name="connsiteY153" fmla="*/ 376032 h 1605023"/>
              <a:gd name="connsiteX154" fmla="*/ 1954077 w 10680562"/>
              <a:gd name="connsiteY154" fmla="*/ 352621 h 1605023"/>
              <a:gd name="connsiteX155" fmla="*/ 1993047 w 10680562"/>
              <a:gd name="connsiteY155" fmla="*/ 346068 h 1605023"/>
              <a:gd name="connsiteX156" fmla="*/ 2059719 w 10680562"/>
              <a:gd name="connsiteY156" fmla="*/ 325903 h 1605023"/>
              <a:gd name="connsiteX157" fmla="*/ 2088528 w 10680562"/>
              <a:gd name="connsiteY157" fmla="*/ 311409 h 1605023"/>
              <a:gd name="connsiteX158" fmla="*/ 2090087 w 10680562"/>
              <a:gd name="connsiteY158" fmla="*/ 311676 h 1605023"/>
              <a:gd name="connsiteX159" fmla="*/ 2091700 w 10680562"/>
              <a:gd name="connsiteY159" fmla="*/ 307455 h 1605023"/>
              <a:gd name="connsiteX160" fmla="*/ 2096989 w 10680562"/>
              <a:gd name="connsiteY160" fmla="*/ 304649 h 1605023"/>
              <a:gd name="connsiteX161" fmla="*/ 2113325 w 10680562"/>
              <a:gd name="connsiteY161" fmla="*/ 302764 h 1605023"/>
              <a:gd name="connsiteX162" fmla="*/ 2119780 w 10680562"/>
              <a:gd name="connsiteY162" fmla="*/ 303007 h 1605023"/>
              <a:gd name="connsiteX163" fmla="*/ 2128562 w 10680562"/>
              <a:gd name="connsiteY163" fmla="*/ 301336 h 1605023"/>
              <a:gd name="connsiteX164" fmla="*/ 2128679 w 10680562"/>
              <a:gd name="connsiteY164" fmla="*/ 300991 h 1605023"/>
              <a:gd name="connsiteX165" fmla="*/ 2179558 w 10680562"/>
              <a:gd name="connsiteY165" fmla="*/ 299095 h 1605023"/>
              <a:gd name="connsiteX166" fmla="*/ 2223277 w 10680562"/>
              <a:gd name="connsiteY166" fmla="*/ 260239 h 1605023"/>
              <a:gd name="connsiteX167" fmla="*/ 2243644 w 10680562"/>
              <a:gd name="connsiteY167" fmla="*/ 251110 h 1605023"/>
              <a:gd name="connsiteX168" fmla="*/ 2253986 w 10680562"/>
              <a:gd name="connsiteY168" fmla="*/ 244616 h 1605023"/>
              <a:gd name="connsiteX169" fmla="*/ 2254285 w 10680562"/>
              <a:gd name="connsiteY169" fmla="*/ 243167 h 1605023"/>
              <a:gd name="connsiteX170" fmla="*/ 2295037 w 10680562"/>
              <a:gd name="connsiteY170" fmla="*/ 242433 h 1605023"/>
              <a:gd name="connsiteX171" fmla="*/ 2299648 w 10680562"/>
              <a:gd name="connsiteY171" fmla="*/ 239896 h 1605023"/>
              <a:gd name="connsiteX172" fmla="*/ 2327237 w 10680562"/>
              <a:gd name="connsiteY172" fmla="*/ 242539 h 1605023"/>
              <a:gd name="connsiteX173" fmla="*/ 2340943 w 10680562"/>
              <a:gd name="connsiteY173" fmla="*/ 242239 h 1605023"/>
              <a:gd name="connsiteX174" fmla="*/ 2345943 w 10680562"/>
              <a:gd name="connsiteY174" fmla="*/ 245589 h 1605023"/>
              <a:gd name="connsiteX175" fmla="*/ 2365602 w 10680562"/>
              <a:gd name="connsiteY175" fmla="*/ 243403 h 1605023"/>
              <a:gd name="connsiteX176" fmla="*/ 2367433 w 10680562"/>
              <a:gd name="connsiteY176" fmla="*/ 241858 h 1605023"/>
              <a:gd name="connsiteX177" fmla="*/ 2385231 w 10680562"/>
              <a:gd name="connsiteY177" fmla="*/ 244873 h 1605023"/>
              <a:gd name="connsiteX178" fmla="*/ 2402059 w 10680562"/>
              <a:gd name="connsiteY178" fmla="*/ 253223 h 1605023"/>
              <a:gd name="connsiteX179" fmla="*/ 2719020 w 10680562"/>
              <a:gd name="connsiteY179" fmla="*/ 235271 h 1605023"/>
              <a:gd name="connsiteX180" fmla="*/ 2877308 w 10680562"/>
              <a:gd name="connsiteY180" fmla="*/ 208630 h 1605023"/>
              <a:gd name="connsiteX181" fmla="*/ 3051375 w 10680562"/>
              <a:gd name="connsiteY181" fmla="*/ 154110 h 1605023"/>
              <a:gd name="connsiteX182" fmla="*/ 3104837 w 10680562"/>
              <a:gd name="connsiteY182" fmla="*/ 135199 h 1605023"/>
              <a:gd name="connsiteX183" fmla="*/ 3159836 w 10680562"/>
              <a:gd name="connsiteY183" fmla="*/ 142694 h 1605023"/>
              <a:gd name="connsiteX184" fmla="*/ 3177510 w 10680562"/>
              <a:gd name="connsiteY184" fmla="*/ 130186 h 1605023"/>
              <a:gd name="connsiteX185" fmla="*/ 3180470 w 10680562"/>
              <a:gd name="connsiteY185" fmla="*/ 127764 h 1605023"/>
              <a:gd name="connsiteX186" fmla="*/ 3194216 w 10680562"/>
              <a:gd name="connsiteY186" fmla="*/ 123837 h 1605023"/>
              <a:gd name="connsiteX187" fmla="*/ 3214710 w 10680562"/>
              <a:gd name="connsiteY187" fmla="*/ 104451 h 1605023"/>
              <a:gd name="connsiteX188" fmla="*/ 3240671 w 10680562"/>
              <a:gd name="connsiteY188" fmla="*/ 99232 h 1605023"/>
              <a:gd name="connsiteX189" fmla="*/ 3366544 w 10680562"/>
              <a:gd name="connsiteY189" fmla="*/ 82506 h 1605023"/>
              <a:gd name="connsiteX190" fmla="*/ 3440424 w 10680562"/>
              <a:gd name="connsiteY190" fmla="*/ 67891 h 1605023"/>
              <a:gd name="connsiteX191" fmla="*/ 3466248 w 10680562"/>
              <a:gd name="connsiteY191" fmla="*/ 55103 h 1605023"/>
              <a:gd name="connsiteX192" fmla="*/ 3503820 w 10680562"/>
              <a:gd name="connsiteY192" fmla="*/ 42110 h 1605023"/>
              <a:gd name="connsiteX193" fmla="*/ 3568389 w 10680562"/>
              <a:gd name="connsiteY193" fmla="*/ 13576 h 1605023"/>
              <a:gd name="connsiteX194" fmla="*/ 3604089 w 10680562"/>
              <a:gd name="connsiteY194" fmla="*/ 6980 h 16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680562" h="1605023">
                <a:moveTo>
                  <a:pt x="3617689" y="0"/>
                </a:moveTo>
                <a:lnTo>
                  <a:pt x="3635901" y="7738"/>
                </a:lnTo>
                <a:cubicBezTo>
                  <a:pt x="3636815" y="-13593"/>
                  <a:pt x="3674070" y="21953"/>
                  <a:pt x="3690891" y="7049"/>
                </a:cubicBezTo>
                <a:cubicBezTo>
                  <a:pt x="3723615" y="8082"/>
                  <a:pt x="3780877" y="7675"/>
                  <a:pt x="3832247" y="13937"/>
                </a:cubicBezTo>
                <a:cubicBezTo>
                  <a:pt x="3878761" y="52737"/>
                  <a:pt x="3960967" y="15082"/>
                  <a:pt x="3999111" y="44624"/>
                </a:cubicBezTo>
                <a:cubicBezTo>
                  <a:pt x="4011661" y="48427"/>
                  <a:pt x="4023440" y="49464"/>
                  <a:pt x="4034676" y="48775"/>
                </a:cubicBezTo>
                <a:lnTo>
                  <a:pt x="4065394" y="42879"/>
                </a:lnTo>
                <a:lnTo>
                  <a:pt x="4072648" y="33262"/>
                </a:lnTo>
                <a:lnTo>
                  <a:pt x="4092232" y="34026"/>
                </a:lnTo>
                <a:lnTo>
                  <a:pt x="4097470" y="32252"/>
                </a:lnTo>
                <a:cubicBezTo>
                  <a:pt x="4107476" y="28819"/>
                  <a:pt x="4117405" y="25741"/>
                  <a:pt x="4127488" y="24056"/>
                </a:cubicBezTo>
                <a:cubicBezTo>
                  <a:pt x="4122379" y="69900"/>
                  <a:pt x="4212421" y="17287"/>
                  <a:pt x="4190803" y="55685"/>
                </a:cubicBezTo>
                <a:cubicBezTo>
                  <a:pt x="4245322" y="54405"/>
                  <a:pt x="4210442" y="91290"/>
                  <a:pt x="4269333" y="54186"/>
                </a:cubicBezTo>
                <a:cubicBezTo>
                  <a:pt x="4360007" y="84494"/>
                  <a:pt x="4405441" y="66275"/>
                  <a:pt x="4481486" y="116915"/>
                </a:cubicBezTo>
                <a:cubicBezTo>
                  <a:pt x="4469366" y="96298"/>
                  <a:pt x="4624978" y="141388"/>
                  <a:pt x="4651418" y="150071"/>
                </a:cubicBezTo>
                <a:lnTo>
                  <a:pt x="4863575" y="175458"/>
                </a:lnTo>
                <a:cubicBezTo>
                  <a:pt x="4867452" y="182323"/>
                  <a:pt x="5007365" y="209256"/>
                  <a:pt x="5013635" y="213928"/>
                </a:cubicBezTo>
                <a:lnTo>
                  <a:pt x="5203044" y="228946"/>
                </a:lnTo>
                <a:lnTo>
                  <a:pt x="5207070" y="235105"/>
                </a:lnTo>
                <a:lnTo>
                  <a:pt x="5224253" y="240320"/>
                </a:lnTo>
                <a:lnTo>
                  <a:pt x="5256736" y="254811"/>
                </a:lnTo>
                <a:lnTo>
                  <a:pt x="5264095" y="253567"/>
                </a:lnTo>
                <a:lnTo>
                  <a:pt x="5315084" y="269264"/>
                </a:lnTo>
                <a:lnTo>
                  <a:pt x="5316393" y="267603"/>
                </a:lnTo>
                <a:cubicBezTo>
                  <a:pt x="5320500" y="264235"/>
                  <a:pt x="5325719" y="262424"/>
                  <a:pt x="5333427" y="263823"/>
                </a:cubicBezTo>
                <a:cubicBezTo>
                  <a:pt x="5330520" y="234164"/>
                  <a:pt x="5341605" y="254143"/>
                  <a:pt x="5364589" y="260882"/>
                </a:cubicBezTo>
                <a:cubicBezTo>
                  <a:pt x="5365199" y="216323"/>
                  <a:pt x="5425089" y="252089"/>
                  <a:pt x="5443973" y="230866"/>
                </a:cubicBezTo>
                <a:cubicBezTo>
                  <a:pt x="5460840" y="236821"/>
                  <a:pt x="5478689" y="242307"/>
                  <a:pt x="5497201" y="247023"/>
                </a:cubicBezTo>
                <a:lnTo>
                  <a:pt x="5508269" y="249256"/>
                </a:lnTo>
                <a:lnTo>
                  <a:pt x="5508636" y="248880"/>
                </a:lnTo>
                <a:cubicBezTo>
                  <a:pt x="5511356" y="248469"/>
                  <a:pt x="5515116" y="248867"/>
                  <a:pt x="5520606" y="250400"/>
                </a:cubicBezTo>
                <a:lnTo>
                  <a:pt x="5528451" y="253330"/>
                </a:lnTo>
                <a:lnTo>
                  <a:pt x="5549923" y="257662"/>
                </a:lnTo>
                <a:lnTo>
                  <a:pt x="5558295" y="256364"/>
                </a:lnTo>
                <a:lnTo>
                  <a:pt x="5664799" y="278924"/>
                </a:lnTo>
                <a:lnTo>
                  <a:pt x="5796160" y="307979"/>
                </a:lnTo>
                <a:lnTo>
                  <a:pt x="5897647" y="339431"/>
                </a:lnTo>
                <a:cubicBezTo>
                  <a:pt x="5894921" y="322560"/>
                  <a:pt x="5962532" y="357207"/>
                  <a:pt x="5978838" y="367970"/>
                </a:cubicBezTo>
                <a:cubicBezTo>
                  <a:pt x="6035145" y="375765"/>
                  <a:pt x="6006578" y="380813"/>
                  <a:pt x="6050367" y="386341"/>
                </a:cubicBezTo>
                <a:cubicBezTo>
                  <a:pt x="6051161" y="391932"/>
                  <a:pt x="6137489" y="380709"/>
                  <a:pt x="6140609" y="385135"/>
                </a:cubicBezTo>
                <a:cubicBezTo>
                  <a:pt x="6205928" y="424013"/>
                  <a:pt x="6248816" y="452185"/>
                  <a:pt x="6302950" y="448183"/>
                </a:cubicBezTo>
                <a:lnTo>
                  <a:pt x="6308533" y="448551"/>
                </a:lnTo>
                <a:lnTo>
                  <a:pt x="6340278" y="468555"/>
                </a:lnTo>
                <a:lnTo>
                  <a:pt x="6341685" y="467587"/>
                </a:lnTo>
                <a:cubicBezTo>
                  <a:pt x="6345560" y="465876"/>
                  <a:pt x="6349786" y="465470"/>
                  <a:pt x="6354862" y="467794"/>
                </a:cubicBezTo>
                <a:cubicBezTo>
                  <a:pt x="6361260" y="446013"/>
                  <a:pt x="6363438" y="462250"/>
                  <a:pt x="6377840" y="471024"/>
                </a:cubicBezTo>
                <a:cubicBezTo>
                  <a:pt x="6390990" y="439154"/>
                  <a:pt x="6423334" y="475084"/>
                  <a:pt x="6442804" y="463091"/>
                </a:cubicBezTo>
                <a:cubicBezTo>
                  <a:pt x="6453090" y="470255"/>
                  <a:pt x="6464204" y="477252"/>
                  <a:pt x="6476009" y="483807"/>
                </a:cubicBezTo>
                <a:lnTo>
                  <a:pt x="6483237" y="487308"/>
                </a:lnTo>
                <a:lnTo>
                  <a:pt x="6483605" y="487102"/>
                </a:lnTo>
                <a:cubicBezTo>
                  <a:pt x="6485654" y="487272"/>
                  <a:pt x="6488212" y="488201"/>
                  <a:pt x="6491673" y="490243"/>
                </a:cubicBezTo>
                <a:lnTo>
                  <a:pt x="6496411" y="493689"/>
                </a:lnTo>
                <a:lnTo>
                  <a:pt x="6510429" y="500479"/>
                </a:lnTo>
                <a:lnTo>
                  <a:pt x="6516750" y="500983"/>
                </a:lnTo>
                <a:cubicBezTo>
                  <a:pt x="6541864" y="496675"/>
                  <a:pt x="6554866" y="452619"/>
                  <a:pt x="6580199" y="483318"/>
                </a:cubicBezTo>
                <a:cubicBezTo>
                  <a:pt x="6622601" y="489571"/>
                  <a:pt x="6654587" y="470617"/>
                  <a:pt x="6690237" y="493051"/>
                </a:cubicBezTo>
                <a:cubicBezTo>
                  <a:pt x="6729957" y="498806"/>
                  <a:pt x="6766252" y="494451"/>
                  <a:pt x="6798356" y="506748"/>
                </a:cubicBezTo>
                <a:cubicBezTo>
                  <a:pt x="6813529" y="501270"/>
                  <a:pt x="6826992" y="500232"/>
                  <a:pt x="6837102" y="513677"/>
                </a:cubicBezTo>
                <a:cubicBezTo>
                  <a:pt x="6874837" y="515764"/>
                  <a:pt x="6887115" y="500833"/>
                  <a:pt x="6907934" y="517339"/>
                </a:cubicBezTo>
                <a:cubicBezTo>
                  <a:pt x="6934086" y="494196"/>
                  <a:pt x="6933260" y="504492"/>
                  <a:pt x="6941474" y="513632"/>
                </a:cubicBezTo>
                <a:lnTo>
                  <a:pt x="6942754" y="514394"/>
                </a:lnTo>
                <a:lnTo>
                  <a:pt x="6946363" y="511066"/>
                </a:lnTo>
                <a:lnTo>
                  <a:pt x="6952592" y="510252"/>
                </a:lnTo>
                <a:lnTo>
                  <a:pt x="6968398" y="513946"/>
                </a:lnTo>
                <a:lnTo>
                  <a:pt x="6974142" y="516310"/>
                </a:lnTo>
                <a:cubicBezTo>
                  <a:pt x="6978173" y="517574"/>
                  <a:pt x="6980948" y="517948"/>
                  <a:pt x="6982971" y="517694"/>
                </a:cubicBezTo>
                <a:lnTo>
                  <a:pt x="6983252" y="517416"/>
                </a:lnTo>
                <a:lnTo>
                  <a:pt x="6991400" y="519321"/>
                </a:lnTo>
                <a:cubicBezTo>
                  <a:pt x="7005004" y="523242"/>
                  <a:pt x="7018100" y="527732"/>
                  <a:pt x="7030460" y="532556"/>
                </a:cubicBezTo>
                <a:cubicBezTo>
                  <a:pt x="7044917" y="516932"/>
                  <a:pt x="7088472" y="545083"/>
                  <a:pt x="7089916" y="511503"/>
                </a:cubicBezTo>
                <a:cubicBezTo>
                  <a:pt x="7106785" y="517039"/>
                  <a:pt x="7114554" y="532321"/>
                  <a:pt x="7113059" y="509904"/>
                </a:cubicBezTo>
                <a:cubicBezTo>
                  <a:pt x="7118735" y="511110"/>
                  <a:pt x="7122641" y="509850"/>
                  <a:pt x="7125755" y="507393"/>
                </a:cubicBezTo>
                <a:lnTo>
                  <a:pt x="7126765" y="506166"/>
                </a:lnTo>
                <a:lnTo>
                  <a:pt x="7164175" y="519011"/>
                </a:lnTo>
                <a:lnTo>
                  <a:pt x="7169654" y="518219"/>
                </a:lnTo>
                <a:lnTo>
                  <a:pt x="7193386" y="529788"/>
                </a:lnTo>
                <a:lnTo>
                  <a:pt x="7205997" y="534060"/>
                </a:lnTo>
                <a:lnTo>
                  <a:pt x="7208842" y="538783"/>
                </a:lnTo>
                <a:cubicBezTo>
                  <a:pt x="7212314" y="541931"/>
                  <a:pt x="7217803" y="543928"/>
                  <a:pt x="7227817" y="543304"/>
                </a:cubicBezTo>
                <a:lnTo>
                  <a:pt x="7230267" y="542497"/>
                </a:lnTo>
                <a:lnTo>
                  <a:pt x="7244913" y="551160"/>
                </a:lnTo>
                <a:cubicBezTo>
                  <a:pt x="7249453" y="554807"/>
                  <a:pt x="7253253" y="559130"/>
                  <a:pt x="7255970" y="564383"/>
                </a:cubicBezTo>
                <a:cubicBezTo>
                  <a:pt x="7315146" y="548103"/>
                  <a:pt x="7361553" y="579076"/>
                  <a:pt x="7421156" y="584155"/>
                </a:cubicBezTo>
                <a:cubicBezTo>
                  <a:pt x="7465612" y="613750"/>
                  <a:pt x="7546249" y="613142"/>
                  <a:pt x="7553166" y="653085"/>
                </a:cubicBezTo>
                <a:cubicBezTo>
                  <a:pt x="7562552" y="609214"/>
                  <a:pt x="7673998" y="724531"/>
                  <a:pt x="7643092" y="662482"/>
                </a:cubicBezTo>
                <a:lnTo>
                  <a:pt x="7896429" y="689054"/>
                </a:lnTo>
                <a:cubicBezTo>
                  <a:pt x="7940867" y="662251"/>
                  <a:pt x="7914217" y="689365"/>
                  <a:pt x="7954620" y="689481"/>
                </a:cubicBezTo>
                <a:cubicBezTo>
                  <a:pt x="7937756" y="718000"/>
                  <a:pt x="8005608" y="680123"/>
                  <a:pt x="8000803" y="714583"/>
                </a:cubicBezTo>
                <a:cubicBezTo>
                  <a:pt x="8008309" y="713512"/>
                  <a:pt x="8015731" y="711389"/>
                  <a:pt x="8023216" y="709000"/>
                </a:cubicBezTo>
                <a:lnTo>
                  <a:pt x="8027136" y="707765"/>
                </a:lnTo>
                <a:lnTo>
                  <a:pt x="8041622" y="708731"/>
                </a:lnTo>
                <a:lnTo>
                  <a:pt x="8047209" y="701624"/>
                </a:lnTo>
                <a:lnTo>
                  <a:pt x="8070088" y="697789"/>
                </a:lnTo>
                <a:cubicBezTo>
                  <a:pt x="8078424" y="697492"/>
                  <a:pt x="8087123" y="698508"/>
                  <a:pt x="8096332" y="701624"/>
                </a:cubicBezTo>
                <a:cubicBezTo>
                  <a:pt x="8123926" y="724651"/>
                  <a:pt x="8185640" y="697894"/>
                  <a:pt x="8219225" y="728069"/>
                </a:cubicBezTo>
                <a:cubicBezTo>
                  <a:pt x="8232644" y="736562"/>
                  <a:pt x="8280723" y="746936"/>
                  <a:pt x="8293793" y="739200"/>
                </a:cubicBezTo>
                <a:cubicBezTo>
                  <a:pt x="8304636" y="739365"/>
                  <a:pt x="8314843" y="745516"/>
                  <a:pt x="8323753" y="736063"/>
                </a:cubicBezTo>
                <a:cubicBezTo>
                  <a:pt x="8336542" y="725164"/>
                  <a:pt x="8363344" y="752699"/>
                  <a:pt x="8364496" y="736635"/>
                </a:cubicBezTo>
                <a:cubicBezTo>
                  <a:pt x="8383724" y="755702"/>
                  <a:pt x="8414211" y="733717"/>
                  <a:pt x="8437662" y="731942"/>
                </a:cubicBezTo>
                <a:cubicBezTo>
                  <a:pt x="8451685" y="749699"/>
                  <a:pt x="8487061" y="728469"/>
                  <a:pt x="8533764" y="735554"/>
                </a:cubicBezTo>
                <a:cubicBezTo>
                  <a:pt x="8548878" y="755832"/>
                  <a:pt x="8565301" y="740114"/>
                  <a:pt x="8596769" y="769632"/>
                </a:cubicBezTo>
                <a:cubicBezTo>
                  <a:pt x="8598880" y="767829"/>
                  <a:pt x="8601326" y="766261"/>
                  <a:pt x="8604035" y="764982"/>
                </a:cubicBezTo>
                <a:cubicBezTo>
                  <a:pt x="8619777" y="757551"/>
                  <a:pt x="8640772" y="761213"/>
                  <a:pt x="8650929" y="773164"/>
                </a:cubicBezTo>
                <a:cubicBezTo>
                  <a:pt x="8702615" y="814545"/>
                  <a:pt x="8757170" y="823762"/>
                  <a:pt x="8806497" y="839707"/>
                </a:cubicBezTo>
                <a:cubicBezTo>
                  <a:pt x="8863157" y="854381"/>
                  <a:pt x="8833749" y="812347"/>
                  <a:pt x="8898377" y="854651"/>
                </a:cubicBezTo>
                <a:cubicBezTo>
                  <a:pt x="8909161" y="844048"/>
                  <a:pt x="8918437" y="845186"/>
                  <a:pt x="8932389" y="853846"/>
                </a:cubicBezTo>
                <a:cubicBezTo>
                  <a:pt x="8960146" y="860074"/>
                  <a:pt x="8965550" y="829338"/>
                  <a:pt x="8989288" y="852877"/>
                </a:cubicBezTo>
                <a:cubicBezTo>
                  <a:pt x="8988278" y="835633"/>
                  <a:pt x="9043995" y="856467"/>
                  <a:pt x="9035275" y="837110"/>
                </a:cubicBezTo>
                <a:cubicBezTo>
                  <a:pt x="9060165" y="838647"/>
                  <a:pt x="9108456" y="858499"/>
                  <a:pt x="9138626" y="862106"/>
                </a:cubicBezTo>
                <a:cubicBezTo>
                  <a:pt x="9165080" y="876547"/>
                  <a:pt x="9174888" y="860404"/>
                  <a:pt x="9216298" y="858754"/>
                </a:cubicBezTo>
                <a:cubicBezTo>
                  <a:pt x="9230418" y="871192"/>
                  <a:pt x="9244774" y="868822"/>
                  <a:pt x="9259941" y="861843"/>
                </a:cubicBezTo>
                <a:cubicBezTo>
                  <a:pt x="9297647" y="870955"/>
                  <a:pt x="9335980" y="863006"/>
                  <a:pt x="9380407" y="864825"/>
                </a:cubicBezTo>
                <a:cubicBezTo>
                  <a:pt x="9424338" y="883720"/>
                  <a:pt x="9443322" y="899138"/>
                  <a:pt x="9490772" y="901190"/>
                </a:cubicBezTo>
                <a:cubicBezTo>
                  <a:pt x="9530410" y="933396"/>
                  <a:pt x="9546422" y="928548"/>
                  <a:pt x="9584982" y="935980"/>
                </a:cubicBezTo>
                <a:cubicBezTo>
                  <a:pt x="9629819" y="954269"/>
                  <a:pt x="9718219" y="986435"/>
                  <a:pt x="9759797" y="1010923"/>
                </a:cubicBezTo>
                <a:cubicBezTo>
                  <a:pt x="9801376" y="1035410"/>
                  <a:pt x="9804503" y="1066293"/>
                  <a:pt x="9834455" y="1082908"/>
                </a:cubicBezTo>
                <a:cubicBezTo>
                  <a:pt x="9864406" y="1099522"/>
                  <a:pt x="9891608" y="1087791"/>
                  <a:pt x="9939504" y="1110614"/>
                </a:cubicBezTo>
                <a:cubicBezTo>
                  <a:pt x="9978150" y="1098522"/>
                  <a:pt x="10034187" y="1166580"/>
                  <a:pt x="10077001" y="1160906"/>
                </a:cubicBezTo>
                <a:cubicBezTo>
                  <a:pt x="10084861" y="1190721"/>
                  <a:pt x="10164307" y="1234884"/>
                  <a:pt x="10178431" y="1244920"/>
                </a:cubicBezTo>
                <a:cubicBezTo>
                  <a:pt x="10210316" y="1215779"/>
                  <a:pt x="10222273" y="1306394"/>
                  <a:pt x="10248658" y="1309335"/>
                </a:cubicBezTo>
                <a:lnTo>
                  <a:pt x="10414709" y="1388645"/>
                </a:lnTo>
                <a:cubicBezTo>
                  <a:pt x="10473963" y="1440373"/>
                  <a:pt x="10538857" y="1454568"/>
                  <a:pt x="10592469" y="1543828"/>
                </a:cubicBezTo>
                <a:cubicBezTo>
                  <a:pt x="10651538" y="1531501"/>
                  <a:pt x="10660082" y="1567462"/>
                  <a:pt x="10674941" y="1597388"/>
                </a:cubicBezTo>
                <a:lnTo>
                  <a:pt x="10680562" y="1605023"/>
                </a:lnTo>
                <a:lnTo>
                  <a:pt x="0" y="1605023"/>
                </a:lnTo>
                <a:lnTo>
                  <a:pt x="0" y="415048"/>
                </a:lnTo>
                <a:lnTo>
                  <a:pt x="9656" y="416044"/>
                </a:lnTo>
                <a:cubicBezTo>
                  <a:pt x="66794" y="420549"/>
                  <a:pt x="142962" y="423374"/>
                  <a:pt x="179196" y="423071"/>
                </a:cubicBezTo>
                <a:cubicBezTo>
                  <a:pt x="202136" y="418172"/>
                  <a:pt x="228694" y="392385"/>
                  <a:pt x="250912" y="408617"/>
                </a:cubicBezTo>
                <a:cubicBezTo>
                  <a:pt x="249389" y="392611"/>
                  <a:pt x="280512" y="416185"/>
                  <a:pt x="291375" y="403710"/>
                </a:cubicBezTo>
                <a:cubicBezTo>
                  <a:pt x="298635" y="393187"/>
                  <a:pt x="309770" y="397885"/>
                  <a:pt x="320542" y="396592"/>
                </a:cubicBezTo>
                <a:cubicBezTo>
                  <a:pt x="359051" y="397166"/>
                  <a:pt x="484339" y="405354"/>
                  <a:pt x="522426" y="407158"/>
                </a:cubicBezTo>
                <a:cubicBezTo>
                  <a:pt x="532069" y="408997"/>
                  <a:pt x="540856" y="408831"/>
                  <a:pt x="549068" y="407418"/>
                </a:cubicBezTo>
                <a:lnTo>
                  <a:pt x="571100" y="400562"/>
                </a:lnTo>
                <a:lnTo>
                  <a:pt x="575457" y="392801"/>
                </a:lnTo>
                <a:lnTo>
                  <a:pt x="589968" y="391807"/>
                </a:lnTo>
                <a:lnTo>
                  <a:pt x="593649" y="390062"/>
                </a:lnTo>
                <a:cubicBezTo>
                  <a:pt x="600667" y="386700"/>
                  <a:pt x="607669" y="383607"/>
                  <a:pt x="614928" y="381544"/>
                </a:cubicBezTo>
                <a:cubicBezTo>
                  <a:pt x="636416" y="381988"/>
                  <a:pt x="667253" y="387671"/>
                  <a:pt x="722580" y="392722"/>
                </a:cubicBezTo>
                <a:cubicBezTo>
                  <a:pt x="792539" y="408114"/>
                  <a:pt x="885615" y="380106"/>
                  <a:pt x="946884" y="411854"/>
                </a:cubicBezTo>
                <a:cubicBezTo>
                  <a:pt x="1028270" y="418469"/>
                  <a:pt x="1139077" y="429433"/>
                  <a:pt x="1210905" y="432414"/>
                </a:cubicBezTo>
                <a:cubicBezTo>
                  <a:pt x="1270803" y="429423"/>
                  <a:pt x="1321921" y="453757"/>
                  <a:pt x="1377854" y="429745"/>
                </a:cubicBezTo>
                <a:cubicBezTo>
                  <a:pt x="1381419" y="434564"/>
                  <a:pt x="1385901" y="438319"/>
                  <a:pt x="1391004" y="441307"/>
                </a:cubicBezTo>
                <a:lnTo>
                  <a:pt x="1406953" y="447889"/>
                </a:lnTo>
                <a:lnTo>
                  <a:pt x="1409246" y="446765"/>
                </a:lnTo>
                <a:cubicBezTo>
                  <a:pt x="1419066" y="444804"/>
                  <a:pt x="1424836" y="446037"/>
                  <a:pt x="1428800" y="448677"/>
                </a:cubicBezTo>
                <a:lnTo>
                  <a:pt x="1432402" y="452956"/>
                </a:lnTo>
                <a:lnTo>
                  <a:pt x="1606578" y="430870"/>
                </a:lnTo>
                <a:cubicBezTo>
                  <a:pt x="1619625" y="433971"/>
                  <a:pt x="1633347" y="436643"/>
                  <a:pt x="1647476" y="438687"/>
                </a:cubicBezTo>
                <a:lnTo>
                  <a:pt x="1655866" y="439472"/>
                </a:lnTo>
                <a:lnTo>
                  <a:pt x="1656096" y="439162"/>
                </a:lnTo>
                <a:cubicBezTo>
                  <a:pt x="1658061" y="438636"/>
                  <a:pt x="1666503" y="411823"/>
                  <a:pt x="1670708" y="412530"/>
                </a:cubicBezTo>
                <a:lnTo>
                  <a:pt x="1737953" y="399496"/>
                </a:lnTo>
                <a:lnTo>
                  <a:pt x="1848192" y="376032"/>
                </a:lnTo>
                <a:cubicBezTo>
                  <a:pt x="1887458" y="368088"/>
                  <a:pt x="1918458" y="352092"/>
                  <a:pt x="1954077" y="352621"/>
                </a:cubicBezTo>
                <a:cubicBezTo>
                  <a:pt x="1965180" y="342609"/>
                  <a:pt x="1976973" y="337201"/>
                  <a:pt x="1993047" y="346068"/>
                </a:cubicBezTo>
                <a:cubicBezTo>
                  <a:pt x="2028636" y="335449"/>
                  <a:pt x="2032293" y="317806"/>
                  <a:pt x="2059719" y="325903"/>
                </a:cubicBezTo>
                <a:cubicBezTo>
                  <a:pt x="2071905" y="296194"/>
                  <a:pt x="2076373" y="305826"/>
                  <a:pt x="2088528" y="311409"/>
                </a:cubicBezTo>
                <a:lnTo>
                  <a:pt x="2090087" y="311676"/>
                </a:lnTo>
                <a:lnTo>
                  <a:pt x="2091700" y="307455"/>
                </a:lnTo>
                <a:lnTo>
                  <a:pt x="2096989" y="304649"/>
                </a:lnTo>
                <a:lnTo>
                  <a:pt x="2113325" y="302764"/>
                </a:lnTo>
                <a:lnTo>
                  <a:pt x="2119780" y="303007"/>
                </a:lnTo>
                <a:cubicBezTo>
                  <a:pt x="2124111" y="302819"/>
                  <a:pt x="2126840" y="302239"/>
                  <a:pt x="2128562" y="301336"/>
                </a:cubicBezTo>
                <a:cubicBezTo>
                  <a:pt x="2128600" y="301221"/>
                  <a:pt x="2128640" y="301107"/>
                  <a:pt x="2128679" y="300991"/>
                </a:cubicBezTo>
                <a:lnTo>
                  <a:pt x="2179558" y="299095"/>
                </a:lnTo>
                <a:cubicBezTo>
                  <a:pt x="2184857" y="280099"/>
                  <a:pt x="2238998" y="291238"/>
                  <a:pt x="2223277" y="260239"/>
                </a:cubicBezTo>
                <a:cubicBezTo>
                  <a:pt x="2241523" y="259676"/>
                  <a:pt x="2256386" y="270988"/>
                  <a:pt x="2243644" y="251110"/>
                </a:cubicBezTo>
                <a:cubicBezTo>
                  <a:pt x="2249448" y="250324"/>
                  <a:pt x="2252382" y="247882"/>
                  <a:pt x="2253986" y="244616"/>
                </a:cubicBezTo>
                <a:lnTo>
                  <a:pt x="2254285" y="243167"/>
                </a:lnTo>
                <a:lnTo>
                  <a:pt x="2295037" y="242433"/>
                </a:lnTo>
                <a:lnTo>
                  <a:pt x="2299648" y="239896"/>
                </a:lnTo>
                <a:lnTo>
                  <a:pt x="2327237" y="242539"/>
                </a:lnTo>
                <a:lnTo>
                  <a:pt x="2340943" y="242239"/>
                </a:lnTo>
                <a:lnTo>
                  <a:pt x="2345943" y="245589"/>
                </a:lnTo>
                <a:cubicBezTo>
                  <a:pt x="2350718" y="247299"/>
                  <a:pt x="2356754" y="247292"/>
                  <a:pt x="2365602" y="243403"/>
                </a:cubicBezTo>
                <a:lnTo>
                  <a:pt x="2367433" y="241858"/>
                </a:lnTo>
                <a:lnTo>
                  <a:pt x="2385231" y="244873"/>
                </a:lnTo>
                <a:cubicBezTo>
                  <a:pt x="2391237" y="246682"/>
                  <a:pt x="2396907" y="249351"/>
                  <a:pt x="2402059" y="253223"/>
                </a:cubicBezTo>
                <a:cubicBezTo>
                  <a:pt x="2457690" y="251623"/>
                  <a:pt x="2639813" y="242704"/>
                  <a:pt x="2719020" y="235271"/>
                </a:cubicBezTo>
                <a:cubicBezTo>
                  <a:pt x="2762954" y="229515"/>
                  <a:pt x="2821915" y="222156"/>
                  <a:pt x="2877308" y="208630"/>
                </a:cubicBezTo>
                <a:cubicBezTo>
                  <a:pt x="2947949" y="226393"/>
                  <a:pt x="2978035" y="153757"/>
                  <a:pt x="3051375" y="154110"/>
                </a:cubicBezTo>
                <a:cubicBezTo>
                  <a:pt x="3078434" y="115011"/>
                  <a:pt x="3067807" y="148493"/>
                  <a:pt x="3104837" y="135199"/>
                </a:cubicBezTo>
                <a:cubicBezTo>
                  <a:pt x="3103880" y="166713"/>
                  <a:pt x="3146743" y="109780"/>
                  <a:pt x="3159836" y="142694"/>
                </a:cubicBezTo>
                <a:cubicBezTo>
                  <a:pt x="3166160" y="139232"/>
                  <a:pt x="3171875" y="134841"/>
                  <a:pt x="3177510" y="130186"/>
                </a:cubicBezTo>
                <a:lnTo>
                  <a:pt x="3180470" y="127764"/>
                </a:lnTo>
                <a:lnTo>
                  <a:pt x="3194216" y="123837"/>
                </a:lnTo>
                <a:lnTo>
                  <a:pt x="3214710" y="104451"/>
                </a:lnTo>
                <a:cubicBezTo>
                  <a:pt x="3222186" y="101416"/>
                  <a:pt x="3230663" y="99454"/>
                  <a:pt x="3240671" y="99232"/>
                </a:cubicBezTo>
                <a:cubicBezTo>
                  <a:pt x="3277606" y="111009"/>
                  <a:pt x="3320498" y="66221"/>
                  <a:pt x="3366544" y="82506"/>
                </a:cubicBezTo>
                <a:cubicBezTo>
                  <a:pt x="3383134" y="85775"/>
                  <a:pt x="3432393" y="79256"/>
                  <a:pt x="3440424" y="67891"/>
                </a:cubicBezTo>
                <a:cubicBezTo>
                  <a:pt x="3450432" y="64444"/>
                  <a:pt x="3462892" y="66649"/>
                  <a:pt x="3466248" y="55103"/>
                </a:cubicBezTo>
                <a:cubicBezTo>
                  <a:pt x="3472418" y="40954"/>
                  <a:pt x="3510917" y="57092"/>
                  <a:pt x="3503820" y="42110"/>
                </a:cubicBezTo>
                <a:lnTo>
                  <a:pt x="3568389" y="13576"/>
                </a:lnTo>
                <a:cubicBezTo>
                  <a:pt x="3579310" y="19318"/>
                  <a:pt x="3590168" y="14433"/>
                  <a:pt x="3604089" y="698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braz 5">
            <a:extLst>
              <a:ext uri="{FF2B5EF4-FFF2-40B4-BE49-F238E27FC236}">
                <a16:creationId xmlns:a16="http://schemas.microsoft.com/office/drawing/2014/main" id="{E74341F1-98BD-BE70-61B9-F2E2B1759F37}"/>
              </a:ext>
            </a:extLst>
          </p:cNvPr>
          <p:cNvPicPr>
            <a:picLocks noChangeAspect="1"/>
          </p:cNvPicPr>
          <p:nvPr/>
        </p:nvPicPr>
        <p:blipFill>
          <a:blip r:embed="rId3"/>
          <a:stretch>
            <a:fillRect/>
          </a:stretch>
        </p:blipFill>
        <p:spPr>
          <a:xfrm>
            <a:off x="8093123" y="969500"/>
            <a:ext cx="3521122" cy="4907486"/>
          </a:xfrm>
          <a:prstGeom prst="rect">
            <a:avLst/>
          </a:prstGeom>
        </p:spPr>
      </p:pic>
    </p:spTree>
    <p:extLst>
      <p:ext uri="{BB962C8B-B14F-4D97-AF65-F5344CB8AC3E}">
        <p14:creationId xmlns:p14="http://schemas.microsoft.com/office/powerpoint/2010/main" val="1135673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6BFBCF-93F4-04D1-42B8-93EB57E02AB9}"/>
            </a:ext>
          </a:extLst>
        </p:cNvPr>
        <p:cNvGrpSpPr/>
        <p:nvPr/>
      </p:nvGrpSpPr>
      <p:grpSpPr>
        <a:xfrm>
          <a:off x="0" y="0"/>
          <a:ext cx="0" cy="0"/>
          <a:chOff x="0" y="0"/>
          <a:chExt cx="0" cy="0"/>
        </a:xfrm>
      </p:grpSpPr>
      <p:sp useBgFill="1">
        <p:nvSpPr>
          <p:cNvPr id="25" name="Rectangle 20">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Obraz 6" descr="Obraz zawierający tekst, diagram, design, ilustracja&#10;&#10;Zawartość wygenerowana przez AI może być niepoprawna.">
            <a:extLst>
              <a:ext uri="{FF2B5EF4-FFF2-40B4-BE49-F238E27FC236}">
                <a16:creationId xmlns:a16="http://schemas.microsoft.com/office/drawing/2014/main" id="{22DCB743-C45C-DDE6-4F81-320E0BB2FE6E}"/>
              </a:ext>
            </a:extLst>
          </p:cNvPr>
          <p:cNvPicPr>
            <a:picLocks noChangeAspect="1"/>
          </p:cNvPicPr>
          <p:nvPr/>
        </p:nvPicPr>
        <p:blipFill>
          <a:blip r:embed="rId3"/>
          <a:stretch>
            <a:fillRect/>
          </a:stretch>
        </p:blipFill>
        <p:spPr>
          <a:xfrm>
            <a:off x="3753674" y="1070723"/>
            <a:ext cx="8297922" cy="5497372"/>
          </a:xfrm>
          <a:prstGeom prst="rect">
            <a:avLst/>
          </a:prstGeom>
        </p:spPr>
      </p:pic>
      <p:sp>
        <p:nvSpPr>
          <p:cNvPr id="26" name="Freeform: Shape 22">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ytuł 1">
            <a:extLst>
              <a:ext uri="{FF2B5EF4-FFF2-40B4-BE49-F238E27FC236}">
                <a16:creationId xmlns:a16="http://schemas.microsoft.com/office/drawing/2014/main" id="{55090592-F2E0-CCBA-669D-6E00D6B283AA}"/>
              </a:ext>
            </a:extLst>
          </p:cNvPr>
          <p:cNvSpPr>
            <a:spLocks noGrp="1"/>
          </p:cNvSpPr>
          <p:nvPr>
            <p:ph type="title"/>
          </p:nvPr>
        </p:nvSpPr>
        <p:spPr>
          <a:xfrm>
            <a:off x="838200" y="609600"/>
            <a:ext cx="3739341" cy="1330839"/>
          </a:xfrm>
        </p:spPr>
        <p:txBody>
          <a:bodyPr>
            <a:normAutofit/>
          </a:bodyPr>
          <a:lstStyle/>
          <a:p>
            <a:r>
              <a:rPr lang="pl-PL" dirty="0"/>
              <a:t>Metoda XRF</a:t>
            </a:r>
          </a:p>
        </p:txBody>
      </p:sp>
      <p:sp>
        <p:nvSpPr>
          <p:cNvPr id="3" name="Symbol zastępczy zawartości 2">
            <a:extLst>
              <a:ext uri="{FF2B5EF4-FFF2-40B4-BE49-F238E27FC236}">
                <a16:creationId xmlns:a16="http://schemas.microsoft.com/office/drawing/2014/main" id="{F61E93D9-436E-95C4-0266-3B93CC2A1B13}"/>
              </a:ext>
            </a:extLst>
          </p:cNvPr>
          <p:cNvSpPr>
            <a:spLocks noGrp="1"/>
          </p:cNvSpPr>
          <p:nvPr>
            <p:ph idx="1"/>
          </p:nvPr>
        </p:nvSpPr>
        <p:spPr>
          <a:xfrm>
            <a:off x="691007" y="1654058"/>
            <a:ext cx="4033725" cy="5200419"/>
          </a:xfrm>
        </p:spPr>
        <p:txBody>
          <a:bodyPr>
            <a:normAutofit/>
          </a:bodyPr>
          <a:lstStyle/>
          <a:p>
            <a:pPr marL="0" indent="0">
              <a:buNone/>
            </a:pPr>
            <a:r>
              <a:rPr lang="pl-PL" sz="2400" dirty="0"/>
              <a:t>Niestety na pozyskane piki </a:t>
            </a:r>
            <a:br>
              <a:rPr lang="pl-PL" sz="2400" dirty="0"/>
            </a:br>
            <a:r>
              <a:rPr lang="pl-PL" sz="2400" dirty="0"/>
              <a:t>podczas dyfrakcji </a:t>
            </a:r>
            <a:br>
              <a:rPr lang="pl-PL" sz="2400" dirty="0"/>
            </a:br>
            <a:r>
              <a:rPr lang="pl-PL" sz="2400" dirty="0"/>
              <a:t>rentgenowskiej składają się </a:t>
            </a:r>
            <a:br>
              <a:rPr lang="pl-PL" sz="2400" dirty="0"/>
            </a:br>
            <a:r>
              <a:rPr lang="pl-PL" sz="2400" dirty="0"/>
              <a:t>również inne parametry: </a:t>
            </a:r>
          </a:p>
          <a:p>
            <a:r>
              <a:rPr lang="pl-PL" sz="2400" dirty="0"/>
              <a:t>wpływ aparaturowy,</a:t>
            </a:r>
          </a:p>
          <a:p>
            <a:r>
              <a:rPr lang="pl-PL" sz="2400" dirty="0"/>
              <a:t>błędy nakładania się warstw,</a:t>
            </a:r>
          </a:p>
          <a:p>
            <a:r>
              <a:rPr lang="pl-PL" sz="2400" dirty="0"/>
              <a:t>tło.</a:t>
            </a:r>
          </a:p>
          <a:p>
            <a:pPr marL="0" indent="0">
              <a:buNone/>
            </a:pPr>
            <a:r>
              <a:rPr lang="pl-PL" sz="2400" dirty="0"/>
              <a:t>Z tego względu konieczne jest wprowadzenie modyfikacji by </a:t>
            </a:r>
            <a:br>
              <a:rPr lang="pl-PL" sz="2400" dirty="0"/>
            </a:br>
            <a:r>
              <a:rPr lang="pl-PL" sz="2400" dirty="0"/>
              <a:t>poprawnie odczytać rozmiar</a:t>
            </a:r>
            <a:br>
              <a:rPr lang="pl-PL" sz="2400" dirty="0"/>
            </a:br>
            <a:r>
              <a:rPr lang="pl-PL" sz="2400" dirty="0"/>
              <a:t>krystalitu.</a:t>
            </a:r>
          </a:p>
        </p:txBody>
      </p:sp>
    </p:spTree>
    <p:extLst>
      <p:ext uri="{BB962C8B-B14F-4D97-AF65-F5344CB8AC3E}">
        <p14:creationId xmlns:p14="http://schemas.microsoft.com/office/powerpoint/2010/main" val="3856787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0FC77C-11D3-BC85-717B-60166379840F}"/>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627FF48C-AF46-4D52-998F-ED0BDDEEF2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9000"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ytuł 1">
            <a:extLst>
              <a:ext uri="{FF2B5EF4-FFF2-40B4-BE49-F238E27FC236}">
                <a16:creationId xmlns:a16="http://schemas.microsoft.com/office/drawing/2014/main" id="{96E29B6A-BDD9-5F81-D61A-A926482E9348}"/>
              </a:ext>
            </a:extLst>
          </p:cNvPr>
          <p:cNvSpPr>
            <a:spLocks noGrp="1"/>
          </p:cNvSpPr>
          <p:nvPr>
            <p:ph type="title"/>
          </p:nvPr>
        </p:nvSpPr>
        <p:spPr>
          <a:xfrm>
            <a:off x="568517" y="609599"/>
            <a:ext cx="5338194" cy="1322888"/>
          </a:xfrm>
        </p:spPr>
        <p:txBody>
          <a:bodyPr>
            <a:normAutofit/>
          </a:bodyPr>
          <a:lstStyle/>
          <a:p>
            <a:r>
              <a:rPr lang="pl-PL" sz="4000" dirty="0"/>
              <a:t>Określenie szerokości</a:t>
            </a:r>
            <a:br>
              <a:rPr lang="pl-PL" sz="4000" dirty="0"/>
            </a:br>
            <a:r>
              <a:rPr lang="pl-PL" sz="4000" dirty="0"/>
              <a:t>połówkowej FWHM</a:t>
            </a:r>
          </a:p>
        </p:txBody>
      </p:sp>
      <p:sp>
        <p:nvSpPr>
          <p:cNvPr id="3" name="Symbol zastępczy zawartości 2">
            <a:extLst>
              <a:ext uri="{FF2B5EF4-FFF2-40B4-BE49-F238E27FC236}">
                <a16:creationId xmlns:a16="http://schemas.microsoft.com/office/drawing/2014/main" id="{25282670-4AF3-D1B0-2ADC-C888D5B0E174}"/>
              </a:ext>
            </a:extLst>
          </p:cNvPr>
          <p:cNvSpPr>
            <a:spLocks noGrp="1"/>
          </p:cNvSpPr>
          <p:nvPr>
            <p:ph idx="1"/>
          </p:nvPr>
        </p:nvSpPr>
        <p:spPr>
          <a:xfrm>
            <a:off x="919036" y="2336421"/>
            <a:ext cx="10353927" cy="4221939"/>
          </a:xfrm>
        </p:spPr>
        <p:txBody>
          <a:bodyPr>
            <a:normAutofit/>
          </a:bodyPr>
          <a:lstStyle/>
          <a:p>
            <a:pPr marL="0" indent="0">
              <a:buNone/>
            </a:pPr>
            <a:r>
              <a:rPr lang="pl-PL" dirty="0"/>
              <a:t>Pierwszym krokiem w obliczeniach rozmiaru krystalitów metodą XRD jest określenie prawidłowej wartości FWHM (</a:t>
            </a:r>
            <a:r>
              <a:rPr lang="pl-PL" dirty="0" err="1"/>
              <a:t>full</a:t>
            </a:r>
            <a:r>
              <a:rPr lang="pl-PL" dirty="0"/>
              <a:t> </a:t>
            </a:r>
            <a:r>
              <a:rPr lang="pl-PL" dirty="0" err="1"/>
              <a:t>width</a:t>
            </a:r>
            <a:r>
              <a:rPr lang="pl-PL" dirty="0"/>
              <a:t> </a:t>
            </a:r>
            <a:r>
              <a:rPr lang="pl-PL" dirty="0" err="1"/>
              <a:t>at</a:t>
            </a:r>
            <a:r>
              <a:rPr lang="pl-PL" dirty="0"/>
              <a:t> half maximum) lub IB (</a:t>
            </a:r>
            <a:r>
              <a:rPr lang="pl-PL" dirty="0" err="1"/>
              <a:t>integral</a:t>
            </a:r>
            <a:r>
              <a:rPr lang="pl-PL" dirty="0"/>
              <a:t> </a:t>
            </a:r>
            <a:r>
              <a:rPr lang="pl-PL" dirty="0" err="1"/>
              <a:t>breadth</a:t>
            </a:r>
            <a:r>
              <a:rPr lang="pl-PL" dirty="0"/>
              <a:t>). Analogicznie wykonujemy pomiar FWHM urządzenia z by uzyskać </a:t>
            </a:r>
            <a:br>
              <a:rPr lang="pl-PL" dirty="0"/>
            </a:br>
            <a:r>
              <a:rPr lang="pl-PL" dirty="0"/>
              <a:t>poprawioną wartość szerokości połówkowej.</a:t>
            </a:r>
          </a:p>
          <a:p>
            <a:pPr marL="0" indent="0">
              <a:buNone/>
            </a:pPr>
            <a:r>
              <a:rPr lang="pl-PL" dirty="0"/>
              <a:t>Do usunięcia efektów aparaturowych </a:t>
            </a:r>
            <a:br>
              <a:rPr lang="pl-PL" dirty="0"/>
            </a:br>
            <a:r>
              <a:rPr lang="pl-PL" dirty="0"/>
              <a:t>i zależnych od rozmiaru często stosuje </a:t>
            </a:r>
            <a:br>
              <a:rPr lang="pl-PL" dirty="0"/>
            </a:br>
            <a:r>
              <a:rPr lang="pl-PL" dirty="0"/>
              <a:t>się profile matematyczne takie jak Lorentza </a:t>
            </a:r>
            <a:br>
              <a:rPr lang="pl-PL" dirty="0"/>
            </a:br>
            <a:r>
              <a:rPr lang="pl-PL" dirty="0"/>
              <a:t>lub Gaussa, przedstawione jako funkcje </a:t>
            </a:r>
            <a:br>
              <a:rPr lang="pl-PL" dirty="0"/>
            </a:br>
            <a:r>
              <a:rPr lang="pl-PL" dirty="0" err="1"/>
              <a:t>Cauchy'ego</a:t>
            </a:r>
            <a:r>
              <a:rPr lang="pl-PL" dirty="0"/>
              <a:t> (</a:t>
            </a:r>
            <a:r>
              <a:rPr lang="pl-PL" dirty="0" err="1"/>
              <a:t>równ</a:t>
            </a:r>
            <a:r>
              <a:rPr lang="pl-PL" dirty="0"/>
              <a:t>. 1) i Gaussa (</a:t>
            </a:r>
            <a:r>
              <a:rPr lang="pl-PL" dirty="0" err="1"/>
              <a:t>równ</a:t>
            </a:r>
            <a:r>
              <a:rPr lang="pl-PL" dirty="0"/>
              <a:t>. 2).</a:t>
            </a:r>
          </a:p>
        </p:txBody>
      </p:sp>
      <p:pic>
        <p:nvPicPr>
          <p:cNvPr id="7" name="Obraz 6" descr="Obraz zawierający tekst, diagram, design, ilustracja&#10;&#10;Zawartość wygenerowana przez AI może być niepoprawna.">
            <a:extLst>
              <a:ext uri="{FF2B5EF4-FFF2-40B4-BE49-F238E27FC236}">
                <a16:creationId xmlns:a16="http://schemas.microsoft.com/office/drawing/2014/main" id="{0395DF72-ADB5-CC90-8E33-1D9E9F4D8D52}"/>
              </a:ext>
            </a:extLst>
          </p:cNvPr>
          <p:cNvPicPr>
            <a:picLocks noChangeAspect="1"/>
          </p:cNvPicPr>
          <p:nvPr/>
        </p:nvPicPr>
        <p:blipFill>
          <a:blip r:embed="rId3"/>
          <a:srcRect r="2187" b="6362"/>
          <a:stretch>
            <a:fillRect/>
          </a:stretch>
        </p:blipFill>
        <p:spPr>
          <a:xfrm>
            <a:off x="8207273" y="4185808"/>
            <a:ext cx="3740887" cy="2372552"/>
          </a:xfrm>
          <a:prstGeom prst="rect">
            <a:avLst/>
          </a:prstGeom>
        </p:spPr>
      </p:pic>
      <p:pic>
        <p:nvPicPr>
          <p:cNvPr id="10" name="Obraz 9">
            <a:extLst>
              <a:ext uri="{FF2B5EF4-FFF2-40B4-BE49-F238E27FC236}">
                <a16:creationId xmlns:a16="http://schemas.microsoft.com/office/drawing/2014/main" id="{544BEA80-8A3C-E778-12A2-D2D5EE95D1DC}"/>
              </a:ext>
            </a:extLst>
          </p:cNvPr>
          <p:cNvPicPr>
            <a:picLocks noChangeAspect="1"/>
          </p:cNvPicPr>
          <p:nvPr/>
        </p:nvPicPr>
        <p:blipFill>
          <a:blip r:embed="rId4"/>
          <a:stretch>
            <a:fillRect/>
          </a:stretch>
        </p:blipFill>
        <p:spPr>
          <a:xfrm>
            <a:off x="5695170" y="738201"/>
            <a:ext cx="6364738" cy="1156260"/>
          </a:xfrm>
          <a:prstGeom prst="rect">
            <a:avLst/>
          </a:prstGeom>
        </p:spPr>
      </p:pic>
    </p:spTree>
    <p:extLst>
      <p:ext uri="{BB962C8B-B14F-4D97-AF65-F5344CB8AC3E}">
        <p14:creationId xmlns:p14="http://schemas.microsoft.com/office/powerpoint/2010/main" val="2827723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A23AD6-04CA-413F-3818-214711C685B6}"/>
            </a:ext>
          </a:extLst>
        </p:cNvPr>
        <p:cNvGrpSpPr/>
        <p:nvPr/>
      </p:nvGrpSpPr>
      <p:grpSpPr>
        <a:xfrm>
          <a:off x="0" y="0"/>
          <a:ext cx="0" cy="0"/>
          <a:chOff x="0" y="0"/>
          <a:chExt cx="0" cy="0"/>
        </a:xfrm>
      </p:grpSpPr>
      <p:sp useBgFill="1">
        <p:nvSpPr>
          <p:cNvPr id="21" name="Rectangle 10">
            <a:extLst>
              <a:ext uri="{FF2B5EF4-FFF2-40B4-BE49-F238E27FC236}">
                <a16:creationId xmlns:a16="http://schemas.microsoft.com/office/drawing/2014/main" id="{5E72F98A-E265-7AC3-1808-EEA6728AA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667345DE-E489-FCC4-04BB-5C9C1C44AB37}"/>
              </a:ext>
            </a:extLst>
          </p:cNvPr>
          <p:cNvSpPr>
            <a:spLocks noGrp="1"/>
          </p:cNvSpPr>
          <p:nvPr>
            <p:ph type="title"/>
          </p:nvPr>
        </p:nvSpPr>
        <p:spPr>
          <a:xfrm>
            <a:off x="859669" y="609600"/>
            <a:ext cx="7782377" cy="1322887"/>
          </a:xfrm>
        </p:spPr>
        <p:txBody>
          <a:bodyPr>
            <a:normAutofit/>
          </a:bodyPr>
          <a:lstStyle/>
          <a:p>
            <a:r>
              <a:rPr lang="pl-PL" dirty="0"/>
              <a:t>Metoda </a:t>
            </a:r>
            <a:r>
              <a:rPr lang="pl-PL" dirty="0" err="1"/>
              <a:t>Williamsona</a:t>
            </a:r>
            <a:r>
              <a:rPr lang="pl-PL" dirty="0"/>
              <a:t>-Halla (W-H)</a:t>
            </a:r>
          </a:p>
        </p:txBody>
      </p:sp>
      <p:sp>
        <p:nvSpPr>
          <p:cNvPr id="22" name="Freeform: Shape 12">
            <a:extLst>
              <a:ext uri="{FF2B5EF4-FFF2-40B4-BE49-F238E27FC236}">
                <a16:creationId xmlns:a16="http://schemas.microsoft.com/office/drawing/2014/main" id="{24462690-2F31-8B42-CBD9-B52956A736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89924" y="2"/>
            <a:ext cx="7602076" cy="470844"/>
          </a:xfrm>
          <a:custGeom>
            <a:avLst/>
            <a:gdLst>
              <a:gd name="connsiteX0" fmla="*/ 9683888 w 9683888"/>
              <a:gd name="connsiteY0" fmla="*/ 0 h 743457"/>
              <a:gd name="connsiteX1" fmla="*/ 0 w 9683888"/>
              <a:gd name="connsiteY1" fmla="*/ 0 h 743457"/>
              <a:gd name="connsiteX2" fmla="*/ 0 w 9683888"/>
              <a:gd name="connsiteY2" fmla="*/ 365878 h 743457"/>
              <a:gd name="connsiteX3" fmla="*/ 11844 w 9683888"/>
              <a:gd name="connsiteY3" fmla="*/ 367909 h 743457"/>
              <a:gd name="connsiteX4" fmla="*/ 106208 w 9683888"/>
              <a:gd name="connsiteY4" fmla="*/ 385974 h 743457"/>
              <a:gd name="connsiteX5" fmla="*/ 183667 w 9683888"/>
              <a:gd name="connsiteY5" fmla="*/ 399162 h 743457"/>
              <a:gd name="connsiteX6" fmla="*/ 292430 w 9683888"/>
              <a:gd name="connsiteY6" fmla="*/ 390408 h 743457"/>
              <a:gd name="connsiteX7" fmla="*/ 386942 w 9683888"/>
              <a:gd name="connsiteY7" fmla="*/ 395582 h 743457"/>
              <a:gd name="connsiteX8" fmla="*/ 485751 w 9683888"/>
              <a:gd name="connsiteY8" fmla="*/ 408404 h 743457"/>
              <a:gd name="connsiteX9" fmla="*/ 604107 w 9683888"/>
              <a:gd name="connsiteY9" fmla="*/ 418647 h 743457"/>
              <a:gd name="connsiteX10" fmla="*/ 694081 w 9683888"/>
              <a:gd name="connsiteY10" fmla="*/ 449524 h 743457"/>
              <a:gd name="connsiteX11" fmla="*/ 762452 w 9683888"/>
              <a:gd name="connsiteY11" fmla="*/ 456090 h 743457"/>
              <a:gd name="connsiteX12" fmla="*/ 987872 w 9683888"/>
              <a:gd name="connsiteY12" fmla="*/ 481862 h 743457"/>
              <a:gd name="connsiteX13" fmla="*/ 1077163 w 9683888"/>
              <a:gd name="connsiteY13" fmla="*/ 524467 h 743457"/>
              <a:gd name="connsiteX14" fmla="*/ 1258716 w 9683888"/>
              <a:gd name="connsiteY14" fmla="*/ 587975 h 743457"/>
              <a:gd name="connsiteX15" fmla="*/ 1298056 w 9683888"/>
              <a:gd name="connsiteY15" fmla="*/ 595413 h 743457"/>
              <a:gd name="connsiteX16" fmla="*/ 1327017 w 9683888"/>
              <a:gd name="connsiteY16" fmla="*/ 617412 h 743457"/>
              <a:gd name="connsiteX17" fmla="*/ 1347909 w 9683888"/>
              <a:gd name="connsiteY17" fmla="*/ 620209 h 743457"/>
              <a:gd name="connsiteX18" fmla="*/ 1421792 w 9683888"/>
              <a:gd name="connsiteY18" fmla="*/ 626139 h 743457"/>
              <a:gd name="connsiteX19" fmla="*/ 1519789 w 9683888"/>
              <a:gd name="connsiteY19" fmla="*/ 645011 h 743457"/>
              <a:gd name="connsiteX20" fmla="*/ 1620886 w 9683888"/>
              <a:gd name="connsiteY20" fmla="*/ 687715 h 743457"/>
              <a:gd name="connsiteX21" fmla="*/ 1676745 w 9683888"/>
              <a:gd name="connsiteY21" fmla="*/ 690130 h 743457"/>
              <a:gd name="connsiteX22" fmla="*/ 1832228 w 9683888"/>
              <a:gd name="connsiteY22" fmla="*/ 690860 h 743457"/>
              <a:gd name="connsiteX23" fmla="*/ 1980464 w 9683888"/>
              <a:gd name="connsiteY23" fmla="*/ 704858 h 743457"/>
              <a:gd name="connsiteX24" fmla="*/ 2051150 w 9683888"/>
              <a:gd name="connsiteY24" fmla="*/ 711187 h 743457"/>
              <a:gd name="connsiteX25" fmla="*/ 2162824 w 9683888"/>
              <a:gd name="connsiteY25" fmla="*/ 709178 h 743457"/>
              <a:gd name="connsiteX26" fmla="*/ 2259859 w 9683888"/>
              <a:gd name="connsiteY26" fmla="*/ 718188 h 743457"/>
              <a:gd name="connsiteX27" fmla="*/ 2378290 w 9683888"/>
              <a:gd name="connsiteY27" fmla="*/ 738748 h 743457"/>
              <a:gd name="connsiteX28" fmla="*/ 2407828 w 9683888"/>
              <a:gd name="connsiteY28" fmla="*/ 743457 h 743457"/>
              <a:gd name="connsiteX29" fmla="*/ 2428936 w 9683888"/>
              <a:gd name="connsiteY29" fmla="*/ 734697 h 743457"/>
              <a:gd name="connsiteX30" fmla="*/ 2646106 w 9683888"/>
              <a:gd name="connsiteY30" fmla="*/ 660204 h 743457"/>
              <a:gd name="connsiteX31" fmla="*/ 2799920 w 9683888"/>
              <a:gd name="connsiteY31" fmla="*/ 630451 h 743457"/>
              <a:gd name="connsiteX32" fmla="*/ 2953556 w 9683888"/>
              <a:gd name="connsiteY32" fmla="*/ 607173 h 743457"/>
              <a:gd name="connsiteX33" fmla="*/ 3009839 w 9683888"/>
              <a:gd name="connsiteY33" fmla="*/ 601743 h 743457"/>
              <a:gd name="connsiteX34" fmla="*/ 3115016 w 9683888"/>
              <a:gd name="connsiteY34" fmla="*/ 584982 h 743457"/>
              <a:gd name="connsiteX35" fmla="*/ 3185844 w 9683888"/>
              <a:gd name="connsiteY35" fmla="*/ 595356 h 743457"/>
              <a:gd name="connsiteX36" fmla="*/ 3246013 w 9683888"/>
              <a:gd name="connsiteY36" fmla="*/ 592418 h 743457"/>
              <a:gd name="connsiteX37" fmla="*/ 3313565 w 9683888"/>
              <a:gd name="connsiteY37" fmla="*/ 574138 h 743457"/>
              <a:gd name="connsiteX38" fmla="*/ 3414143 w 9683888"/>
              <a:gd name="connsiteY38" fmla="*/ 553730 h 743457"/>
              <a:gd name="connsiteX39" fmla="*/ 3552895 w 9683888"/>
              <a:gd name="connsiteY39" fmla="*/ 548563 h 743457"/>
              <a:gd name="connsiteX40" fmla="*/ 3753012 w 9683888"/>
              <a:gd name="connsiteY40" fmla="*/ 599520 h 743457"/>
              <a:gd name="connsiteX41" fmla="*/ 3804392 w 9683888"/>
              <a:gd name="connsiteY41" fmla="*/ 604131 h 743457"/>
              <a:gd name="connsiteX42" fmla="*/ 3916696 w 9683888"/>
              <a:gd name="connsiteY42" fmla="*/ 606540 h 743457"/>
              <a:gd name="connsiteX43" fmla="*/ 4063849 w 9683888"/>
              <a:gd name="connsiteY43" fmla="*/ 604058 h 743457"/>
              <a:gd name="connsiteX44" fmla="*/ 4172179 w 9683888"/>
              <a:gd name="connsiteY44" fmla="*/ 592355 h 743457"/>
              <a:gd name="connsiteX45" fmla="*/ 4276294 w 9683888"/>
              <a:gd name="connsiteY45" fmla="*/ 587119 h 743457"/>
              <a:gd name="connsiteX46" fmla="*/ 4411090 w 9683888"/>
              <a:gd name="connsiteY46" fmla="*/ 575600 h 743457"/>
              <a:gd name="connsiteX47" fmla="*/ 4540465 w 9683888"/>
              <a:gd name="connsiteY47" fmla="*/ 567464 h 743457"/>
              <a:gd name="connsiteX48" fmla="*/ 4545352 w 9683888"/>
              <a:gd name="connsiteY48" fmla="*/ 555554 h 743457"/>
              <a:gd name="connsiteX49" fmla="*/ 4564014 w 9683888"/>
              <a:gd name="connsiteY49" fmla="*/ 553660 h 743457"/>
              <a:gd name="connsiteX50" fmla="*/ 4568602 w 9683888"/>
              <a:gd name="connsiteY50" fmla="*/ 550913 h 743457"/>
              <a:gd name="connsiteX51" fmla="*/ 4595289 w 9683888"/>
              <a:gd name="connsiteY51" fmla="*/ 537407 h 743457"/>
              <a:gd name="connsiteX52" fmla="*/ 4739026 w 9683888"/>
              <a:gd name="connsiteY52" fmla="*/ 532483 h 743457"/>
              <a:gd name="connsiteX53" fmla="*/ 5061335 w 9683888"/>
              <a:gd name="connsiteY53" fmla="*/ 545635 h 743457"/>
              <a:gd name="connsiteX54" fmla="*/ 5338634 w 9683888"/>
              <a:gd name="connsiteY54" fmla="*/ 595754 h 743457"/>
              <a:gd name="connsiteX55" fmla="*/ 5529430 w 9683888"/>
              <a:gd name="connsiteY55" fmla="*/ 606335 h 743457"/>
              <a:gd name="connsiteX56" fmla="*/ 5604039 w 9683888"/>
              <a:gd name="connsiteY56" fmla="*/ 607676 h 743457"/>
              <a:gd name="connsiteX57" fmla="*/ 5625281 w 9683888"/>
              <a:gd name="connsiteY57" fmla="*/ 617253 h 743457"/>
              <a:gd name="connsiteX58" fmla="*/ 5628138 w 9683888"/>
              <a:gd name="connsiteY58" fmla="*/ 615483 h 743457"/>
              <a:gd name="connsiteX59" fmla="*/ 5653593 w 9683888"/>
              <a:gd name="connsiteY59" fmla="*/ 617873 h 743457"/>
              <a:gd name="connsiteX60" fmla="*/ 5658658 w 9683888"/>
              <a:gd name="connsiteY60" fmla="*/ 624279 h 743457"/>
              <a:gd name="connsiteX61" fmla="*/ 5675963 w 9683888"/>
              <a:gd name="connsiteY61" fmla="*/ 627762 h 743457"/>
              <a:gd name="connsiteX62" fmla="*/ 5709625 w 9683888"/>
              <a:gd name="connsiteY62" fmla="*/ 639593 h 743457"/>
              <a:gd name="connsiteX63" fmla="*/ 5716324 w 9683888"/>
              <a:gd name="connsiteY63" fmla="*/ 637148 h 743457"/>
              <a:gd name="connsiteX64" fmla="*/ 5767720 w 9683888"/>
              <a:gd name="connsiteY64" fmla="*/ 647737 h 743457"/>
              <a:gd name="connsiteX65" fmla="*/ 5768619 w 9683888"/>
              <a:gd name="connsiteY65" fmla="*/ 645671 h 743457"/>
              <a:gd name="connsiteX66" fmla="*/ 5858696 w 9683888"/>
              <a:gd name="connsiteY66" fmla="*/ 628099 h 743457"/>
              <a:gd name="connsiteX67" fmla="*/ 5935260 w 9683888"/>
              <a:gd name="connsiteY67" fmla="*/ 596904 h 743457"/>
              <a:gd name="connsiteX68" fmla="*/ 5946176 w 9683888"/>
              <a:gd name="connsiteY68" fmla="*/ 597874 h 743457"/>
              <a:gd name="connsiteX69" fmla="*/ 5946447 w 9683888"/>
              <a:gd name="connsiteY69" fmla="*/ 597396 h 743457"/>
              <a:gd name="connsiteX70" fmla="*/ 5958069 w 9683888"/>
              <a:gd name="connsiteY70" fmla="*/ 597432 h 743457"/>
              <a:gd name="connsiteX71" fmla="*/ 5966081 w 9683888"/>
              <a:gd name="connsiteY71" fmla="*/ 599643 h 743457"/>
              <a:gd name="connsiteX72" fmla="*/ 5987259 w 9683888"/>
              <a:gd name="connsiteY72" fmla="*/ 601523 h 743457"/>
              <a:gd name="connsiteX73" fmla="*/ 5994905 w 9683888"/>
              <a:gd name="connsiteY73" fmla="*/ 598873 h 743457"/>
              <a:gd name="connsiteX74" fmla="*/ 6054803 w 9683888"/>
              <a:gd name="connsiteY74" fmla="*/ 541202 h 743457"/>
              <a:gd name="connsiteX75" fmla="*/ 6188672 w 9683888"/>
              <a:gd name="connsiteY75" fmla="*/ 496389 h 743457"/>
              <a:gd name="connsiteX76" fmla="*/ 6323280 w 9683888"/>
              <a:gd name="connsiteY76" fmla="*/ 458013 h 743457"/>
              <a:gd name="connsiteX77" fmla="*/ 6457257 w 9683888"/>
              <a:gd name="connsiteY77" fmla="*/ 414621 h 743457"/>
              <a:gd name="connsiteX78" fmla="*/ 6530019 w 9683888"/>
              <a:gd name="connsiteY78" fmla="*/ 423168 h 743457"/>
              <a:gd name="connsiteX79" fmla="*/ 6626800 w 9683888"/>
              <a:gd name="connsiteY79" fmla="*/ 375078 h 743457"/>
              <a:gd name="connsiteX80" fmla="*/ 6689231 w 9683888"/>
              <a:gd name="connsiteY80" fmla="*/ 353501 h 743457"/>
              <a:gd name="connsiteX81" fmla="*/ 6726440 w 9683888"/>
              <a:gd name="connsiteY81" fmla="*/ 340276 h 743457"/>
              <a:gd name="connsiteX82" fmla="*/ 6835228 w 9683888"/>
              <a:gd name="connsiteY82" fmla="*/ 329393 h 743457"/>
              <a:gd name="connsiteX83" fmla="*/ 7039363 w 9683888"/>
              <a:gd name="connsiteY83" fmla="*/ 370823 h 743457"/>
              <a:gd name="connsiteX84" fmla="*/ 7095156 w 9683888"/>
              <a:gd name="connsiteY84" fmla="*/ 366075 h 743457"/>
              <a:gd name="connsiteX85" fmla="*/ 7187061 w 9683888"/>
              <a:gd name="connsiteY85" fmla="*/ 383876 h 743457"/>
              <a:gd name="connsiteX86" fmla="*/ 7295039 w 9683888"/>
              <a:gd name="connsiteY86" fmla="*/ 355046 h 743457"/>
              <a:gd name="connsiteX87" fmla="*/ 7373651 w 9683888"/>
              <a:gd name="connsiteY87" fmla="*/ 322299 h 743457"/>
              <a:gd name="connsiteX88" fmla="*/ 7418964 w 9683888"/>
              <a:gd name="connsiteY88" fmla="*/ 308685 h 743457"/>
              <a:gd name="connsiteX89" fmla="*/ 7450568 w 9683888"/>
              <a:gd name="connsiteY89" fmla="*/ 293511 h 743457"/>
              <a:gd name="connsiteX90" fmla="*/ 7538380 w 9683888"/>
              <a:gd name="connsiteY90" fmla="*/ 283235 h 743457"/>
              <a:gd name="connsiteX91" fmla="*/ 7786348 w 9683888"/>
              <a:gd name="connsiteY91" fmla="*/ 225377 h 743457"/>
              <a:gd name="connsiteX92" fmla="*/ 7849534 w 9683888"/>
              <a:gd name="connsiteY92" fmla="*/ 245434 h 743457"/>
              <a:gd name="connsiteX93" fmla="*/ 7981165 w 9683888"/>
              <a:gd name="connsiteY93" fmla="*/ 222252 h 743457"/>
              <a:gd name="connsiteX94" fmla="*/ 8171882 w 9683888"/>
              <a:gd name="connsiteY94" fmla="*/ 222497 h 743457"/>
              <a:gd name="connsiteX95" fmla="*/ 8242270 w 9683888"/>
              <a:gd name="connsiteY95" fmla="*/ 180535 h 743457"/>
              <a:gd name="connsiteX96" fmla="*/ 8490152 w 9683888"/>
              <a:gd name="connsiteY96" fmla="*/ 209193 h 743457"/>
              <a:gd name="connsiteX97" fmla="*/ 8622272 w 9683888"/>
              <a:gd name="connsiteY97" fmla="*/ 188859 h 743457"/>
              <a:gd name="connsiteX98" fmla="*/ 8738606 w 9683888"/>
              <a:gd name="connsiteY98" fmla="*/ 208945 h 743457"/>
              <a:gd name="connsiteX99" fmla="*/ 8831307 w 9683888"/>
              <a:gd name="connsiteY99" fmla="*/ 207738 h 743457"/>
              <a:gd name="connsiteX100" fmla="*/ 8891432 w 9683888"/>
              <a:gd name="connsiteY100" fmla="*/ 184510 h 743457"/>
              <a:gd name="connsiteX101" fmla="*/ 8946980 w 9683888"/>
              <a:gd name="connsiteY101" fmla="*/ 145578 h 743457"/>
              <a:gd name="connsiteX102" fmla="*/ 9107760 w 9683888"/>
              <a:gd name="connsiteY102" fmla="*/ 128052 h 743457"/>
              <a:gd name="connsiteX103" fmla="*/ 9195623 w 9683888"/>
              <a:gd name="connsiteY103" fmla="*/ 100212 h 743457"/>
              <a:gd name="connsiteX104" fmla="*/ 9256898 w 9683888"/>
              <a:gd name="connsiteY104" fmla="*/ 73900 h 743457"/>
              <a:gd name="connsiteX105" fmla="*/ 9351740 w 9683888"/>
              <a:gd name="connsiteY105" fmla="*/ 80439 h 743457"/>
              <a:gd name="connsiteX106" fmla="*/ 9539796 w 9683888"/>
              <a:gd name="connsiteY106" fmla="*/ 87069 h 743457"/>
              <a:gd name="connsiteX107" fmla="*/ 9619109 w 9683888"/>
              <a:gd name="connsiteY107" fmla="*/ 39994 h 74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9683888" h="743457">
                <a:moveTo>
                  <a:pt x="9683888" y="0"/>
                </a:moveTo>
                <a:lnTo>
                  <a:pt x="0" y="0"/>
                </a:lnTo>
                <a:lnTo>
                  <a:pt x="0" y="365878"/>
                </a:lnTo>
                <a:lnTo>
                  <a:pt x="11844" y="367909"/>
                </a:lnTo>
                <a:cubicBezTo>
                  <a:pt x="50423" y="374387"/>
                  <a:pt x="87879" y="380746"/>
                  <a:pt x="106208" y="385974"/>
                </a:cubicBezTo>
                <a:cubicBezTo>
                  <a:pt x="119919" y="389979"/>
                  <a:pt x="149687" y="402128"/>
                  <a:pt x="183667" y="399162"/>
                </a:cubicBezTo>
                <a:cubicBezTo>
                  <a:pt x="228274" y="394575"/>
                  <a:pt x="256969" y="398315"/>
                  <a:pt x="292430" y="390408"/>
                </a:cubicBezTo>
                <a:cubicBezTo>
                  <a:pt x="325377" y="395694"/>
                  <a:pt x="374510" y="420053"/>
                  <a:pt x="386942" y="395582"/>
                </a:cubicBezTo>
                <a:cubicBezTo>
                  <a:pt x="400429" y="416427"/>
                  <a:pt x="451168" y="399411"/>
                  <a:pt x="485751" y="408404"/>
                </a:cubicBezTo>
                <a:cubicBezTo>
                  <a:pt x="520399" y="423586"/>
                  <a:pt x="570416" y="404235"/>
                  <a:pt x="604107" y="418647"/>
                </a:cubicBezTo>
                <a:cubicBezTo>
                  <a:pt x="633631" y="425521"/>
                  <a:pt x="672063" y="446364"/>
                  <a:pt x="694081" y="449524"/>
                </a:cubicBezTo>
                <a:cubicBezTo>
                  <a:pt x="700528" y="463278"/>
                  <a:pt x="713487" y="450700"/>
                  <a:pt x="762452" y="456090"/>
                </a:cubicBezTo>
                <a:cubicBezTo>
                  <a:pt x="811417" y="461479"/>
                  <a:pt x="935420" y="470466"/>
                  <a:pt x="987872" y="481862"/>
                </a:cubicBezTo>
                <a:cubicBezTo>
                  <a:pt x="1018493" y="475799"/>
                  <a:pt x="1019470" y="516810"/>
                  <a:pt x="1077163" y="524467"/>
                </a:cubicBezTo>
                <a:cubicBezTo>
                  <a:pt x="1124222" y="535807"/>
                  <a:pt x="1202940" y="574855"/>
                  <a:pt x="1258716" y="587975"/>
                </a:cubicBezTo>
                <a:cubicBezTo>
                  <a:pt x="1274181" y="586466"/>
                  <a:pt x="1286859" y="589632"/>
                  <a:pt x="1298056" y="595413"/>
                </a:cubicBezTo>
                <a:lnTo>
                  <a:pt x="1327017" y="617412"/>
                </a:lnTo>
                <a:lnTo>
                  <a:pt x="1347909" y="620209"/>
                </a:lnTo>
                <a:cubicBezTo>
                  <a:pt x="1377004" y="628445"/>
                  <a:pt x="1394712" y="616344"/>
                  <a:pt x="1421792" y="626139"/>
                </a:cubicBezTo>
                <a:cubicBezTo>
                  <a:pt x="1466260" y="647543"/>
                  <a:pt x="1506099" y="610975"/>
                  <a:pt x="1519789" y="645011"/>
                </a:cubicBezTo>
                <a:cubicBezTo>
                  <a:pt x="1556219" y="665699"/>
                  <a:pt x="1578776" y="668950"/>
                  <a:pt x="1620886" y="687715"/>
                </a:cubicBezTo>
                <a:cubicBezTo>
                  <a:pt x="1658228" y="693647"/>
                  <a:pt x="1636224" y="694371"/>
                  <a:pt x="1676745" y="690130"/>
                </a:cubicBezTo>
                <a:cubicBezTo>
                  <a:pt x="1713709" y="697532"/>
                  <a:pt x="1774627" y="701403"/>
                  <a:pt x="1832228" y="690860"/>
                </a:cubicBezTo>
                <a:cubicBezTo>
                  <a:pt x="1866586" y="689181"/>
                  <a:pt x="1949046" y="755765"/>
                  <a:pt x="1980464" y="704858"/>
                </a:cubicBezTo>
                <a:cubicBezTo>
                  <a:pt x="2001472" y="716610"/>
                  <a:pt x="2020758" y="710467"/>
                  <a:pt x="2051150" y="711187"/>
                </a:cubicBezTo>
                <a:cubicBezTo>
                  <a:pt x="2081543" y="711907"/>
                  <a:pt x="2117567" y="736153"/>
                  <a:pt x="2162824" y="709178"/>
                </a:cubicBezTo>
                <a:cubicBezTo>
                  <a:pt x="2219712" y="701824"/>
                  <a:pt x="2181421" y="742368"/>
                  <a:pt x="2259859" y="718188"/>
                </a:cubicBezTo>
                <a:cubicBezTo>
                  <a:pt x="2296623" y="733933"/>
                  <a:pt x="2337412" y="741012"/>
                  <a:pt x="2378290" y="738748"/>
                </a:cubicBezTo>
                <a:cubicBezTo>
                  <a:pt x="2380041" y="725410"/>
                  <a:pt x="2399659" y="741017"/>
                  <a:pt x="2407828" y="743457"/>
                </a:cubicBezTo>
                <a:cubicBezTo>
                  <a:pt x="2406113" y="735180"/>
                  <a:pt x="2421642" y="728742"/>
                  <a:pt x="2428936" y="734697"/>
                </a:cubicBezTo>
                <a:cubicBezTo>
                  <a:pt x="2468648" y="720822"/>
                  <a:pt x="2584275" y="677579"/>
                  <a:pt x="2646106" y="660204"/>
                </a:cubicBezTo>
                <a:cubicBezTo>
                  <a:pt x="2706894" y="652346"/>
                  <a:pt x="2738390" y="612318"/>
                  <a:pt x="2799920" y="630451"/>
                </a:cubicBezTo>
                <a:cubicBezTo>
                  <a:pt x="2856798" y="622940"/>
                  <a:pt x="2902940" y="602232"/>
                  <a:pt x="2953556" y="607173"/>
                </a:cubicBezTo>
                <a:cubicBezTo>
                  <a:pt x="2970626" y="593247"/>
                  <a:pt x="2988095" y="586399"/>
                  <a:pt x="3009839" y="601743"/>
                </a:cubicBezTo>
                <a:cubicBezTo>
                  <a:pt x="3046166" y="594868"/>
                  <a:pt x="3085682" y="586046"/>
                  <a:pt x="3115016" y="584982"/>
                </a:cubicBezTo>
                <a:cubicBezTo>
                  <a:pt x="3144992" y="587935"/>
                  <a:pt x="3158740" y="599045"/>
                  <a:pt x="3185844" y="595356"/>
                </a:cubicBezTo>
                <a:cubicBezTo>
                  <a:pt x="3209939" y="576197"/>
                  <a:pt x="3221731" y="614583"/>
                  <a:pt x="3246013" y="592418"/>
                </a:cubicBezTo>
                <a:cubicBezTo>
                  <a:pt x="3228976" y="565486"/>
                  <a:pt x="3320172" y="599686"/>
                  <a:pt x="3313565" y="574138"/>
                </a:cubicBezTo>
                <a:cubicBezTo>
                  <a:pt x="3341586" y="564515"/>
                  <a:pt x="3371901" y="555346"/>
                  <a:pt x="3414143" y="553730"/>
                </a:cubicBezTo>
                <a:cubicBezTo>
                  <a:pt x="3463229" y="557630"/>
                  <a:pt x="3476532" y="539673"/>
                  <a:pt x="3552895" y="548563"/>
                </a:cubicBezTo>
                <a:cubicBezTo>
                  <a:pt x="3620356" y="561042"/>
                  <a:pt x="3688830" y="574962"/>
                  <a:pt x="3753012" y="599520"/>
                </a:cubicBezTo>
                <a:cubicBezTo>
                  <a:pt x="3769580" y="615048"/>
                  <a:pt x="3777112" y="602961"/>
                  <a:pt x="3804392" y="604131"/>
                </a:cubicBezTo>
                <a:cubicBezTo>
                  <a:pt x="3831672" y="605301"/>
                  <a:pt x="3878076" y="605222"/>
                  <a:pt x="3916696" y="606540"/>
                </a:cubicBezTo>
                <a:cubicBezTo>
                  <a:pt x="3970533" y="603881"/>
                  <a:pt x="3981244" y="618066"/>
                  <a:pt x="4063849" y="604058"/>
                </a:cubicBezTo>
                <a:cubicBezTo>
                  <a:pt x="4074473" y="605185"/>
                  <a:pt x="4134611" y="589365"/>
                  <a:pt x="4172179" y="592355"/>
                </a:cubicBezTo>
                <a:cubicBezTo>
                  <a:pt x="4180554" y="576172"/>
                  <a:pt x="4255433" y="602075"/>
                  <a:pt x="4276294" y="587119"/>
                </a:cubicBezTo>
                <a:cubicBezTo>
                  <a:pt x="4326119" y="586973"/>
                  <a:pt x="4361692" y="573867"/>
                  <a:pt x="4411090" y="575600"/>
                </a:cubicBezTo>
                <a:cubicBezTo>
                  <a:pt x="4465125" y="575500"/>
                  <a:pt x="4518088" y="570805"/>
                  <a:pt x="4540465" y="567464"/>
                </a:cubicBezTo>
                <a:lnTo>
                  <a:pt x="4545352" y="555554"/>
                </a:lnTo>
                <a:lnTo>
                  <a:pt x="4564014" y="553660"/>
                </a:lnTo>
                <a:lnTo>
                  <a:pt x="4568602" y="550913"/>
                </a:lnTo>
                <a:cubicBezTo>
                  <a:pt x="4577353" y="545618"/>
                  <a:pt x="4586105" y="540734"/>
                  <a:pt x="4595289" y="537407"/>
                </a:cubicBezTo>
                <a:cubicBezTo>
                  <a:pt x="4623104" y="537511"/>
                  <a:pt x="4660764" y="533229"/>
                  <a:pt x="4739026" y="532483"/>
                </a:cubicBezTo>
                <a:cubicBezTo>
                  <a:pt x="4806238" y="527255"/>
                  <a:pt x="4944577" y="524439"/>
                  <a:pt x="5061335" y="545635"/>
                </a:cubicBezTo>
                <a:cubicBezTo>
                  <a:pt x="5167156" y="553533"/>
                  <a:pt x="5251789" y="586167"/>
                  <a:pt x="5338634" y="595754"/>
                </a:cubicBezTo>
                <a:cubicBezTo>
                  <a:pt x="5415763" y="589622"/>
                  <a:pt x="5434719" y="609365"/>
                  <a:pt x="5529430" y="606335"/>
                </a:cubicBezTo>
                <a:cubicBezTo>
                  <a:pt x="5534498" y="613561"/>
                  <a:pt x="5597157" y="603269"/>
                  <a:pt x="5604039" y="607676"/>
                </a:cubicBezTo>
                <a:lnTo>
                  <a:pt x="5625281" y="617253"/>
                </a:lnTo>
                <a:lnTo>
                  <a:pt x="5628138" y="615483"/>
                </a:lnTo>
                <a:cubicBezTo>
                  <a:pt x="5640641" y="612245"/>
                  <a:pt x="5648217" y="613966"/>
                  <a:pt x="5653593" y="617873"/>
                </a:cubicBezTo>
                <a:lnTo>
                  <a:pt x="5658658" y="624279"/>
                </a:lnTo>
                <a:lnTo>
                  <a:pt x="5675963" y="627762"/>
                </a:lnTo>
                <a:lnTo>
                  <a:pt x="5709625" y="639593"/>
                </a:lnTo>
                <a:lnTo>
                  <a:pt x="5716324" y="637148"/>
                </a:lnTo>
                <a:lnTo>
                  <a:pt x="5767720" y="647737"/>
                </a:lnTo>
                <a:lnTo>
                  <a:pt x="5768619" y="645671"/>
                </a:lnTo>
                <a:cubicBezTo>
                  <a:pt x="5776130" y="642927"/>
                  <a:pt x="5830922" y="636226"/>
                  <a:pt x="5858696" y="628099"/>
                </a:cubicBezTo>
                <a:lnTo>
                  <a:pt x="5935260" y="596904"/>
                </a:lnTo>
                <a:lnTo>
                  <a:pt x="5946176" y="597874"/>
                </a:lnTo>
                <a:lnTo>
                  <a:pt x="5946447" y="597396"/>
                </a:lnTo>
                <a:cubicBezTo>
                  <a:pt x="5948934" y="596546"/>
                  <a:pt x="5952567" y="596468"/>
                  <a:pt x="5958069" y="597432"/>
                </a:cubicBezTo>
                <a:lnTo>
                  <a:pt x="5966081" y="599643"/>
                </a:lnTo>
                <a:lnTo>
                  <a:pt x="5987259" y="601523"/>
                </a:lnTo>
                <a:lnTo>
                  <a:pt x="5994905" y="598873"/>
                </a:lnTo>
                <a:cubicBezTo>
                  <a:pt x="6020610" y="579716"/>
                  <a:pt x="6016968" y="560235"/>
                  <a:pt x="6054803" y="541202"/>
                </a:cubicBezTo>
                <a:cubicBezTo>
                  <a:pt x="6108247" y="527358"/>
                  <a:pt x="6130976" y="484538"/>
                  <a:pt x="6188672" y="496389"/>
                </a:cubicBezTo>
                <a:cubicBezTo>
                  <a:pt x="6238659" y="483279"/>
                  <a:pt x="6277194" y="458153"/>
                  <a:pt x="6323280" y="458013"/>
                </a:cubicBezTo>
                <a:cubicBezTo>
                  <a:pt x="6368044" y="444385"/>
                  <a:pt x="6422801" y="420428"/>
                  <a:pt x="6457257" y="414621"/>
                </a:cubicBezTo>
                <a:cubicBezTo>
                  <a:pt x="6483424" y="410645"/>
                  <a:pt x="6508964" y="423228"/>
                  <a:pt x="6530019" y="423168"/>
                </a:cubicBezTo>
                <a:cubicBezTo>
                  <a:pt x="6558276" y="416578"/>
                  <a:pt x="6600264" y="386690"/>
                  <a:pt x="6626800" y="375078"/>
                </a:cubicBezTo>
                <a:cubicBezTo>
                  <a:pt x="6664418" y="400828"/>
                  <a:pt x="6655535" y="354302"/>
                  <a:pt x="6689231" y="353501"/>
                </a:cubicBezTo>
                <a:cubicBezTo>
                  <a:pt x="6708837" y="361122"/>
                  <a:pt x="6719642" y="359485"/>
                  <a:pt x="6726440" y="340276"/>
                </a:cubicBezTo>
                <a:cubicBezTo>
                  <a:pt x="6818329" y="378763"/>
                  <a:pt x="6765502" y="328183"/>
                  <a:pt x="6835228" y="329393"/>
                </a:cubicBezTo>
                <a:cubicBezTo>
                  <a:pt x="6897464" y="335048"/>
                  <a:pt x="6962224" y="329085"/>
                  <a:pt x="7039363" y="370823"/>
                </a:cubicBezTo>
                <a:cubicBezTo>
                  <a:pt x="7056368" y="384567"/>
                  <a:pt x="7070539" y="363899"/>
                  <a:pt x="7095156" y="366075"/>
                </a:cubicBezTo>
                <a:cubicBezTo>
                  <a:pt x="7119772" y="368250"/>
                  <a:pt x="7153748" y="385714"/>
                  <a:pt x="7187061" y="383876"/>
                </a:cubicBezTo>
                <a:cubicBezTo>
                  <a:pt x="7242115" y="377604"/>
                  <a:pt x="7270954" y="334249"/>
                  <a:pt x="7295039" y="355046"/>
                </a:cubicBezTo>
                <a:cubicBezTo>
                  <a:pt x="7320104" y="344159"/>
                  <a:pt x="7343179" y="301443"/>
                  <a:pt x="7373651" y="322299"/>
                </a:cubicBezTo>
                <a:cubicBezTo>
                  <a:pt x="7367160" y="298575"/>
                  <a:pt x="7410095" y="329040"/>
                  <a:pt x="7418964" y="308685"/>
                </a:cubicBezTo>
                <a:cubicBezTo>
                  <a:pt x="7424243" y="291807"/>
                  <a:pt x="7438503" y="297117"/>
                  <a:pt x="7450568" y="293511"/>
                </a:cubicBezTo>
                <a:cubicBezTo>
                  <a:pt x="7461276" y="277652"/>
                  <a:pt x="7519437" y="275664"/>
                  <a:pt x="7538380" y="283235"/>
                </a:cubicBezTo>
                <a:cubicBezTo>
                  <a:pt x="7594343" y="271879"/>
                  <a:pt x="7734488" y="231676"/>
                  <a:pt x="7786348" y="225377"/>
                </a:cubicBezTo>
                <a:cubicBezTo>
                  <a:pt x="7797693" y="277094"/>
                  <a:pt x="7847327" y="236176"/>
                  <a:pt x="7849534" y="245434"/>
                </a:cubicBezTo>
                <a:cubicBezTo>
                  <a:pt x="7894253" y="231282"/>
                  <a:pt x="7937937" y="238796"/>
                  <a:pt x="7981165" y="222252"/>
                </a:cubicBezTo>
                <a:cubicBezTo>
                  <a:pt x="8066564" y="234459"/>
                  <a:pt x="8127007" y="235277"/>
                  <a:pt x="8171882" y="222497"/>
                </a:cubicBezTo>
                <a:cubicBezTo>
                  <a:pt x="8183092" y="205785"/>
                  <a:pt x="8217423" y="177145"/>
                  <a:pt x="8242270" y="180535"/>
                </a:cubicBezTo>
                <a:cubicBezTo>
                  <a:pt x="8294138" y="178846"/>
                  <a:pt x="8410926" y="208334"/>
                  <a:pt x="8490152" y="209193"/>
                </a:cubicBezTo>
                <a:cubicBezTo>
                  <a:pt x="8558493" y="195433"/>
                  <a:pt x="8564727" y="233466"/>
                  <a:pt x="8622272" y="188859"/>
                </a:cubicBezTo>
                <a:cubicBezTo>
                  <a:pt x="8659556" y="191317"/>
                  <a:pt x="8666988" y="178214"/>
                  <a:pt x="8738606" y="208945"/>
                </a:cubicBezTo>
                <a:cubicBezTo>
                  <a:pt x="8769507" y="208543"/>
                  <a:pt x="8800406" y="224019"/>
                  <a:pt x="8831307" y="207738"/>
                </a:cubicBezTo>
                <a:cubicBezTo>
                  <a:pt x="8836477" y="191612"/>
                  <a:pt x="8870109" y="182455"/>
                  <a:pt x="8891432" y="184510"/>
                </a:cubicBezTo>
                <a:cubicBezTo>
                  <a:pt x="8876795" y="135260"/>
                  <a:pt x="8938553" y="173381"/>
                  <a:pt x="8946980" y="145578"/>
                </a:cubicBezTo>
                <a:cubicBezTo>
                  <a:pt x="9010957" y="156064"/>
                  <a:pt x="9046552" y="157746"/>
                  <a:pt x="9107760" y="128052"/>
                </a:cubicBezTo>
                <a:cubicBezTo>
                  <a:pt x="9135191" y="151813"/>
                  <a:pt x="9184204" y="114911"/>
                  <a:pt x="9195623" y="100212"/>
                </a:cubicBezTo>
                <a:cubicBezTo>
                  <a:pt x="9222736" y="85917"/>
                  <a:pt x="9230892" y="98248"/>
                  <a:pt x="9256898" y="73900"/>
                </a:cubicBezTo>
                <a:cubicBezTo>
                  <a:pt x="9276443" y="63724"/>
                  <a:pt x="9334001" y="80454"/>
                  <a:pt x="9351740" y="80439"/>
                </a:cubicBezTo>
                <a:cubicBezTo>
                  <a:pt x="9398889" y="82633"/>
                  <a:pt x="9473718" y="102566"/>
                  <a:pt x="9539796" y="87069"/>
                </a:cubicBezTo>
                <a:cubicBezTo>
                  <a:pt x="9565852" y="70987"/>
                  <a:pt x="9591569" y="56211"/>
                  <a:pt x="9619109" y="399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14">
            <a:extLst>
              <a:ext uri="{FF2B5EF4-FFF2-40B4-BE49-F238E27FC236}">
                <a16:creationId xmlns:a16="http://schemas.microsoft.com/office/drawing/2014/main" id="{D6740363-89F2-55C2-5353-69F46766A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9827"/>
            <a:ext cx="10680562" cy="1078174"/>
          </a:xfrm>
          <a:custGeom>
            <a:avLst/>
            <a:gdLst>
              <a:gd name="connsiteX0" fmla="*/ 3617689 w 10680562"/>
              <a:gd name="connsiteY0" fmla="*/ 0 h 1605023"/>
              <a:gd name="connsiteX1" fmla="*/ 3635901 w 10680562"/>
              <a:gd name="connsiteY1" fmla="*/ 7738 h 1605023"/>
              <a:gd name="connsiteX2" fmla="*/ 3690891 w 10680562"/>
              <a:gd name="connsiteY2" fmla="*/ 7049 h 1605023"/>
              <a:gd name="connsiteX3" fmla="*/ 3832247 w 10680562"/>
              <a:gd name="connsiteY3" fmla="*/ 13937 h 1605023"/>
              <a:gd name="connsiteX4" fmla="*/ 3999111 w 10680562"/>
              <a:gd name="connsiteY4" fmla="*/ 44624 h 1605023"/>
              <a:gd name="connsiteX5" fmla="*/ 4034676 w 10680562"/>
              <a:gd name="connsiteY5" fmla="*/ 48775 h 1605023"/>
              <a:gd name="connsiteX6" fmla="*/ 4065394 w 10680562"/>
              <a:gd name="connsiteY6" fmla="*/ 42879 h 1605023"/>
              <a:gd name="connsiteX7" fmla="*/ 4072648 w 10680562"/>
              <a:gd name="connsiteY7" fmla="*/ 33262 h 1605023"/>
              <a:gd name="connsiteX8" fmla="*/ 4092232 w 10680562"/>
              <a:gd name="connsiteY8" fmla="*/ 34026 h 1605023"/>
              <a:gd name="connsiteX9" fmla="*/ 4097470 w 10680562"/>
              <a:gd name="connsiteY9" fmla="*/ 32252 h 1605023"/>
              <a:gd name="connsiteX10" fmla="*/ 4127488 w 10680562"/>
              <a:gd name="connsiteY10" fmla="*/ 24056 h 1605023"/>
              <a:gd name="connsiteX11" fmla="*/ 4190803 w 10680562"/>
              <a:gd name="connsiteY11" fmla="*/ 55685 h 1605023"/>
              <a:gd name="connsiteX12" fmla="*/ 4269333 w 10680562"/>
              <a:gd name="connsiteY12" fmla="*/ 54186 h 1605023"/>
              <a:gd name="connsiteX13" fmla="*/ 4481486 w 10680562"/>
              <a:gd name="connsiteY13" fmla="*/ 116915 h 1605023"/>
              <a:gd name="connsiteX14" fmla="*/ 4651418 w 10680562"/>
              <a:gd name="connsiteY14" fmla="*/ 150071 h 1605023"/>
              <a:gd name="connsiteX15" fmla="*/ 4863575 w 10680562"/>
              <a:gd name="connsiteY15" fmla="*/ 175458 h 1605023"/>
              <a:gd name="connsiteX16" fmla="*/ 5013635 w 10680562"/>
              <a:gd name="connsiteY16" fmla="*/ 213928 h 1605023"/>
              <a:gd name="connsiteX17" fmla="*/ 5203044 w 10680562"/>
              <a:gd name="connsiteY17" fmla="*/ 228946 h 1605023"/>
              <a:gd name="connsiteX18" fmla="*/ 5207070 w 10680562"/>
              <a:gd name="connsiteY18" fmla="*/ 235105 h 1605023"/>
              <a:gd name="connsiteX19" fmla="*/ 5224253 w 10680562"/>
              <a:gd name="connsiteY19" fmla="*/ 240320 h 1605023"/>
              <a:gd name="connsiteX20" fmla="*/ 5256736 w 10680562"/>
              <a:gd name="connsiteY20" fmla="*/ 254811 h 1605023"/>
              <a:gd name="connsiteX21" fmla="*/ 5264095 w 10680562"/>
              <a:gd name="connsiteY21" fmla="*/ 253567 h 1605023"/>
              <a:gd name="connsiteX22" fmla="*/ 5315084 w 10680562"/>
              <a:gd name="connsiteY22" fmla="*/ 269264 h 1605023"/>
              <a:gd name="connsiteX23" fmla="*/ 5316393 w 10680562"/>
              <a:gd name="connsiteY23" fmla="*/ 267603 h 1605023"/>
              <a:gd name="connsiteX24" fmla="*/ 5333427 w 10680562"/>
              <a:gd name="connsiteY24" fmla="*/ 263823 h 1605023"/>
              <a:gd name="connsiteX25" fmla="*/ 5364589 w 10680562"/>
              <a:gd name="connsiteY25" fmla="*/ 260882 h 1605023"/>
              <a:gd name="connsiteX26" fmla="*/ 5443973 w 10680562"/>
              <a:gd name="connsiteY26" fmla="*/ 230866 h 1605023"/>
              <a:gd name="connsiteX27" fmla="*/ 5497201 w 10680562"/>
              <a:gd name="connsiteY27" fmla="*/ 247023 h 1605023"/>
              <a:gd name="connsiteX28" fmla="*/ 5508269 w 10680562"/>
              <a:gd name="connsiteY28" fmla="*/ 249256 h 1605023"/>
              <a:gd name="connsiteX29" fmla="*/ 5508636 w 10680562"/>
              <a:gd name="connsiteY29" fmla="*/ 248880 h 1605023"/>
              <a:gd name="connsiteX30" fmla="*/ 5520606 w 10680562"/>
              <a:gd name="connsiteY30" fmla="*/ 250400 h 1605023"/>
              <a:gd name="connsiteX31" fmla="*/ 5528451 w 10680562"/>
              <a:gd name="connsiteY31" fmla="*/ 253330 h 1605023"/>
              <a:gd name="connsiteX32" fmla="*/ 5549923 w 10680562"/>
              <a:gd name="connsiteY32" fmla="*/ 257662 h 1605023"/>
              <a:gd name="connsiteX33" fmla="*/ 5558295 w 10680562"/>
              <a:gd name="connsiteY33" fmla="*/ 256364 h 1605023"/>
              <a:gd name="connsiteX34" fmla="*/ 5664799 w 10680562"/>
              <a:gd name="connsiteY34" fmla="*/ 278924 h 1605023"/>
              <a:gd name="connsiteX35" fmla="*/ 5796160 w 10680562"/>
              <a:gd name="connsiteY35" fmla="*/ 307979 h 1605023"/>
              <a:gd name="connsiteX36" fmla="*/ 5897647 w 10680562"/>
              <a:gd name="connsiteY36" fmla="*/ 339431 h 1605023"/>
              <a:gd name="connsiteX37" fmla="*/ 5978838 w 10680562"/>
              <a:gd name="connsiteY37" fmla="*/ 367970 h 1605023"/>
              <a:gd name="connsiteX38" fmla="*/ 6050367 w 10680562"/>
              <a:gd name="connsiteY38" fmla="*/ 386341 h 1605023"/>
              <a:gd name="connsiteX39" fmla="*/ 6140609 w 10680562"/>
              <a:gd name="connsiteY39" fmla="*/ 385135 h 1605023"/>
              <a:gd name="connsiteX40" fmla="*/ 6302950 w 10680562"/>
              <a:gd name="connsiteY40" fmla="*/ 448183 h 1605023"/>
              <a:gd name="connsiteX41" fmla="*/ 6308533 w 10680562"/>
              <a:gd name="connsiteY41" fmla="*/ 448551 h 1605023"/>
              <a:gd name="connsiteX42" fmla="*/ 6340278 w 10680562"/>
              <a:gd name="connsiteY42" fmla="*/ 468555 h 1605023"/>
              <a:gd name="connsiteX43" fmla="*/ 6341685 w 10680562"/>
              <a:gd name="connsiteY43" fmla="*/ 467587 h 1605023"/>
              <a:gd name="connsiteX44" fmla="*/ 6354862 w 10680562"/>
              <a:gd name="connsiteY44" fmla="*/ 467794 h 1605023"/>
              <a:gd name="connsiteX45" fmla="*/ 6377840 w 10680562"/>
              <a:gd name="connsiteY45" fmla="*/ 471024 h 1605023"/>
              <a:gd name="connsiteX46" fmla="*/ 6442804 w 10680562"/>
              <a:gd name="connsiteY46" fmla="*/ 463091 h 1605023"/>
              <a:gd name="connsiteX47" fmla="*/ 6476009 w 10680562"/>
              <a:gd name="connsiteY47" fmla="*/ 483807 h 1605023"/>
              <a:gd name="connsiteX48" fmla="*/ 6483237 w 10680562"/>
              <a:gd name="connsiteY48" fmla="*/ 487308 h 1605023"/>
              <a:gd name="connsiteX49" fmla="*/ 6483605 w 10680562"/>
              <a:gd name="connsiteY49" fmla="*/ 487102 h 1605023"/>
              <a:gd name="connsiteX50" fmla="*/ 6491673 w 10680562"/>
              <a:gd name="connsiteY50" fmla="*/ 490243 h 1605023"/>
              <a:gd name="connsiteX51" fmla="*/ 6496411 w 10680562"/>
              <a:gd name="connsiteY51" fmla="*/ 493689 h 1605023"/>
              <a:gd name="connsiteX52" fmla="*/ 6510429 w 10680562"/>
              <a:gd name="connsiteY52" fmla="*/ 500479 h 1605023"/>
              <a:gd name="connsiteX53" fmla="*/ 6516750 w 10680562"/>
              <a:gd name="connsiteY53" fmla="*/ 500983 h 1605023"/>
              <a:gd name="connsiteX54" fmla="*/ 6580199 w 10680562"/>
              <a:gd name="connsiteY54" fmla="*/ 483318 h 1605023"/>
              <a:gd name="connsiteX55" fmla="*/ 6690237 w 10680562"/>
              <a:gd name="connsiteY55" fmla="*/ 493051 h 1605023"/>
              <a:gd name="connsiteX56" fmla="*/ 6798356 w 10680562"/>
              <a:gd name="connsiteY56" fmla="*/ 506748 h 1605023"/>
              <a:gd name="connsiteX57" fmla="*/ 6837102 w 10680562"/>
              <a:gd name="connsiteY57" fmla="*/ 513677 h 1605023"/>
              <a:gd name="connsiteX58" fmla="*/ 6907934 w 10680562"/>
              <a:gd name="connsiteY58" fmla="*/ 517339 h 1605023"/>
              <a:gd name="connsiteX59" fmla="*/ 6941474 w 10680562"/>
              <a:gd name="connsiteY59" fmla="*/ 513632 h 1605023"/>
              <a:gd name="connsiteX60" fmla="*/ 6942754 w 10680562"/>
              <a:gd name="connsiteY60" fmla="*/ 514394 h 1605023"/>
              <a:gd name="connsiteX61" fmla="*/ 6946363 w 10680562"/>
              <a:gd name="connsiteY61" fmla="*/ 511066 h 1605023"/>
              <a:gd name="connsiteX62" fmla="*/ 6952592 w 10680562"/>
              <a:gd name="connsiteY62" fmla="*/ 510252 h 1605023"/>
              <a:gd name="connsiteX63" fmla="*/ 6968398 w 10680562"/>
              <a:gd name="connsiteY63" fmla="*/ 513946 h 1605023"/>
              <a:gd name="connsiteX64" fmla="*/ 6974142 w 10680562"/>
              <a:gd name="connsiteY64" fmla="*/ 516310 h 1605023"/>
              <a:gd name="connsiteX65" fmla="*/ 6982971 w 10680562"/>
              <a:gd name="connsiteY65" fmla="*/ 517694 h 1605023"/>
              <a:gd name="connsiteX66" fmla="*/ 6983252 w 10680562"/>
              <a:gd name="connsiteY66" fmla="*/ 517416 h 1605023"/>
              <a:gd name="connsiteX67" fmla="*/ 6991400 w 10680562"/>
              <a:gd name="connsiteY67" fmla="*/ 519321 h 1605023"/>
              <a:gd name="connsiteX68" fmla="*/ 7030460 w 10680562"/>
              <a:gd name="connsiteY68" fmla="*/ 532556 h 1605023"/>
              <a:gd name="connsiteX69" fmla="*/ 7089916 w 10680562"/>
              <a:gd name="connsiteY69" fmla="*/ 511503 h 1605023"/>
              <a:gd name="connsiteX70" fmla="*/ 7113059 w 10680562"/>
              <a:gd name="connsiteY70" fmla="*/ 509904 h 1605023"/>
              <a:gd name="connsiteX71" fmla="*/ 7125755 w 10680562"/>
              <a:gd name="connsiteY71" fmla="*/ 507393 h 1605023"/>
              <a:gd name="connsiteX72" fmla="*/ 7126765 w 10680562"/>
              <a:gd name="connsiteY72" fmla="*/ 506166 h 1605023"/>
              <a:gd name="connsiteX73" fmla="*/ 7164175 w 10680562"/>
              <a:gd name="connsiteY73" fmla="*/ 519011 h 1605023"/>
              <a:gd name="connsiteX74" fmla="*/ 7169654 w 10680562"/>
              <a:gd name="connsiteY74" fmla="*/ 518219 h 1605023"/>
              <a:gd name="connsiteX75" fmla="*/ 7193386 w 10680562"/>
              <a:gd name="connsiteY75" fmla="*/ 529788 h 1605023"/>
              <a:gd name="connsiteX76" fmla="*/ 7205997 w 10680562"/>
              <a:gd name="connsiteY76" fmla="*/ 534060 h 1605023"/>
              <a:gd name="connsiteX77" fmla="*/ 7208842 w 10680562"/>
              <a:gd name="connsiteY77" fmla="*/ 538783 h 1605023"/>
              <a:gd name="connsiteX78" fmla="*/ 7227817 w 10680562"/>
              <a:gd name="connsiteY78" fmla="*/ 543304 h 1605023"/>
              <a:gd name="connsiteX79" fmla="*/ 7230267 w 10680562"/>
              <a:gd name="connsiteY79" fmla="*/ 542497 h 1605023"/>
              <a:gd name="connsiteX80" fmla="*/ 7244913 w 10680562"/>
              <a:gd name="connsiteY80" fmla="*/ 551160 h 1605023"/>
              <a:gd name="connsiteX81" fmla="*/ 7255970 w 10680562"/>
              <a:gd name="connsiteY81" fmla="*/ 564383 h 1605023"/>
              <a:gd name="connsiteX82" fmla="*/ 7421156 w 10680562"/>
              <a:gd name="connsiteY82" fmla="*/ 584155 h 1605023"/>
              <a:gd name="connsiteX83" fmla="*/ 7553166 w 10680562"/>
              <a:gd name="connsiteY83" fmla="*/ 653085 h 1605023"/>
              <a:gd name="connsiteX84" fmla="*/ 7643092 w 10680562"/>
              <a:gd name="connsiteY84" fmla="*/ 662482 h 1605023"/>
              <a:gd name="connsiteX85" fmla="*/ 7896429 w 10680562"/>
              <a:gd name="connsiteY85" fmla="*/ 689054 h 1605023"/>
              <a:gd name="connsiteX86" fmla="*/ 7954620 w 10680562"/>
              <a:gd name="connsiteY86" fmla="*/ 689481 h 1605023"/>
              <a:gd name="connsiteX87" fmla="*/ 8000803 w 10680562"/>
              <a:gd name="connsiteY87" fmla="*/ 714583 h 1605023"/>
              <a:gd name="connsiteX88" fmla="*/ 8023216 w 10680562"/>
              <a:gd name="connsiteY88" fmla="*/ 709000 h 1605023"/>
              <a:gd name="connsiteX89" fmla="*/ 8027136 w 10680562"/>
              <a:gd name="connsiteY89" fmla="*/ 707765 h 1605023"/>
              <a:gd name="connsiteX90" fmla="*/ 8041622 w 10680562"/>
              <a:gd name="connsiteY90" fmla="*/ 708731 h 1605023"/>
              <a:gd name="connsiteX91" fmla="*/ 8047209 w 10680562"/>
              <a:gd name="connsiteY91" fmla="*/ 701624 h 1605023"/>
              <a:gd name="connsiteX92" fmla="*/ 8070088 w 10680562"/>
              <a:gd name="connsiteY92" fmla="*/ 697789 h 1605023"/>
              <a:gd name="connsiteX93" fmla="*/ 8096332 w 10680562"/>
              <a:gd name="connsiteY93" fmla="*/ 701624 h 1605023"/>
              <a:gd name="connsiteX94" fmla="*/ 8219225 w 10680562"/>
              <a:gd name="connsiteY94" fmla="*/ 728069 h 1605023"/>
              <a:gd name="connsiteX95" fmla="*/ 8293793 w 10680562"/>
              <a:gd name="connsiteY95" fmla="*/ 739200 h 1605023"/>
              <a:gd name="connsiteX96" fmla="*/ 8323753 w 10680562"/>
              <a:gd name="connsiteY96" fmla="*/ 736063 h 1605023"/>
              <a:gd name="connsiteX97" fmla="*/ 8364496 w 10680562"/>
              <a:gd name="connsiteY97" fmla="*/ 736635 h 1605023"/>
              <a:gd name="connsiteX98" fmla="*/ 8437662 w 10680562"/>
              <a:gd name="connsiteY98" fmla="*/ 731942 h 1605023"/>
              <a:gd name="connsiteX99" fmla="*/ 8533764 w 10680562"/>
              <a:gd name="connsiteY99" fmla="*/ 735554 h 1605023"/>
              <a:gd name="connsiteX100" fmla="*/ 8596769 w 10680562"/>
              <a:gd name="connsiteY100" fmla="*/ 769632 h 1605023"/>
              <a:gd name="connsiteX101" fmla="*/ 8604035 w 10680562"/>
              <a:gd name="connsiteY101" fmla="*/ 764982 h 1605023"/>
              <a:gd name="connsiteX102" fmla="*/ 8650929 w 10680562"/>
              <a:gd name="connsiteY102" fmla="*/ 773164 h 1605023"/>
              <a:gd name="connsiteX103" fmla="*/ 8806497 w 10680562"/>
              <a:gd name="connsiteY103" fmla="*/ 839707 h 1605023"/>
              <a:gd name="connsiteX104" fmla="*/ 8898377 w 10680562"/>
              <a:gd name="connsiteY104" fmla="*/ 854651 h 1605023"/>
              <a:gd name="connsiteX105" fmla="*/ 8932389 w 10680562"/>
              <a:gd name="connsiteY105" fmla="*/ 853846 h 1605023"/>
              <a:gd name="connsiteX106" fmla="*/ 8989288 w 10680562"/>
              <a:gd name="connsiteY106" fmla="*/ 852877 h 1605023"/>
              <a:gd name="connsiteX107" fmla="*/ 9035275 w 10680562"/>
              <a:gd name="connsiteY107" fmla="*/ 837110 h 1605023"/>
              <a:gd name="connsiteX108" fmla="*/ 9138626 w 10680562"/>
              <a:gd name="connsiteY108" fmla="*/ 862106 h 1605023"/>
              <a:gd name="connsiteX109" fmla="*/ 9216298 w 10680562"/>
              <a:gd name="connsiteY109" fmla="*/ 858754 h 1605023"/>
              <a:gd name="connsiteX110" fmla="*/ 9259941 w 10680562"/>
              <a:gd name="connsiteY110" fmla="*/ 861843 h 1605023"/>
              <a:gd name="connsiteX111" fmla="*/ 9380407 w 10680562"/>
              <a:gd name="connsiteY111" fmla="*/ 864825 h 1605023"/>
              <a:gd name="connsiteX112" fmla="*/ 9490772 w 10680562"/>
              <a:gd name="connsiteY112" fmla="*/ 901190 h 1605023"/>
              <a:gd name="connsiteX113" fmla="*/ 9584982 w 10680562"/>
              <a:gd name="connsiteY113" fmla="*/ 935980 h 1605023"/>
              <a:gd name="connsiteX114" fmla="*/ 9759797 w 10680562"/>
              <a:gd name="connsiteY114" fmla="*/ 1010923 h 1605023"/>
              <a:gd name="connsiteX115" fmla="*/ 9834455 w 10680562"/>
              <a:gd name="connsiteY115" fmla="*/ 1082908 h 1605023"/>
              <a:gd name="connsiteX116" fmla="*/ 9939504 w 10680562"/>
              <a:gd name="connsiteY116" fmla="*/ 1110614 h 1605023"/>
              <a:gd name="connsiteX117" fmla="*/ 10077001 w 10680562"/>
              <a:gd name="connsiteY117" fmla="*/ 1160906 h 1605023"/>
              <a:gd name="connsiteX118" fmla="*/ 10178431 w 10680562"/>
              <a:gd name="connsiteY118" fmla="*/ 1244920 h 1605023"/>
              <a:gd name="connsiteX119" fmla="*/ 10248658 w 10680562"/>
              <a:gd name="connsiteY119" fmla="*/ 1309335 h 1605023"/>
              <a:gd name="connsiteX120" fmla="*/ 10414709 w 10680562"/>
              <a:gd name="connsiteY120" fmla="*/ 1388645 h 1605023"/>
              <a:gd name="connsiteX121" fmla="*/ 10592469 w 10680562"/>
              <a:gd name="connsiteY121" fmla="*/ 1543828 h 1605023"/>
              <a:gd name="connsiteX122" fmla="*/ 10674941 w 10680562"/>
              <a:gd name="connsiteY122" fmla="*/ 1597388 h 1605023"/>
              <a:gd name="connsiteX123" fmla="*/ 10680562 w 10680562"/>
              <a:gd name="connsiteY123" fmla="*/ 1605023 h 1605023"/>
              <a:gd name="connsiteX124" fmla="*/ 0 w 10680562"/>
              <a:gd name="connsiteY124" fmla="*/ 1605023 h 1605023"/>
              <a:gd name="connsiteX125" fmla="*/ 0 w 10680562"/>
              <a:gd name="connsiteY125" fmla="*/ 415048 h 1605023"/>
              <a:gd name="connsiteX126" fmla="*/ 9656 w 10680562"/>
              <a:gd name="connsiteY126" fmla="*/ 416044 h 1605023"/>
              <a:gd name="connsiteX127" fmla="*/ 179196 w 10680562"/>
              <a:gd name="connsiteY127" fmla="*/ 423071 h 1605023"/>
              <a:gd name="connsiteX128" fmla="*/ 250912 w 10680562"/>
              <a:gd name="connsiteY128" fmla="*/ 408617 h 1605023"/>
              <a:gd name="connsiteX129" fmla="*/ 291375 w 10680562"/>
              <a:gd name="connsiteY129" fmla="*/ 403710 h 1605023"/>
              <a:gd name="connsiteX130" fmla="*/ 320542 w 10680562"/>
              <a:gd name="connsiteY130" fmla="*/ 396592 h 1605023"/>
              <a:gd name="connsiteX131" fmla="*/ 522426 w 10680562"/>
              <a:gd name="connsiteY131" fmla="*/ 407158 h 1605023"/>
              <a:gd name="connsiteX132" fmla="*/ 549068 w 10680562"/>
              <a:gd name="connsiteY132" fmla="*/ 407418 h 1605023"/>
              <a:gd name="connsiteX133" fmla="*/ 571100 w 10680562"/>
              <a:gd name="connsiteY133" fmla="*/ 400562 h 1605023"/>
              <a:gd name="connsiteX134" fmla="*/ 575457 w 10680562"/>
              <a:gd name="connsiteY134" fmla="*/ 392801 h 1605023"/>
              <a:gd name="connsiteX135" fmla="*/ 589968 w 10680562"/>
              <a:gd name="connsiteY135" fmla="*/ 391807 h 1605023"/>
              <a:gd name="connsiteX136" fmla="*/ 593649 w 10680562"/>
              <a:gd name="connsiteY136" fmla="*/ 390062 h 1605023"/>
              <a:gd name="connsiteX137" fmla="*/ 614928 w 10680562"/>
              <a:gd name="connsiteY137" fmla="*/ 381544 h 1605023"/>
              <a:gd name="connsiteX138" fmla="*/ 722580 w 10680562"/>
              <a:gd name="connsiteY138" fmla="*/ 392722 h 1605023"/>
              <a:gd name="connsiteX139" fmla="*/ 946884 w 10680562"/>
              <a:gd name="connsiteY139" fmla="*/ 411854 h 1605023"/>
              <a:gd name="connsiteX140" fmla="*/ 1210905 w 10680562"/>
              <a:gd name="connsiteY140" fmla="*/ 432414 h 1605023"/>
              <a:gd name="connsiteX141" fmla="*/ 1377854 w 10680562"/>
              <a:gd name="connsiteY141" fmla="*/ 429745 h 1605023"/>
              <a:gd name="connsiteX142" fmla="*/ 1391004 w 10680562"/>
              <a:gd name="connsiteY142" fmla="*/ 441307 h 1605023"/>
              <a:gd name="connsiteX143" fmla="*/ 1406953 w 10680562"/>
              <a:gd name="connsiteY143" fmla="*/ 447889 h 1605023"/>
              <a:gd name="connsiteX144" fmla="*/ 1409246 w 10680562"/>
              <a:gd name="connsiteY144" fmla="*/ 446765 h 1605023"/>
              <a:gd name="connsiteX145" fmla="*/ 1428800 w 10680562"/>
              <a:gd name="connsiteY145" fmla="*/ 448677 h 1605023"/>
              <a:gd name="connsiteX146" fmla="*/ 1432402 w 10680562"/>
              <a:gd name="connsiteY146" fmla="*/ 452956 h 1605023"/>
              <a:gd name="connsiteX147" fmla="*/ 1606578 w 10680562"/>
              <a:gd name="connsiteY147" fmla="*/ 430870 h 1605023"/>
              <a:gd name="connsiteX148" fmla="*/ 1647476 w 10680562"/>
              <a:gd name="connsiteY148" fmla="*/ 438687 h 1605023"/>
              <a:gd name="connsiteX149" fmla="*/ 1655866 w 10680562"/>
              <a:gd name="connsiteY149" fmla="*/ 439472 h 1605023"/>
              <a:gd name="connsiteX150" fmla="*/ 1656096 w 10680562"/>
              <a:gd name="connsiteY150" fmla="*/ 439162 h 1605023"/>
              <a:gd name="connsiteX151" fmla="*/ 1670708 w 10680562"/>
              <a:gd name="connsiteY151" fmla="*/ 412530 h 1605023"/>
              <a:gd name="connsiteX152" fmla="*/ 1737953 w 10680562"/>
              <a:gd name="connsiteY152" fmla="*/ 399496 h 1605023"/>
              <a:gd name="connsiteX153" fmla="*/ 1848192 w 10680562"/>
              <a:gd name="connsiteY153" fmla="*/ 376032 h 1605023"/>
              <a:gd name="connsiteX154" fmla="*/ 1954077 w 10680562"/>
              <a:gd name="connsiteY154" fmla="*/ 352621 h 1605023"/>
              <a:gd name="connsiteX155" fmla="*/ 1993047 w 10680562"/>
              <a:gd name="connsiteY155" fmla="*/ 346068 h 1605023"/>
              <a:gd name="connsiteX156" fmla="*/ 2059719 w 10680562"/>
              <a:gd name="connsiteY156" fmla="*/ 325903 h 1605023"/>
              <a:gd name="connsiteX157" fmla="*/ 2088528 w 10680562"/>
              <a:gd name="connsiteY157" fmla="*/ 311409 h 1605023"/>
              <a:gd name="connsiteX158" fmla="*/ 2090087 w 10680562"/>
              <a:gd name="connsiteY158" fmla="*/ 311676 h 1605023"/>
              <a:gd name="connsiteX159" fmla="*/ 2091700 w 10680562"/>
              <a:gd name="connsiteY159" fmla="*/ 307455 h 1605023"/>
              <a:gd name="connsiteX160" fmla="*/ 2096989 w 10680562"/>
              <a:gd name="connsiteY160" fmla="*/ 304649 h 1605023"/>
              <a:gd name="connsiteX161" fmla="*/ 2113325 w 10680562"/>
              <a:gd name="connsiteY161" fmla="*/ 302764 h 1605023"/>
              <a:gd name="connsiteX162" fmla="*/ 2119780 w 10680562"/>
              <a:gd name="connsiteY162" fmla="*/ 303007 h 1605023"/>
              <a:gd name="connsiteX163" fmla="*/ 2128562 w 10680562"/>
              <a:gd name="connsiteY163" fmla="*/ 301336 h 1605023"/>
              <a:gd name="connsiteX164" fmla="*/ 2128679 w 10680562"/>
              <a:gd name="connsiteY164" fmla="*/ 300991 h 1605023"/>
              <a:gd name="connsiteX165" fmla="*/ 2179558 w 10680562"/>
              <a:gd name="connsiteY165" fmla="*/ 299095 h 1605023"/>
              <a:gd name="connsiteX166" fmla="*/ 2223277 w 10680562"/>
              <a:gd name="connsiteY166" fmla="*/ 260239 h 1605023"/>
              <a:gd name="connsiteX167" fmla="*/ 2243644 w 10680562"/>
              <a:gd name="connsiteY167" fmla="*/ 251110 h 1605023"/>
              <a:gd name="connsiteX168" fmla="*/ 2253986 w 10680562"/>
              <a:gd name="connsiteY168" fmla="*/ 244616 h 1605023"/>
              <a:gd name="connsiteX169" fmla="*/ 2254285 w 10680562"/>
              <a:gd name="connsiteY169" fmla="*/ 243167 h 1605023"/>
              <a:gd name="connsiteX170" fmla="*/ 2295037 w 10680562"/>
              <a:gd name="connsiteY170" fmla="*/ 242433 h 1605023"/>
              <a:gd name="connsiteX171" fmla="*/ 2299648 w 10680562"/>
              <a:gd name="connsiteY171" fmla="*/ 239896 h 1605023"/>
              <a:gd name="connsiteX172" fmla="*/ 2327237 w 10680562"/>
              <a:gd name="connsiteY172" fmla="*/ 242539 h 1605023"/>
              <a:gd name="connsiteX173" fmla="*/ 2340943 w 10680562"/>
              <a:gd name="connsiteY173" fmla="*/ 242239 h 1605023"/>
              <a:gd name="connsiteX174" fmla="*/ 2345943 w 10680562"/>
              <a:gd name="connsiteY174" fmla="*/ 245589 h 1605023"/>
              <a:gd name="connsiteX175" fmla="*/ 2365602 w 10680562"/>
              <a:gd name="connsiteY175" fmla="*/ 243403 h 1605023"/>
              <a:gd name="connsiteX176" fmla="*/ 2367433 w 10680562"/>
              <a:gd name="connsiteY176" fmla="*/ 241858 h 1605023"/>
              <a:gd name="connsiteX177" fmla="*/ 2385231 w 10680562"/>
              <a:gd name="connsiteY177" fmla="*/ 244873 h 1605023"/>
              <a:gd name="connsiteX178" fmla="*/ 2402059 w 10680562"/>
              <a:gd name="connsiteY178" fmla="*/ 253223 h 1605023"/>
              <a:gd name="connsiteX179" fmla="*/ 2719020 w 10680562"/>
              <a:gd name="connsiteY179" fmla="*/ 235271 h 1605023"/>
              <a:gd name="connsiteX180" fmla="*/ 2877308 w 10680562"/>
              <a:gd name="connsiteY180" fmla="*/ 208630 h 1605023"/>
              <a:gd name="connsiteX181" fmla="*/ 3051375 w 10680562"/>
              <a:gd name="connsiteY181" fmla="*/ 154110 h 1605023"/>
              <a:gd name="connsiteX182" fmla="*/ 3104837 w 10680562"/>
              <a:gd name="connsiteY182" fmla="*/ 135199 h 1605023"/>
              <a:gd name="connsiteX183" fmla="*/ 3159836 w 10680562"/>
              <a:gd name="connsiteY183" fmla="*/ 142694 h 1605023"/>
              <a:gd name="connsiteX184" fmla="*/ 3177510 w 10680562"/>
              <a:gd name="connsiteY184" fmla="*/ 130186 h 1605023"/>
              <a:gd name="connsiteX185" fmla="*/ 3180470 w 10680562"/>
              <a:gd name="connsiteY185" fmla="*/ 127764 h 1605023"/>
              <a:gd name="connsiteX186" fmla="*/ 3194216 w 10680562"/>
              <a:gd name="connsiteY186" fmla="*/ 123837 h 1605023"/>
              <a:gd name="connsiteX187" fmla="*/ 3214710 w 10680562"/>
              <a:gd name="connsiteY187" fmla="*/ 104451 h 1605023"/>
              <a:gd name="connsiteX188" fmla="*/ 3240671 w 10680562"/>
              <a:gd name="connsiteY188" fmla="*/ 99232 h 1605023"/>
              <a:gd name="connsiteX189" fmla="*/ 3366544 w 10680562"/>
              <a:gd name="connsiteY189" fmla="*/ 82506 h 1605023"/>
              <a:gd name="connsiteX190" fmla="*/ 3440424 w 10680562"/>
              <a:gd name="connsiteY190" fmla="*/ 67891 h 1605023"/>
              <a:gd name="connsiteX191" fmla="*/ 3466248 w 10680562"/>
              <a:gd name="connsiteY191" fmla="*/ 55103 h 1605023"/>
              <a:gd name="connsiteX192" fmla="*/ 3503820 w 10680562"/>
              <a:gd name="connsiteY192" fmla="*/ 42110 h 1605023"/>
              <a:gd name="connsiteX193" fmla="*/ 3568389 w 10680562"/>
              <a:gd name="connsiteY193" fmla="*/ 13576 h 1605023"/>
              <a:gd name="connsiteX194" fmla="*/ 3604089 w 10680562"/>
              <a:gd name="connsiteY194" fmla="*/ 6980 h 16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680562" h="1605023">
                <a:moveTo>
                  <a:pt x="3617689" y="0"/>
                </a:moveTo>
                <a:lnTo>
                  <a:pt x="3635901" y="7738"/>
                </a:lnTo>
                <a:cubicBezTo>
                  <a:pt x="3636815" y="-13593"/>
                  <a:pt x="3674070" y="21953"/>
                  <a:pt x="3690891" y="7049"/>
                </a:cubicBezTo>
                <a:cubicBezTo>
                  <a:pt x="3723615" y="8082"/>
                  <a:pt x="3780877" y="7675"/>
                  <a:pt x="3832247" y="13937"/>
                </a:cubicBezTo>
                <a:cubicBezTo>
                  <a:pt x="3878761" y="52737"/>
                  <a:pt x="3960967" y="15082"/>
                  <a:pt x="3999111" y="44624"/>
                </a:cubicBezTo>
                <a:cubicBezTo>
                  <a:pt x="4011661" y="48427"/>
                  <a:pt x="4023440" y="49464"/>
                  <a:pt x="4034676" y="48775"/>
                </a:cubicBezTo>
                <a:lnTo>
                  <a:pt x="4065394" y="42879"/>
                </a:lnTo>
                <a:lnTo>
                  <a:pt x="4072648" y="33262"/>
                </a:lnTo>
                <a:lnTo>
                  <a:pt x="4092232" y="34026"/>
                </a:lnTo>
                <a:lnTo>
                  <a:pt x="4097470" y="32252"/>
                </a:lnTo>
                <a:cubicBezTo>
                  <a:pt x="4107476" y="28819"/>
                  <a:pt x="4117405" y="25741"/>
                  <a:pt x="4127488" y="24056"/>
                </a:cubicBezTo>
                <a:cubicBezTo>
                  <a:pt x="4122379" y="69900"/>
                  <a:pt x="4212421" y="17287"/>
                  <a:pt x="4190803" y="55685"/>
                </a:cubicBezTo>
                <a:cubicBezTo>
                  <a:pt x="4245322" y="54405"/>
                  <a:pt x="4210442" y="91290"/>
                  <a:pt x="4269333" y="54186"/>
                </a:cubicBezTo>
                <a:cubicBezTo>
                  <a:pt x="4360007" y="84494"/>
                  <a:pt x="4405441" y="66275"/>
                  <a:pt x="4481486" y="116915"/>
                </a:cubicBezTo>
                <a:cubicBezTo>
                  <a:pt x="4469366" y="96298"/>
                  <a:pt x="4624978" y="141388"/>
                  <a:pt x="4651418" y="150071"/>
                </a:cubicBezTo>
                <a:lnTo>
                  <a:pt x="4863575" y="175458"/>
                </a:lnTo>
                <a:cubicBezTo>
                  <a:pt x="4867452" y="182323"/>
                  <a:pt x="5007365" y="209256"/>
                  <a:pt x="5013635" y="213928"/>
                </a:cubicBezTo>
                <a:lnTo>
                  <a:pt x="5203044" y="228946"/>
                </a:lnTo>
                <a:lnTo>
                  <a:pt x="5207070" y="235105"/>
                </a:lnTo>
                <a:lnTo>
                  <a:pt x="5224253" y="240320"/>
                </a:lnTo>
                <a:lnTo>
                  <a:pt x="5256736" y="254811"/>
                </a:lnTo>
                <a:lnTo>
                  <a:pt x="5264095" y="253567"/>
                </a:lnTo>
                <a:lnTo>
                  <a:pt x="5315084" y="269264"/>
                </a:lnTo>
                <a:lnTo>
                  <a:pt x="5316393" y="267603"/>
                </a:lnTo>
                <a:cubicBezTo>
                  <a:pt x="5320500" y="264235"/>
                  <a:pt x="5325719" y="262424"/>
                  <a:pt x="5333427" y="263823"/>
                </a:cubicBezTo>
                <a:cubicBezTo>
                  <a:pt x="5330520" y="234164"/>
                  <a:pt x="5341605" y="254143"/>
                  <a:pt x="5364589" y="260882"/>
                </a:cubicBezTo>
                <a:cubicBezTo>
                  <a:pt x="5365199" y="216323"/>
                  <a:pt x="5425089" y="252089"/>
                  <a:pt x="5443973" y="230866"/>
                </a:cubicBezTo>
                <a:cubicBezTo>
                  <a:pt x="5460840" y="236821"/>
                  <a:pt x="5478689" y="242307"/>
                  <a:pt x="5497201" y="247023"/>
                </a:cubicBezTo>
                <a:lnTo>
                  <a:pt x="5508269" y="249256"/>
                </a:lnTo>
                <a:lnTo>
                  <a:pt x="5508636" y="248880"/>
                </a:lnTo>
                <a:cubicBezTo>
                  <a:pt x="5511356" y="248469"/>
                  <a:pt x="5515116" y="248867"/>
                  <a:pt x="5520606" y="250400"/>
                </a:cubicBezTo>
                <a:lnTo>
                  <a:pt x="5528451" y="253330"/>
                </a:lnTo>
                <a:lnTo>
                  <a:pt x="5549923" y="257662"/>
                </a:lnTo>
                <a:lnTo>
                  <a:pt x="5558295" y="256364"/>
                </a:lnTo>
                <a:lnTo>
                  <a:pt x="5664799" y="278924"/>
                </a:lnTo>
                <a:lnTo>
                  <a:pt x="5796160" y="307979"/>
                </a:lnTo>
                <a:lnTo>
                  <a:pt x="5897647" y="339431"/>
                </a:lnTo>
                <a:cubicBezTo>
                  <a:pt x="5894921" y="322560"/>
                  <a:pt x="5962532" y="357207"/>
                  <a:pt x="5978838" y="367970"/>
                </a:cubicBezTo>
                <a:cubicBezTo>
                  <a:pt x="6035145" y="375765"/>
                  <a:pt x="6006578" y="380813"/>
                  <a:pt x="6050367" y="386341"/>
                </a:cubicBezTo>
                <a:cubicBezTo>
                  <a:pt x="6051161" y="391932"/>
                  <a:pt x="6137489" y="380709"/>
                  <a:pt x="6140609" y="385135"/>
                </a:cubicBezTo>
                <a:cubicBezTo>
                  <a:pt x="6205928" y="424013"/>
                  <a:pt x="6248816" y="452185"/>
                  <a:pt x="6302950" y="448183"/>
                </a:cubicBezTo>
                <a:lnTo>
                  <a:pt x="6308533" y="448551"/>
                </a:lnTo>
                <a:lnTo>
                  <a:pt x="6340278" y="468555"/>
                </a:lnTo>
                <a:lnTo>
                  <a:pt x="6341685" y="467587"/>
                </a:lnTo>
                <a:cubicBezTo>
                  <a:pt x="6345560" y="465876"/>
                  <a:pt x="6349786" y="465470"/>
                  <a:pt x="6354862" y="467794"/>
                </a:cubicBezTo>
                <a:cubicBezTo>
                  <a:pt x="6361260" y="446013"/>
                  <a:pt x="6363438" y="462250"/>
                  <a:pt x="6377840" y="471024"/>
                </a:cubicBezTo>
                <a:cubicBezTo>
                  <a:pt x="6390990" y="439154"/>
                  <a:pt x="6423334" y="475084"/>
                  <a:pt x="6442804" y="463091"/>
                </a:cubicBezTo>
                <a:cubicBezTo>
                  <a:pt x="6453090" y="470255"/>
                  <a:pt x="6464204" y="477252"/>
                  <a:pt x="6476009" y="483807"/>
                </a:cubicBezTo>
                <a:lnTo>
                  <a:pt x="6483237" y="487308"/>
                </a:lnTo>
                <a:lnTo>
                  <a:pt x="6483605" y="487102"/>
                </a:lnTo>
                <a:cubicBezTo>
                  <a:pt x="6485654" y="487272"/>
                  <a:pt x="6488212" y="488201"/>
                  <a:pt x="6491673" y="490243"/>
                </a:cubicBezTo>
                <a:lnTo>
                  <a:pt x="6496411" y="493689"/>
                </a:lnTo>
                <a:lnTo>
                  <a:pt x="6510429" y="500479"/>
                </a:lnTo>
                <a:lnTo>
                  <a:pt x="6516750" y="500983"/>
                </a:lnTo>
                <a:cubicBezTo>
                  <a:pt x="6541864" y="496675"/>
                  <a:pt x="6554866" y="452619"/>
                  <a:pt x="6580199" y="483318"/>
                </a:cubicBezTo>
                <a:cubicBezTo>
                  <a:pt x="6622601" y="489571"/>
                  <a:pt x="6654587" y="470617"/>
                  <a:pt x="6690237" y="493051"/>
                </a:cubicBezTo>
                <a:cubicBezTo>
                  <a:pt x="6729957" y="498806"/>
                  <a:pt x="6766252" y="494451"/>
                  <a:pt x="6798356" y="506748"/>
                </a:cubicBezTo>
                <a:cubicBezTo>
                  <a:pt x="6813529" y="501270"/>
                  <a:pt x="6826992" y="500232"/>
                  <a:pt x="6837102" y="513677"/>
                </a:cubicBezTo>
                <a:cubicBezTo>
                  <a:pt x="6874837" y="515764"/>
                  <a:pt x="6887115" y="500833"/>
                  <a:pt x="6907934" y="517339"/>
                </a:cubicBezTo>
                <a:cubicBezTo>
                  <a:pt x="6934086" y="494196"/>
                  <a:pt x="6933260" y="504492"/>
                  <a:pt x="6941474" y="513632"/>
                </a:cubicBezTo>
                <a:lnTo>
                  <a:pt x="6942754" y="514394"/>
                </a:lnTo>
                <a:lnTo>
                  <a:pt x="6946363" y="511066"/>
                </a:lnTo>
                <a:lnTo>
                  <a:pt x="6952592" y="510252"/>
                </a:lnTo>
                <a:lnTo>
                  <a:pt x="6968398" y="513946"/>
                </a:lnTo>
                <a:lnTo>
                  <a:pt x="6974142" y="516310"/>
                </a:lnTo>
                <a:cubicBezTo>
                  <a:pt x="6978173" y="517574"/>
                  <a:pt x="6980948" y="517948"/>
                  <a:pt x="6982971" y="517694"/>
                </a:cubicBezTo>
                <a:lnTo>
                  <a:pt x="6983252" y="517416"/>
                </a:lnTo>
                <a:lnTo>
                  <a:pt x="6991400" y="519321"/>
                </a:lnTo>
                <a:cubicBezTo>
                  <a:pt x="7005004" y="523242"/>
                  <a:pt x="7018100" y="527732"/>
                  <a:pt x="7030460" y="532556"/>
                </a:cubicBezTo>
                <a:cubicBezTo>
                  <a:pt x="7044917" y="516932"/>
                  <a:pt x="7088472" y="545083"/>
                  <a:pt x="7089916" y="511503"/>
                </a:cubicBezTo>
                <a:cubicBezTo>
                  <a:pt x="7106785" y="517039"/>
                  <a:pt x="7114554" y="532321"/>
                  <a:pt x="7113059" y="509904"/>
                </a:cubicBezTo>
                <a:cubicBezTo>
                  <a:pt x="7118735" y="511110"/>
                  <a:pt x="7122641" y="509850"/>
                  <a:pt x="7125755" y="507393"/>
                </a:cubicBezTo>
                <a:lnTo>
                  <a:pt x="7126765" y="506166"/>
                </a:lnTo>
                <a:lnTo>
                  <a:pt x="7164175" y="519011"/>
                </a:lnTo>
                <a:lnTo>
                  <a:pt x="7169654" y="518219"/>
                </a:lnTo>
                <a:lnTo>
                  <a:pt x="7193386" y="529788"/>
                </a:lnTo>
                <a:lnTo>
                  <a:pt x="7205997" y="534060"/>
                </a:lnTo>
                <a:lnTo>
                  <a:pt x="7208842" y="538783"/>
                </a:lnTo>
                <a:cubicBezTo>
                  <a:pt x="7212314" y="541931"/>
                  <a:pt x="7217803" y="543928"/>
                  <a:pt x="7227817" y="543304"/>
                </a:cubicBezTo>
                <a:lnTo>
                  <a:pt x="7230267" y="542497"/>
                </a:lnTo>
                <a:lnTo>
                  <a:pt x="7244913" y="551160"/>
                </a:lnTo>
                <a:cubicBezTo>
                  <a:pt x="7249453" y="554807"/>
                  <a:pt x="7253253" y="559130"/>
                  <a:pt x="7255970" y="564383"/>
                </a:cubicBezTo>
                <a:cubicBezTo>
                  <a:pt x="7315146" y="548103"/>
                  <a:pt x="7361553" y="579076"/>
                  <a:pt x="7421156" y="584155"/>
                </a:cubicBezTo>
                <a:cubicBezTo>
                  <a:pt x="7465612" y="613750"/>
                  <a:pt x="7546249" y="613142"/>
                  <a:pt x="7553166" y="653085"/>
                </a:cubicBezTo>
                <a:cubicBezTo>
                  <a:pt x="7562552" y="609214"/>
                  <a:pt x="7673998" y="724531"/>
                  <a:pt x="7643092" y="662482"/>
                </a:cubicBezTo>
                <a:lnTo>
                  <a:pt x="7896429" y="689054"/>
                </a:lnTo>
                <a:cubicBezTo>
                  <a:pt x="7940867" y="662251"/>
                  <a:pt x="7914217" y="689365"/>
                  <a:pt x="7954620" y="689481"/>
                </a:cubicBezTo>
                <a:cubicBezTo>
                  <a:pt x="7937756" y="718000"/>
                  <a:pt x="8005608" y="680123"/>
                  <a:pt x="8000803" y="714583"/>
                </a:cubicBezTo>
                <a:cubicBezTo>
                  <a:pt x="8008309" y="713512"/>
                  <a:pt x="8015731" y="711389"/>
                  <a:pt x="8023216" y="709000"/>
                </a:cubicBezTo>
                <a:lnTo>
                  <a:pt x="8027136" y="707765"/>
                </a:lnTo>
                <a:lnTo>
                  <a:pt x="8041622" y="708731"/>
                </a:lnTo>
                <a:lnTo>
                  <a:pt x="8047209" y="701624"/>
                </a:lnTo>
                <a:lnTo>
                  <a:pt x="8070088" y="697789"/>
                </a:lnTo>
                <a:cubicBezTo>
                  <a:pt x="8078424" y="697492"/>
                  <a:pt x="8087123" y="698508"/>
                  <a:pt x="8096332" y="701624"/>
                </a:cubicBezTo>
                <a:cubicBezTo>
                  <a:pt x="8123926" y="724651"/>
                  <a:pt x="8185640" y="697894"/>
                  <a:pt x="8219225" y="728069"/>
                </a:cubicBezTo>
                <a:cubicBezTo>
                  <a:pt x="8232644" y="736562"/>
                  <a:pt x="8280723" y="746936"/>
                  <a:pt x="8293793" y="739200"/>
                </a:cubicBezTo>
                <a:cubicBezTo>
                  <a:pt x="8304636" y="739365"/>
                  <a:pt x="8314843" y="745516"/>
                  <a:pt x="8323753" y="736063"/>
                </a:cubicBezTo>
                <a:cubicBezTo>
                  <a:pt x="8336542" y="725164"/>
                  <a:pt x="8363344" y="752699"/>
                  <a:pt x="8364496" y="736635"/>
                </a:cubicBezTo>
                <a:cubicBezTo>
                  <a:pt x="8383724" y="755702"/>
                  <a:pt x="8414211" y="733717"/>
                  <a:pt x="8437662" y="731942"/>
                </a:cubicBezTo>
                <a:cubicBezTo>
                  <a:pt x="8451685" y="749699"/>
                  <a:pt x="8487061" y="728469"/>
                  <a:pt x="8533764" y="735554"/>
                </a:cubicBezTo>
                <a:cubicBezTo>
                  <a:pt x="8548878" y="755832"/>
                  <a:pt x="8565301" y="740114"/>
                  <a:pt x="8596769" y="769632"/>
                </a:cubicBezTo>
                <a:cubicBezTo>
                  <a:pt x="8598880" y="767829"/>
                  <a:pt x="8601326" y="766261"/>
                  <a:pt x="8604035" y="764982"/>
                </a:cubicBezTo>
                <a:cubicBezTo>
                  <a:pt x="8619777" y="757551"/>
                  <a:pt x="8640772" y="761213"/>
                  <a:pt x="8650929" y="773164"/>
                </a:cubicBezTo>
                <a:cubicBezTo>
                  <a:pt x="8702615" y="814545"/>
                  <a:pt x="8757170" y="823762"/>
                  <a:pt x="8806497" y="839707"/>
                </a:cubicBezTo>
                <a:cubicBezTo>
                  <a:pt x="8863157" y="854381"/>
                  <a:pt x="8833749" y="812347"/>
                  <a:pt x="8898377" y="854651"/>
                </a:cubicBezTo>
                <a:cubicBezTo>
                  <a:pt x="8909161" y="844048"/>
                  <a:pt x="8918437" y="845186"/>
                  <a:pt x="8932389" y="853846"/>
                </a:cubicBezTo>
                <a:cubicBezTo>
                  <a:pt x="8960146" y="860074"/>
                  <a:pt x="8965550" y="829338"/>
                  <a:pt x="8989288" y="852877"/>
                </a:cubicBezTo>
                <a:cubicBezTo>
                  <a:pt x="8988278" y="835633"/>
                  <a:pt x="9043995" y="856467"/>
                  <a:pt x="9035275" y="837110"/>
                </a:cubicBezTo>
                <a:cubicBezTo>
                  <a:pt x="9060165" y="838647"/>
                  <a:pt x="9108456" y="858499"/>
                  <a:pt x="9138626" y="862106"/>
                </a:cubicBezTo>
                <a:cubicBezTo>
                  <a:pt x="9165080" y="876547"/>
                  <a:pt x="9174888" y="860404"/>
                  <a:pt x="9216298" y="858754"/>
                </a:cubicBezTo>
                <a:cubicBezTo>
                  <a:pt x="9230418" y="871192"/>
                  <a:pt x="9244774" y="868822"/>
                  <a:pt x="9259941" y="861843"/>
                </a:cubicBezTo>
                <a:cubicBezTo>
                  <a:pt x="9297647" y="870955"/>
                  <a:pt x="9335980" y="863006"/>
                  <a:pt x="9380407" y="864825"/>
                </a:cubicBezTo>
                <a:cubicBezTo>
                  <a:pt x="9424338" y="883720"/>
                  <a:pt x="9443322" y="899138"/>
                  <a:pt x="9490772" y="901190"/>
                </a:cubicBezTo>
                <a:cubicBezTo>
                  <a:pt x="9530410" y="933396"/>
                  <a:pt x="9546422" y="928548"/>
                  <a:pt x="9584982" y="935980"/>
                </a:cubicBezTo>
                <a:cubicBezTo>
                  <a:pt x="9629819" y="954269"/>
                  <a:pt x="9718219" y="986435"/>
                  <a:pt x="9759797" y="1010923"/>
                </a:cubicBezTo>
                <a:cubicBezTo>
                  <a:pt x="9801376" y="1035410"/>
                  <a:pt x="9804503" y="1066293"/>
                  <a:pt x="9834455" y="1082908"/>
                </a:cubicBezTo>
                <a:cubicBezTo>
                  <a:pt x="9864406" y="1099522"/>
                  <a:pt x="9891608" y="1087791"/>
                  <a:pt x="9939504" y="1110614"/>
                </a:cubicBezTo>
                <a:cubicBezTo>
                  <a:pt x="9978150" y="1098522"/>
                  <a:pt x="10034187" y="1166580"/>
                  <a:pt x="10077001" y="1160906"/>
                </a:cubicBezTo>
                <a:cubicBezTo>
                  <a:pt x="10084861" y="1190721"/>
                  <a:pt x="10164307" y="1234884"/>
                  <a:pt x="10178431" y="1244920"/>
                </a:cubicBezTo>
                <a:cubicBezTo>
                  <a:pt x="10210316" y="1215779"/>
                  <a:pt x="10222273" y="1306394"/>
                  <a:pt x="10248658" y="1309335"/>
                </a:cubicBezTo>
                <a:lnTo>
                  <a:pt x="10414709" y="1388645"/>
                </a:lnTo>
                <a:cubicBezTo>
                  <a:pt x="10473963" y="1440373"/>
                  <a:pt x="10538857" y="1454568"/>
                  <a:pt x="10592469" y="1543828"/>
                </a:cubicBezTo>
                <a:cubicBezTo>
                  <a:pt x="10651538" y="1531501"/>
                  <a:pt x="10660082" y="1567462"/>
                  <a:pt x="10674941" y="1597388"/>
                </a:cubicBezTo>
                <a:lnTo>
                  <a:pt x="10680562" y="1605023"/>
                </a:lnTo>
                <a:lnTo>
                  <a:pt x="0" y="1605023"/>
                </a:lnTo>
                <a:lnTo>
                  <a:pt x="0" y="415048"/>
                </a:lnTo>
                <a:lnTo>
                  <a:pt x="9656" y="416044"/>
                </a:lnTo>
                <a:cubicBezTo>
                  <a:pt x="66794" y="420549"/>
                  <a:pt x="142962" y="423374"/>
                  <a:pt x="179196" y="423071"/>
                </a:cubicBezTo>
                <a:cubicBezTo>
                  <a:pt x="202136" y="418172"/>
                  <a:pt x="228694" y="392385"/>
                  <a:pt x="250912" y="408617"/>
                </a:cubicBezTo>
                <a:cubicBezTo>
                  <a:pt x="249389" y="392611"/>
                  <a:pt x="280512" y="416185"/>
                  <a:pt x="291375" y="403710"/>
                </a:cubicBezTo>
                <a:cubicBezTo>
                  <a:pt x="298635" y="393187"/>
                  <a:pt x="309770" y="397885"/>
                  <a:pt x="320542" y="396592"/>
                </a:cubicBezTo>
                <a:cubicBezTo>
                  <a:pt x="359051" y="397166"/>
                  <a:pt x="484339" y="405354"/>
                  <a:pt x="522426" y="407158"/>
                </a:cubicBezTo>
                <a:cubicBezTo>
                  <a:pt x="532069" y="408997"/>
                  <a:pt x="540856" y="408831"/>
                  <a:pt x="549068" y="407418"/>
                </a:cubicBezTo>
                <a:lnTo>
                  <a:pt x="571100" y="400562"/>
                </a:lnTo>
                <a:lnTo>
                  <a:pt x="575457" y="392801"/>
                </a:lnTo>
                <a:lnTo>
                  <a:pt x="589968" y="391807"/>
                </a:lnTo>
                <a:lnTo>
                  <a:pt x="593649" y="390062"/>
                </a:lnTo>
                <a:cubicBezTo>
                  <a:pt x="600667" y="386700"/>
                  <a:pt x="607669" y="383607"/>
                  <a:pt x="614928" y="381544"/>
                </a:cubicBezTo>
                <a:cubicBezTo>
                  <a:pt x="636416" y="381988"/>
                  <a:pt x="667253" y="387671"/>
                  <a:pt x="722580" y="392722"/>
                </a:cubicBezTo>
                <a:cubicBezTo>
                  <a:pt x="792539" y="408114"/>
                  <a:pt x="885615" y="380106"/>
                  <a:pt x="946884" y="411854"/>
                </a:cubicBezTo>
                <a:cubicBezTo>
                  <a:pt x="1028270" y="418469"/>
                  <a:pt x="1139077" y="429433"/>
                  <a:pt x="1210905" y="432414"/>
                </a:cubicBezTo>
                <a:cubicBezTo>
                  <a:pt x="1270803" y="429423"/>
                  <a:pt x="1321921" y="453757"/>
                  <a:pt x="1377854" y="429745"/>
                </a:cubicBezTo>
                <a:cubicBezTo>
                  <a:pt x="1381419" y="434564"/>
                  <a:pt x="1385901" y="438319"/>
                  <a:pt x="1391004" y="441307"/>
                </a:cubicBezTo>
                <a:lnTo>
                  <a:pt x="1406953" y="447889"/>
                </a:lnTo>
                <a:lnTo>
                  <a:pt x="1409246" y="446765"/>
                </a:lnTo>
                <a:cubicBezTo>
                  <a:pt x="1419066" y="444804"/>
                  <a:pt x="1424836" y="446037"/>
                  <a:pt x="1428800" y="448677"/>
                </a:cubicBezTo>
                <a:lnTo>
                  <a:pt x="1432402" y="452956"/>
                </a:lnTo>
                <a:lnTo>
                  <a:pt x="1606578" y="430870"/>
                </a:lnTo>
                <a:cubicBezTo>
                  <a:pt x="1619625" y="433971"/>
                  <a:pt x="1633347" y="436643"/>
                  <a:pt x="1647476" y="438687"/>
                </a:cubicBezTo>
                <a:lnTo>
                  <a:pt x="1655866" y="439472"/>
                </a:lnTo>
                <a:lnTo>
                  <a:pt x="1656096" y="439162"/>
                </a:lnTo>
                <a:cubicBezTo>
                  <a:pt x="1658061" y="438636"/>
                  <a:pt x="1666503" y="411823"/>
                  <a:pt x="1670708" y="412530"/>
                </a:cubicBezTo>
                <a:lnTo>
                  <a:pt x="1737953" y="399496"/>
                </a:lnTo>
                <a:lnTo>
                  <a:pt x="1848192" y="376032"/>
                </a:lnTo>
                <a:cubicBezTo>
                  <a:pt x="1887458" y="368088"/>
                  <a:pt x="1918458" y="352092"/>
                  <a:pt x="1954077" y="352621"/>
                </a:cubicBezTo>
                <a:cubicBezTo>
                  <a:pt x="1965180" y="342609"/>
                  <a:pt x="1976973" y="337201"/>
                  <a:pt x="1993047" y="346068"/>
                </a:cubicBezTo>
                <a:cubicBezTo>
                  <a:pt x="2028636" y="335449"/>
                  <a:pt x="2032293" y="317806"/>
                  <a:pt x="2059719" y="325903"/>
                </a:cubicBezTo>
                <a:cubicBezTo>
                  <a:pt x="2071905" y="296194"/>
                  <a:pt x="2076373" y="305826"/>
                  <a:pt x="2088528" y="311409"/>
                </a:cubicBezTo>
                <a:lnTo>
                  <a:pt x="2090087" y="311676"/>
                </a:lnTo>
                <a:lnTo>
                  <a:pt x="2091700" y="307455"/>
                </a:lnTo>
                <a:lnTo>
                  <a:pt x="2096989" y="304649"/>
                </a:lnTo>
                <a:lnTo>
                  <a:pt x="2113325" y="302764"/>
                </a:lnTo>
                <a:lnTo>
                  <a:pt x="2119780" y="303007"/>
                </a:lnTo>
                <a:cubicBezTo>
                  <a:pt x="2124111" y="302819"/>
                  <a:pt x="2126840" y="302239"/>
                  <a:pt x="2128562" y="301336"/>
                </a:cubicBezTo>
                <a:cubicBezTo>
                  <a:pt x="2128600" y="301221"/>
                  <a:pt x="2128640" y="301107"/>
                  <a:pt x="2128679" y="300991"/>
                </a:cubicBezTo>
                <a:lnTo>
                  <a:pt x="2179558" y="299095"/>
                </a:lnTo>
                <a:cubicBezTo>
                  <a:pt x="2184857" y="280099"/>
                  <a:pt x="2238998" y="291238"/>
                  <a:pt x="2223277" y="260239"/>
                </a:cubicBezTo>
                <a:cubicBezTo>
                  <a:pt x="2241523" y="259676"/>
                  <a:pt x="2256386" y="270988"/>
                  <a:pt x="2243644" y="251110"/>
                </a:cubicBezTo>
                <a:cubicBezTo>
                  <a:pt x="2249448" y="250324"/>
                  <a:pt x="2252382" y="247882"/>
                  <a:pt x="2253986" y="244616"/>
                </a:cubicBezTo>
                <a:lnTo>
                  <a:pt x="2254285" y="243167"/>
                </a:lnTo>
                <a:lnTo>
                  <a:pt x="2295037" y="242433"/>
                </a:lnTo>
                <a:lnTo>
                  <a:pt x="2299648" y="239896"/>
                </a:lnTo>
                <a:lnTo>
                  <a:pt x="2327237" y="242539"/>
                </a:lnTo>
                <a:lnTo>
                  <a:pt x="2340943" y="242239"/>
                </a:lnTo>
                <a:lnTo>
                  <a:pt x="2345943" y="245589"/>
                </a:lnTo>
                <a:cubicBezTo>
                  <a:pt x="2350718" y="247299"/>
                  <a:pt x="2356754" y="247292"/>
                  <a:pt x="2365602" y="243403"/>
                </a:cubicBezTo>
                <a:lnTo>
                  <a:pt x="2367433" y="241858"/>
                </a:lnTo>
                <a:lnTo>
                  <a:pt x="2385231" y="244873"/>
                </a:lnTo>
                <a:cubicBezTo>
                  <a:pt x="2391237" y="246682"/>
                  <a:pt x="2396907" y="249351"/>
                  <a:pt x="2402059" y="253223"/>
                </a:cubicBezTo>
                <a:cubicBezTo>
                  <a:pt x="2457690" y="251623"/>
                  <a:pt x="2639813" y="242704"/>
                  <a:pt x="2719020" y="235271"/>
                </a:cubicBezTo>
                <a:cubicBezTo>
                  <a:pt x="2762954" y="229515"/>
                  <a:pt x="2821915" y="222156"/>
                  <a:pt x="2877308" y="208630"/>
                </a:cubicBezTo>
                <a:cubicBezTo>
                  <a:pt x="2947949" y="226393"/>
                  <a:pt x="2978035" y="153757"/>
                  <a:pt x="3051375" y="154110"/>
                </a:cubicBezTo>
                <a:cubicBezTo>
                  <a:pt x="3078434" y="115011"/>
                  <a:pt x="3067807" y="148493"/>
                  <a:pt x="3104837" y="135199"/>
                </a:cubicBezTo>
                <a:cubicBezTo>
                  <a:pt x="3103880" y="166713"/>
                  <a:pt x="3146743" y="109780"/>
                  <a:pt x="3159836" y="142694"/>
                </a:cubicBezTo>
                <a:cubicBezTo>
                  <a:pt x="3166160" y="139232"/>
                  <a:pt x="3171875" y="134841"/>
                  <a:pt x="3177510" y="130186"/>
                </a:cubicBezTo>
                <a:lnTo>
                  <a:pt x="3180470" y="127764"/>
                </a:lnTo>
                <a:lnTo>
                  <a:pt x="3194216" y="123837"/>
                </a:lnTo>
                <a:lnTo>
                  <a:pt x="3214710" y="104451"/>
                </a:lnTo>
                <a:cubicBezTo>
                  <a:pt x="3222186" y="101416"/>
                  <a:pt x="3230663" y="99454"/>
                  <a:pt x="3240671" y="99232"/>
                </a:cubicBezTo>
                <a:cubicBezTo>
                  <a:pt x="3277606" y="111009"/>
                  <a:pt x="3320498" y="66221"/>
                  <a:pt x="3366544" y="82506"/>
                </a:cubicBezTo>
                <a:cubicBezTo>
                  <a:pt x="3383134" y="85775"/>
                  <a:pt x="3432393" y="79256"/>
                  <a:pt x="3440424" y="67891"/>
                </a:cubicBezTo>
                <a:cubicBezTo>
                  <a:pt x="3450432" y="64444"/>
                  <a:pt x="3462892" y="66649"/>
                  <a:pt x="3466248" y="55103"/>
                </a:cubicBezTo>
                <a:cubicBezTo>
                  <a:pt x="3472418" y="40954"/>
                  <a:pt x="3510917" y="57092"/>
                  <a:pt x="3503820" y="42110"/>
                </a:cubicBezTo>
                <a:lnTo>
                  <a:pt x="3568389" y="13576"/>
                </a:lnTo>
                <a:cubicBezTo>
                  <a:pt x="3579310" y="19318"/>
                  <a:pt x="3590168" y="14433"/>
                  <a:pt x="3604089" y="698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braz 5">
            <a:extLst>
              <a:ext uri="{FF2B5EF4-FFF2-40B4-BE49-F238E27FC236}">
                <a16:creationId xmlns:a16="http://schemas.microsoft.com/office/drawing/2014/main" id="{C9A5804F-C143-D246-60C0-C02AF1245F59}"/>
              </a:ext>
            </a:extLst>
          </p:cNvPr>
          <p:cNvPicPr>
            <a:picLocks noChangeAspect="1"/>
          </p:cNvPicPr>
          <p:nvPr/>
        </p:nvPicPr>
        <p:blipFill>
          <a:blip r:embed="rId3"/>
          <a:stretch>
            <a:fillRect/>
          </a:stretch>
        </p:blipFill>
        <p:spPr>
          <a:xfrm>
            <a:off x="9247296" y="532300"/>
            <a:ext cx="2616819" cy="3647133"/>
          </a:xfrm>
          <a:prstGeom prst="rect">
            <a:avLst/>
          </a:prstGeom>
        </p:spPr>
      </p:pic>
      <p:pic>
        <p:nvPicPr>
          <p:cNvPr id="5" name="Obraz 4">
            <a:extLst>
              <a:ext uri="{FF2B5EF4-FFF2-40B4-BE49-F238E27FC236}">
                <a16:creationId xmlns:a16="http://schemas.microsoft.com/office/drawing/2014/main" id="{A3E7B579-3BAF-0B9A-7BF2-ECF5D6434308}"/>
              </a:ext>
            </a:extLst>
          </p:cNvPr>
          <p:cNvPicPr>
            <a:picLocks noChangeAspect="1"/>
          </p:cNvPicPr>
          <p:nvPr/>
        </p:nvPicPr>
        <p:blipFill>
          <a:blip r:embed="rId4"/>
          <a:stretch>
            <a:fillRect/>
          </a:stretch>
        </p:blipFill>
        <p:spPr>
          <a:xfrm>
            <a:off x="1657487" y="3111667"/>
            <a:ext cx="4544059" cy="657317"/>
          </a:xfrm>
          <a:prstGeom prst="rect">
            <a:avLst/>
          </a:prstGeom>
        </p:spPr>
      </p:pic>
      <p:pic>
        <p:nvPicPr>
          <p:cNvPr id="8" name="Obraz 7">
            <a:extLst>
              <a:ext uri="{FF2B5EF4-FFF2-40B4-BE49-F238E27FC236}">
                <a16:creationId xmlns:a16="http://schemas.microsoft.com/office/drawing/2014/main" id="{D9936817-0BC7-8A22-37F5-DBCC496DC223}"/>
              </a:ext>
            </a:extLst>
          </p:cNvPr>
          <p:cNvPicPr>
            <a:picLocks noChangeAspect="1"/>
          </p:cNvPicPr>
          <p:nvPr/>
        </p:nvPicPr>
        <p:blipFill>
          <a:blip r:embed="rId5"/>
          <a:stretch>
            <a:fillRect/>
          </a:stretch>
        </p:blipFill>
        <p:spPr>
          <a:xfrm>
            <a:off x="690564" y="4894690"/>
            <a:ext cx="3238952" cy="1505160"/>
          </a:xfrm>
          <a:prstGeom prst="rect">
            <a:avLst/>
          </a:prstGeom>
          <a:effectLst>
            <a:softEdge rad="63500"/>
          </a:effectLst>
        </p:spPr>
      </p:pic>
      <p:pic>
        <p:nvPicPr>
          <p:cNvPr id="10" name="Obraz 9">
            <a:extLst>
              <a:ext uri="{FF2B5EF4-FFF2-40B4-BE49-F238E27FC236}">
                <a16:creationId xmlns:a16="http://schemas.microsoft.com/office/drawing/2014/main" id="{BA903B3C-257B-C2AE-10D1-E78BBE29A97B}"/>
              </a:ext>
            </a:extLst>
          </p:cNvPr>
          <p:cNvPicPr>
            <a:picLocks noChangeAspect="1"/>
          </p:cNvPicPr>
          <p:nvPr/>
        </p:nvPicPr>
        <p:blipFill>
          <a:blip r:embed="rId6"/>
          <a:stretch>
            <a:fillRect/>
          </a:stretch>
        </p:blipFill>
        <p:spPr>
          <a:xfrm>
            <a:off x="4992096" y="4789033"/>
            <a:ext cx="5551242" cy="1211181"/>
          </a:xfrm>
          <a:prstGeom prst="rect">
            <a:avLst/>
          </a:prstGeom>
        </p:spPr>
      </p:pic>
      <p:sp>
        <p:nvSpPr>
          <p:cNvPr id="3" name="Symbol zastępczy zawartości 2">
            <a:extLst>
              <a:ext uri="{FF2B5EF4-FFF2-40B4-BE49-F238E27FC236}">
                <a16:creationId xmlns:a16="http://schemas.microsoft.com/office/drawing/2014/main" id="{BA0E7BFE-1CFF-E931-3B60-0875F2A86347}"/>
              </a:ext>
            </a:extLst>
          </p:cNvPr>
          <p:cNvSpPr>
            <a:spLocks noGrp="1"/>
          </p:cNvSpPr>
          <p:nvPr>
            <p:ph idx="1"/>
          </p:nvPr>
        </p:nvSpPr>
        <p:spPr>
          <a:xfrm>
            <a:off x="1011935" y="1823745"/>
            <a:ext cx="6755782" cy="1635613"/>
          </a:xfrm>
        </p:spPr>
        <p:txBody>
          <a:bodyPr>
            <a:normAutofit/>
          </a:bodyPr>
          <a:lstStyle/>
          <a:p>
            <a:pPr marL="0" indent="0">
              <a:buNone/>
            </a:pPr>
            <a:r>
              <a:rPr lang="pl-PL" sz="2000" dirty="0"/>
              <a:t>Metoda W-H wyróżnia się tym, że uwzględnia wszystkie parametry zarówno wielkość krystalitu - przesunięcie się piku - jak i odkształcenia sieci krystalicznej powodujące poszerzanie się pików. Tutaj FWHM jest oznaczone przez </a:t>
            </a:r>
            <a:r>
              <a:rPr lang="el-GR" sz="2000" dirty="0"/>
              <a:t>β</a:t>
            </a:r>
            <a:r>
              <a:rPr lang="pl-PL" sz="2000" dirty="0"/>
              <a:t>.</a:t>
            </a:r>
          </a:p>
          <a:p>
            <a:pPr marL="0" indent="0">
              <a:buNone/>
            </a:pPr>
            <a:endParaRPr lang="pl-PL" sz="2000" dirty="0"/>
          </a:p>
          <a:p>
            <a:pPr marL="0" indent="0">
              <a:buNone/>
            </a:pPr>
            <a:endParaRPr lang="pl-PL" sz="2000" dirty="0"/>
          </a:p>
        </p:txBody>
      </p:sp>
      <p:sp>
        <p:nvSpPr>
          <p:cNvPr id="12" name="pole tekstowe 11">
            <a:extLst>
              <a:ext uri="{FF2B5EF4-FFF2-40B4-BE49-F238E27FC236}">
                <a16:creationId xmlns:a16="http://schemas.microsoft.com/office/drawing/2014/main" id="{0507B530-1B30-9C31-C49D-727AB56AE2D3}"/>
              </a:ext>
            </a:extLst>
          </p:cNvPr>
          <p:cNvSpPr txBox="1"/>
          <p:nvPr/>
        </p:nvSpPr>
        <p:spPr>
          <a:xfrm>
            <a:off x="1011935" y="3707662"/>
            <a:ext cx="7299685" cy="923330"/>
          </a:xfrm>
          <a:prstGeom prst="rect">
            <a:avLst/>
          </a:prstGeom>
          <a:noFill/>
        </p:spPr>
        <p:txBody>
          <a:bodyPr wrap="square">
            <a:spAutoFit/>
          </a:bodyPr>
          <a:lstStyle/>
          <a:p>
            <a:pPr marL="0" indent="0">
              <a:buNone/>
            </a:pPr>
            <a:r>
              <a:rPr lang="pl-PL" sz="1800" dirty="0"/>
              <a:t>Najczęściej stosowaną formą metody W-H jest model jednolitego odkształcenia – UDM, gdzie wielkość krystalitu i odkształcenie sieci przedstawiają równania: </a:t>
            </a:r>
          </a:p>
        </p:txBody>
      </p:sp>
    </p:spTree>
    <p:extLst>
      <p:ext uri="{BB962C8B-B14F-4D97-AF65-F5344CB8AC3E}">
        <p14:creationId xmlns:p14="http://schemas.microsoft.com/office/powerpoint/2010/main" val="1267542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899AA6-4DBC-5F3E-50AA-2DEB7B87E1EF}"/>
            </a:ext>
          </a:extLst>
        </p:cNvPr>
        <p:cNvGrpSpPr/>
        <p:nvPr/>
      </p:nvGrpSpPr>
      <p:grpSpPr>
        <a:xfrm>
          <a:off x="0" y="0"/>
          <a:ext cx="0" cy="0"/>
          <a:chOff x="0" y="0"/>
          <a:chExt cx="0" cy="0"/>
        </a:xfrm>
      </p:grpSpPr>
      <p:sp useBgFill="1">
        <p:nvSpPr>
          <p:cNvPr id="21" name="Rectangle 10">
            <a:extLst>
              <a:ext uri="{FF2B5EF4-FFF2-40B4-BE49-F238E27FC236}">
                <a16:creationId xmlns:a16="http://schemas.microsoft.com/office/drawing/2014/main" id="{EBAA489E-3696-15CA-CAF5-B7433E575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084C8C6-B52F-6737-C526-D8EB65955CD2}"/>
              </a:ext>
            </a:extLst>
          </p:cNvPr>
          <p:cNvSpPr>
            <a:spLocks noGrp="1"/>
          </p:cNvSpPr>
          <p:nvPr>
            <p:ph type="title"/>
          </p:nvPr>
        </p:nvSpPr>
        <p:spPr>
          <a:xfrm>
            <a:off x="859669" y="609600"/>
            <a:ext cx="7782377" cy="1322887"/>
          </a:xfrm>
        </p:spPr>
        <p:txBody>
          <a:bodyPr>
            <a:normAutofit/>
          </a:bodyPr>
          <a:lstStyle/>
          <a:p>
            <a:r>
              <a:rPr lang="pl-PL" dirty="0"/>
              <a:t>Metoda </a:t>
            </a:r>
            <a:r>
              <a:rPr lang="pl-PL" dirty="0" err="1"/>
              <a:t>Williamsona</a:t>
            </a:r>
            <a:r>
              <a:rPr lang="pl-PL" dirty="0"/>
              <a:t>-Halla (W-H)</a:t>
            </a:r>
          </a:p>
        </p:txBody>
      </p:sp>
      <p:sp>
        <p:nvSpPr>
          <p:cNvPr id="22" name="Freeform: Shape 12">
            <a:extLst>
              <a:ext uri="{FF2B5EF4-FFF2-40B4-BE49-F238E27FC236}">
                <a16:creationId xmlns:a16="http://schemas.microsoft.com/office/drawing/2014/main" id="{37A44ABE-3AF3-0CD1-DCF2-6F293BBB3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89924" y="2"/>
            <a:ext cx="7602076" cy="470844"/>
          </a:xfrm>
          <a:custGeom>
            <a:avLst/>
            <a:gdLst>
              <a:gd name="connsiteX0" fmla="*/ 9683888 w 9683888"/>
              <a:gd name="connsiteY0" fmla="*/ 0 h 743457"/>
              <a:gd name="connsiteX1" fmla="*/ 0 w 9683888"/>
              <a:gd name="connsiteY1" fmla="*/ 0 h 743457"/>
              <a:gd name="connsiteX2" fmla="*/ 0 w 9683888"/>
              <a:gd name="connsiteY2" fmla="*/ 365878 h 743457"/>
              <a:gd name="connsiteX3" fmla="*/ 11844 w 9683888"/>
              <a:gd name="connsiteY3" fmla="*/ 367909 h 743457"/>
              <a:gd name="connsiteX4" fmla="*/ 106208 w 9683888"/>
              <a:gd name="connsiteY4" fmla="*/ 385974 h 743457"/>
              <a:gd name="connsiteX5" fmla="*/ 183667 w 9683888"/>
              <a:gd name="connsiteY5" fmla="*/ 399162 h 743457"/>
              <a:gd name="connsiteX6" fmla="*/ 292430 w 9683888"/>
              <a:gd name="connsiteY6" fmla="*/ 390408 h 743457"/>
              <a:gd name="connsiteX7" fmla="*/ 386942 w 9683888"/>
              <a:gd name="connsiteY7" fmla="*/ 395582 h 743457"/>
              <a:gd name="connsiteX8" fmla="*/ 485751 w 9683888"/>
              <a:gd name="connsiteY8" fmla="*/ 408404 h 743457"/>
              <a:gd name="connsiteX9" fmla="*/ 604107 w 9683888"/>
              <a:gd name="connsiteY9" fmla="*/ 418647 h 743457"/>
              <a:gd name="connsiteX10" fmla="*/ 694081 w 9683888"/>
              <a:gd name="connsiteY10" fmla="*/ 449524 h 743457"/>
              <a:gd name="connsiteX11" fmla="*/ 762452 w 9683888"/>
              <a:gd name="connsiteY11" fmla="*/ 456090 h 743457"/>
              <a:gd name="connsiteX12" fmla="*/ 987872 w 9683888"/>
              <a:gd name="connsiteY12" fmla="*/ 481862 h 743457"/>
              <a:gd name="connsiteX13" fmla="*/ 1077163 w 9683888"/>
              <a:gd name="connsiteY13" fmla="*/ 524467 h 743457"/>
              <a:gd name="connsiteX14" fmla="*/ 1258716 w 9683888"/>
              <a:gd name="connsiteY14" fmla="*/ 587975 h 743457"/>
              <a:gd name="connsiteX15" fmla="*/ 1298056 w 9683888"/>
              <a:gd name="connsiteY15" fmla="*/ 595413 h 743457"/>
              <a:gd name="connsiteX16" fmla="*/ 1327017 w 9683888"/>
              <a:gd name="connsiteY16" fmla="*/ 617412 h 743457"/>
              <a:gd name="connsiteX17" fmla="*/ 1347909 w 9683888"/>
              <a:gd name="connsiteY17" fmla="*/ 620209 h 743457"/>
              <a:gd name="connsiteX18" fmla="*/ 1421792 w 9683888"/>
              <a:gd name="connsiteY18" fmla="*/ 626139 h 743457"/>
              <a:gd name="connsiteX19" fmla="*/ 1519789 w 9683888"/>
              <a:gd name="connsiteY19" fmla="*/ 645011 h 743457"/>
              <a:gd name="connsiteX20" fmla="*/ 1620886 w 9683888"/>
              <a:gd name="connsiteY20" fmla="*/ 687715 h 743457"/>
              <a:gd name="connsiteX21" fmla="*/ 1676745 w 9683888"/>
              <a:gd name="connsiteY21" fmla="*/ 690130 h 743457"/>
              <a:gd name="connsiteX22" fmla="*/ 1832228 w 9683888"/>
              <a:gd name="connsiteY22" fmla="*/ 690860 h 743457"/>
              <a:gd name="connsiteX23" fmla="*/ 1980464 w 9683888"/>
              <a:gd name="connsiteY23" fmla="*/ 704858 h 743457"/>
              <a:gd name="connsiteX24" fmla="*/ 2051150 w 9683888"/>
              <a:gd name="connsiteY24" fmla="*/ 711187 h 743457"/>
              <a:gd name="connsiteX25" fmla="*/ 2162824 w 9683888"/>
              <a:gd name="connsiteY25" fmla="*/ 709178 h 743457"/>
              <a:gd name="connsiteX26" fmla="*/ 2259859 w 9683888"/>
              <a:gd name="connsiteY26" fmla="*/ 718188 h 743457"/>
              <a:gd name="connsiteX27" fmla="*/ 2378290 w 9683888"/>
              <a:gd name="connsiteY27" fmla="*/ 738748 h 743457"/>
              <a:gd name="connsiteX28" fmla="*/ 2407828 w 9683888"/>
              <a:gd name="connsiteY28" fmla="*/ 743457 h 743457"/>
              <a:gd name="connsiteX29" fmla="*/ 2428936 w 9683888"/>
              <a:gd name="connsiteY29" fmla="*/ 734697 h 743457"/>
              <a:gd name="connsiteX30" fmla="*/ 2646106 w 9683888"/>
              <a:gd name="connsiteY30" fmla="*/ 660204 h 743457"/>
              <a:gd name="connsiteX31" fmla="*/ 2799920 w 9683888"/>
              <a:gd name="connsiteY31" fmla="*/ 630451 h 743457"/>
              <a:gd name="connsiteX32" fmla="*/ 2953556 w 9683888"/>
              <a:gd name="connsiteY32" fmla="*/ 607173 h 743457"/>
              <a:gd name="connsiteX33" fmla="*/ 3009839 w 9683888"/>
              <a:gd name="connsiteY33" fmla="*/ 601743 h 743457"/>
              <a:gd name="connsiteX34" fmla="*/ 3115016 w 9683888"/>
              <a:gd name="connsiteY34" fmla="*/ 584982 h 743457"/>
              <a:gd name="connsiteX35" fmla="*/ 3185844 w 9683888"/>
              <a:gd name="connsiteY35" fmla="*/ 595356 h 743457"/>
              <a:gd name="connsiteX36" fmla="*/ 3246013 w 9683888"/>
              <a:gd name="connsiteY36" fmla="*/ 592418 h 743457"/>
              <a:gd name="connsiteX37" fmla="*/ 3313565 w 9683888"/>
              <a:gd name="connsiteY37" fmla="*/ 574138 h 743457"/>
              <a:gd name="connsiteX38" fmla="*/ 3414143 w 9683888"/>
              <a:gd name="connsiteY38" fmla="*/ 553730 h 743457"/>
              <a:gd name="connsiteX39" fmla="*/ 3552895 w 9683888"/>
              <a:gd name="connsiteY39" fmla="*/ 548563 h 743457"/>
              <a:gd name="connsiteX40" fmla="*/ 3753012 w 9683888"/>
              <a:gd name="connsiteY40" fmla="*/ 599520 h 743457"/>
              <a:gd name="connsiteX41" fmla="*/ 3804392 w 9683888"/>
              <a:gd name="connsiteY41" fmla="*/ 604131 h 743457"/>
              <a:gd name="connsiteX42" fmla="*/ 3916696 w 9683888"/>
              <a:gd name="connsiteY42" fmla="*/ 606540 h 743457"/>
              <a:gd name="connsiteX43" fmla="*/ 4063849 w 9683888"/>
              <a:gd name="connsiteY43" fmla="*/ 604058 h 743457"/>
              <a:gd name="connsiteX44" fmla="*/ 4172179 w 9683888"/>
              <a:gd name="connsiteY44" fmla="*/ 592355 h 743457"/>
              <a:gd name="connsiteX45" fmla="*/ 4276294 w 9683888"/>
              <a:gd name="connsiteY45" fmla="*/ 587119 h 743457"/>
              <a:gd name="connsiteX46" fmla="*/ 4411090 w 9683888"/>
              <a:gd name="connsiteY46" fmla="*/ 575600 h 743457"/>
              <a:gd name="connsiteX47" fmla="*/ 4540465 w 9683888"/>
              <a:gd name="connsiteY47" fmla="*/ 567464 h 743457"/>
              <a:gd name="connsiteX48" fmla="*/ 4545352 w 9683888"/>
              <a:gd name="connsiteY48" fmla="*/ 555554 h 743457"/>
              <a:gd name="connsiteX49" fmla="*/ 4564014 w 9683888"/>
              <a:gd name="connsiteY49" fmla="*/ 553660 h 743457"/>
              <a:gd name="connsiteX50" fmla="*/ 4568602 w 9683888"/>
              <a:gd name="connsiteY50" fmla="*/ 550913 h 743457"/>
              <a:gd name="connsiteX51" fmla="*/ 4595289 w 9683888"/>
              <a:gd name="connsiteY51" fmla="*/ 537407 h 743457"/>
              <a:gd name="connsiteX52" fmla="*/ 4739026 w 9683888"/>
              <a:gd name="connsiteY52" fmla="*/ 532483 h 743457"/>
              <a:gd name="connsiteX53" fmla="*/ 5061335 w 9683888"/>
              <a:gd name="connsiteY53" fmla="*/ 545635 h 743457"/>
              <a:gd name="connsiteX54" fmla="*/ 5338634 w 9683888"/>
              <a:gd name="connsiteY54" fmla="*/ 595754 h 743457"/>
              <a:gd name="connsiteX55" fmla="*/ 5529430 w 9683888"/>
              <a:gd name="connsiteY55" fmla="*/ 606335 h 743457"/>
              <a:gd name="connsiteX56" fmla="*/ 5604039 w 9683888"/>
              <a:gd name="connsiteY56" fmla="*/ 607676 h 743457"/>
              <a:gd name="connsiteX57" fmla="*/ 5625281 w 9683888"/>
              <a:gd name="connsiteY57" fmla="*/ 617253 h 743457"/>
              <a:gd name="connsiteX58" fmla="*/ 5628138 w 9683888"/>
              <a:gd name="connsiteY58" fmla="*/ 615483 h 743457"/>
              <a:gd name="connsiteX59" fmla="*/ 5653593 w 9683888"/>
              <a:gd name="connsiteY59" fmla="*/ 617873 h 743457"/>
              <a:gd name="connsiteX60" fmla="*/ 5658658 w 9683888"/>
              <a:gd name="connsiteY60" fmla="*/ 624279 h 743457"/>
              <a:gd name="connsiteX61" fmla="*/ 5675963 w 9683888"/>
              <a:gd name="connsiteY61" fmla="*/ 627762 h 743457"/>
              <a:gd name="connsiteX62" fmla="*/ 5709625 w 9683888"/>
              <a:gd name="connsiteY62" fmla="*/ 639593 h 743457"/>
              <a:gd name="connsiteX63" fmla="*/ 5716324 w 9683888"/>
              <a:gd name="connsiteY63" fmla="*/ 637148 h 743457"/>
              <a:gd name="connsiteX64" fmla="*/ 5767720 w 9683888"/>
              <a:gd name="connsiteY64" fmla="*/ 647737 h 743457"/>
              <a:gd name="connsiteX65" fmla="*/ 5768619 w 9683888"/>
              <a:gd name="connsiteY65" fmla="*/ 645671 h 743457"/>
              <a:gd name="connsiteX66" fmla="*/ 5858696 w 9683888"/>
              <a:gd name="connsiteY66" fmla="*/ 628099 h 743457"/>
              <a:gd name="connsiteX67" fmla="*/ 5935260 w 9683888"/>
              <a:gd name="connsiteY67" fmla="*/ 596904 h 743457"/>
              <a:gd name="connsiteX68" fmla="*/ 5946176 w 9683888"/>
              <a:gd name="connsiteY68" fmla="*/ 597874 h 743457"/>
              <a:gd name="connsiteX69" fmla="*/ 5946447 w 9683888"/>
              <a:gd name="connsiteY69" fmla="*/ 597396 h 743457"/>
              <a:gd name="connsiteX70" fmla="*/ 5958069 w 9683888"/>
              <a:gd name="connsiteY70" fmla="*/ 597432 h 743457"/>
              <a:gd name="connsiteX71" fmla="*/ 5966081 w 9683888"/>
              <a:gd name="connsiteY71" fmla="*/ 599643 h 743457"/>
              <a:gd name="connsiteX72" fmla="*/ 5987259 w 9683888"/>
              <a:gd name="connsiteY72" fmla="*/ 601523 h 743457"/>
              <a:gd name="connsiteX73" fmla="*/ 5994905 w 9683888"/>
              <a:gd name="connsiteY73" fmla="*/ 598873 h 743457"/>
              <a:gd name="connsiteX74" fmla="*/ 6054803 w 9683888"/>
              <a:gd name="connsiteY74" fmla="*/ 541202 h 743457"/>
              <a:gd name="connsiteX75" fmla="*/ 6188672 w 9683888"/>
              <a:gd name="connsiteY75" fmla="*/ 496389 h 743457"/>
              <a:gd name="connsiteX76" fmla="*/ 6323280 w 9683888"/>
              <a:gd name="connsiteY76" fmla="*/ 458013 h 743457"/>
              <a:gd name="connsiteX77" fmla="*/ 6457257 w 9683888"/>
              <a:gd name="connsiteY77" fmla="*/ 414621 h 743457"/>
              <a:gd name="connsiteX78" fmla="*/ 6530019 w 9683888"/>
              <a:gd name="connsiteY78" fmla="*/ 423168 h 743457"/>
              <a:gd name="connsiteX79" fmla="*/ 6626800 w 9683888"/>
              <a:gd name="connsiteY79" fmla="*/ 375078 h 743457"/>
              <a:gd name="connsiteX80" fmla="*/ 6689231 w 9683888"/>
              <a:gd name="connsiteY80" fmla="*/ 353501 h 743457"/>
              <a:gd name="connsiteX81" fmla="*/ 6726440 w 9683888"/>
              <a:gd name="connsiteY81" fmla="*/ 340276 h 743457"/>
              <a:gd name="connsiteX82" fmla="*/ 6835228 w 9683888"/>
              <a:gd name="connsiteY82" fmla="*/ 329393 h 743457"/>
              <a:gd name="connsiteX83" fmla="*/ 7039363 w 9683888"/>
              <a:gd name="connsiteY83" fmla="*/ 370823 h 743457"/>
              <a:gd name="connsiteX84" fmla="*/ 7095156 w 9683888"/>
              <a:gd name="connsiteY84" fmla="*/ 366075 h 743457"/>
              <a:gd name="connsiteX85" fmla="*/ 7187061 w 9683888"/>
              <a:gd name="connsiteY85" fmla="*/ 383876 h 743457"/>
              <a:gd name="connsiteX86" fmla="*/ 7295039 w 9683888"/>
              <a:gd name="connsiteY86" fmla="*/ 355046 h 743457"/>
              <a:gd name="connsiteX87" fmla="*/ 7373651 w 9683888"/>
              <a:gd name="connsiteY87" fmla="*/ 322299 h 743457"/>
              <a:gd name="connsiteX88" fmla="*/ 7418964 w 9683888"/>
              <a:gd name="connsiteY88" fmla="*/ 308685 h 743457"/>
              <a:gd name="connsiteX89" fmla="*/ 7450568 w 9683888"/>
              <a:gd name="connsiteY89" fmla="*/ 293511 h 743457"/>
              <a:gd name="connsiteX90" fmla="*/ 7538380 w 9683888"/>
              <a:gd name="connsiteY90" fmla="*/ 283235 h 743457"/>
              <a:gd name="connsiteX91" fmla="*/ 7786348 w 9683888"/>
              <a:gd name="connsiteY91" fmla="*/ 225377 h 743457"/>
              <a:gd name="connsiteX92" fmla="*/ 7849534 w 9683888"/>
              <a:gd name="connsiteY92" fmla="*/ 245434 h 743457"/>
              <a:gd name="connsiteX93" fmla="*/ 7981165 w 9683888"/>
              <a:gd name="connsiteY93" fmla="*/ 222252 h 743457"/>
              <a:gd name="connsiteX94" fmla="*/ 8171882 w 9683888"/>
              <a:gd name="connsiteY94" fmla="*/ 222497 h 743457"/>
              <a:gd name="connsiteX95" fmla="*/ 8242270 w 9683888"/>
              <a:gd name="connsiteY95" fmla="*/ 180535 h 743457"/>
              <a:gd name="connsiteX96" fmla="*/ 8490152 w 9683888"/>
              <a:gd name="connsiteY96" fmla="*/ 209193 h 743457"/>
              <a:gd name="connsiteX97" fmla="*/ 8622272 w 9683888"/>
              <a:gd name="connsiteY97" fmla="*/ 188859 h 743457"/>
              <a:gd name="connsiteX98" fmla="*/ 8738606 w 9683888"/>
              <a:gd name="connsiteY98" fmla="*/ 208945 h 743457"/>
              <a:gd name="connsiteX99" fmla="*/ 8831307 w 9683888"/>
              <a:gd name="connsiteY99" fmla="*/ 207738 h 743457"/>
              <a:gd name="connsiteX100" fmla="*/ 8891432 w 9683888"/>
              <a:gd name="connsiteY100" fmla="*/ 184510 h 743457"/>
              <a:gd name="connsiteX101" fmla="*/ 8946980 w 9683888"/>
              <a:gd name="connsiteY101" fmla="*/ 145578 h 743457"/>
              <a:gd name="connsiteX102" fmla="*/ 9107760 w 9683888"/>
              <a:gd name="connsiteY102" fmla="*/ 128052 h 743457"/>
              <a:gd name="connsiteX103" fmla="*/ 9195623 w 9683888"/>
              <a:gd name="connsiteY103" fmla="*/ 100212 h 743457"/>
              <a:gd name="connsiteX104" fmla="*/ 9256898 w 9683888"/>
              <a:gd name="connsiteY104" fmla="*/ 73900 h 743457"/>
              <a:gd name="connsiteX105" fmla="*/ 9351740 w 9683888"/>
              <a:gd name="connsiteY105" fmla="*/ 80439 h 743457"/>
              <a:gd name="connsiteX106" fmla="*/ 9539796 w 9683888"/>
              <a:gd name="connsiteY106" fmla="*/ 87069 h 743457"/>
              <a:gd name="connsiteX107" fmla="*/ 9619109 w 9683888"/>
              <a:gd name="connsiteY107" fmla="*/ 39994 h 74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9683888" h="743457">
                <a:moveTo>
                  <a:pt x="9683888" y="0"/>
                </a:moveTo>
                <a:lnTo>
                  <a:pt x="0" y="0"/>
                </a:lnTo>
                <a:lnTo>
                  <a:pt x="0" y="365878"/>
                </a:lnTo>
                <a:lnTo>
                  <a:pt x="11844" y="367909"/>
                </a:lnTo>
                <a:cubicBezTo>
                  <a:pt x="50423" y="374387"/>
                  <a:pt x="87879" y="380746"/>
                  <a:pt x="106208" y="385974"/>
                </a:cubicBezTo>
                <a:cubicBezTo>
                  <a:pt x="119919" y="389979"/>
                  <a:pt x="149687" y="402128"/>
                  <a:pt x="183667" y="399162"/>
                </a:cubicBezTo>
                <a:cubicBezTo>
                  <a:pt x="228274" y="394575"/>
                  <a:pt x="256969" y="398315"/>
                  <a:pt x="292430" y="390408"/>
                </a:cubicBezTo>
                <a:cubicBezTo>
                  <a:pt x="325377" y="395694"/>
                  <a:pt x="374510" y="420053"/>
                  <a:pt x="386942" y="395582"/>
                </a:cubicBezTo>
                <a:cubicBezTo>
                  <a:pt x="400429" y="416427"/>
                  <a:pt x="451168" y="399411"/>
                  <a:pt x="485751" y="408404"/>
                </a:cubicBezTo>
                <a:cubicBezTo>
                  <a:pt x="520399" y="423586"/>
                  <a:pt x="570416" y="404235"/>
                  <a:pt x="604107" y="418647"/>
                </a:cubicBezTo>
                <a:cubicBezTo>
                  <a:pt x="633631" y="425521"/>
                  <a:pt x="672063" y="446364"/>
                  <a:pt x="694081" y="449524"/>
                </a:cubicBezTo>
                <a:cubicBezTo>
                  <a:pt x="700528" y="463278"/>
                  <a:pt x="713487" y="450700"/>
                  <a:pt x="762452" y="456090"/>
                </a:cubicBezTo>
                <a:cubicBezTo>
                  <a:pt x="811417" y="461479"/>
                  <a:pt x="935420" y="470466"/>
                  <a:pt x="987872" y="481862"/>
                </a:cubicBezTo>
                <a:cubicBezTo>
                  <a:pt x="1018493" y="475799"/>
                  <a:pt x="1019470" y="516810"/>
                  <a:pt x="1077163" y="524467"/>
                </a:cubicBezTo>
                <a:cubicBezTo>
                  <a:pt x="1124222" y="535807"/>
                  <a:pt x="1202940" y="574855"/>
                  <a:pt x="1258716" y="587975"/>
                </a:cubicBezTo>
                <a:cubicBezTo>
                  <a:pt x="1274181" y="586466"/>
                  <a:pt x="1286859" y="589632"/>
                  <a:pt x="1298056" y="595413"/>
                </a:cubicBezTo>
                <a:lnTo>
                  <a:pt x="1327017" y="617412"/>
                </a:lnTo>
                <a:lnTo>
                  <a:pt x="1347909" y="620209"/>
                </a:lnTo>
                <a:cubicBezTo>
                  <a:pt x="1377004" y="628445"/>
                  <a:pt x="1394712" y="616344"/>
                  <a:pt x="1421792" y="626139"/>
                </a:cubicBezTo>
                <a:cubicBezTo>
                  <a:pt x="1466260" y="647543"/>
                  <a:pt x="1506099" y="610975"/>
                  <a:pt x="1519789" y="645011"/>
                </a:cubicBezTo>
                <a:cubicBezTo>
                  <a:pt x="1556219" y="665699"/>
                  <a:pt x="1578776" y="668950"/>
                  <a:pt x="1620886" y="687715"/>
                </a:cubicBezTo>
                <a:cubicBezTo>
                  <a:pt x="1658228" y="693647"/>
                  <a:pt x="1636224" y="694371"/>
                  <a:pt x="1676745" y="690130"/>
                </a:cubicBezTo>
                <a:cubicBezTo>
                  <a:pt x="1713709" y="697532"/>
                  <a:pt x="1774627" y="701403"/>
                  <a:pt x="1832228" y="690860"/>
                </a:cubicBezTo>
                <a:cubicBezTo>
                  <a:pt x="1866586" y="689181"/>
                  <a:pt x="1949046" y="755765"/>
                  <a:pt x="1980464" y="704858"/>
                </a:cubicBezTo>
                <a:cubicBezTo>
                  <a:pt x="2001472" y="716610"/>
                  <a:pt x="2020758" y="710467"/>
                  <a:pt x="2051150" y="711187"/>
                </a:cubicBezTo>
                <a:cubicBezTo>
                  <a:pt x="2081543" y="711907"/>
                  <a:pt x="2117567" y="736153"/>
                  <a:pt x="2162824" y="709178"/>
                </a:cubicBezTo>
                <a:cubicBezTo>
                  <a:pt x="2219712" y="701824"/>
                  <a:pt x="2181421" y="742368"/>
                  <a:pt x="2259859" y="718188"/>
                </a:cubicBezTo>
                <a:cubicBezTo>
                  <a:pt x="2296623" y="733933"/>
                  <a:pt x="2337412" y="741012"/>
                  <a:pt x="2378290" y="738748"/>
                </a:cubicBezTo>
                <a:cubicBezTo>
                  <a:pt x="2380041" y="725410"/>
                  <a:pt x="2399659" y="741017"/>
                  <a:pt x="2407828" y="743457"/>
                </a:cubicBezTo>
                <a:cubicBezTo>
                  <a:pt x="2406113" y="735180"/>
                  <a:pt x="2421642" y="728742"/>
                  <a:pt x="2428936" y="734697"/>
                </a:cubicBezTo>
                <a:cubicBezTo>
                  <a:pt x="2468648" y="720822"/>
                  <a:pt x="2584275" y="677579"/>
                  <a:pt x="2646106" y="660204"/>
                </a:cubicBezTo>
                <a:cubicBezTo>
                  <a:pt x="2706894" y="652346"/>
                  <a:pt x="2738390" y="612318"/>
                  <a:pt x="2799920" y="630451"/>
                </a:cubicBezTo>
                <a:cubicBezTo>
                  <a:pt x="2856798" y="622940"/>
                  <a:pt x="2902940" y="602232"/>
                  <a:pt x="2953556" y="607173"/>
                </a:cubicBezTo>
                <a:cubicBezTo>
                  <a:pt x="2970626" y="593247"/>
                  <a:pt x="2988095" y="586399"/>
                  <a:pt x="3009839" y="601743"/>
                </a:cubicBezTo>
                <a:cubicBezTo>
                  <a:pt x="3046166" y="594868"/>
                  <a:pt x="3085682" y="586046"/>
                  <a:pt x="3115016" y="584982"/>
                </a:cubicBezTo>
                <a:cubicBezTo>
                  <a:pt x="3144992" y="587935"/>
                  <a:pt x="3158740" y="599045"/>
                  <a:pt x="3185844" y="595356"/>
                </a:cubicBezTo>
                <a:cubicBezTo>
                  <a:pt x="3209939" y="576197"/>
                  <a:pt x="3221731" y="614583"/>
                  <a:pt x="3246013" y="592418"/>
                </a:cubicBezTo>
                <a:cubicBezTo>
                  <a:pt x="3228976" y="565486"/>
                  <a:pt x="3320172" y="599686"/>
                  <a:pt x="3313565" y="574138"/>
                </a:cubicBezTo>
                <a:cubicBezTo>
                  <a:pt x="3341586" y="564515"/>
                  <a:pt x="3371901" y="555346"/>
                  <a:pt x="3414143" y="553730"/>
                </a:cubicBezTo>
                <a:cubicBezTo>
                  <a:pt x="3463229" y="557630"/>
                  <a:pt x="3476532" y="539673"/>
                  <a:pt x="3552895" y="548563"/>
                </a:cubicBezTo>
                <a:cubicBezTo>
                  <a:pt x="3620356" y="561042"/>
                  <a:pt x="3688830" y="574962"/>
                  <a:pt x="3753012" y="599520"/>
                </a:cubicBezTo>
                <a:cubicBezTo>
                  <a:pt x="3769580" y="615048"/>
                  <a:pt x="3777112" y="602961"/>
                  <a:pt x="3804392" y="604131"/>
                </a:cubicBezTo>
                <a:cubicBezTo>
                  <a:pt x="3831672" y="605301"/>
                  <a:pt x="3878076" y="605222"/>
                  <a:pt x="3916696" y="606540"/>
                </a:cubicBezTo>
                <a:cubicBezTo>
                  <a:pt x="3970533" y="603881"/>
                  <a:pt x="3981244" y="618066"/>
                  <a:pt x="4063849" y="604058"/>
                </a:cubicBezTo>
                <a:cubicBezTo>
                  <a:pt x="4074473" y="605185"/>
                  <a:pt x="4134611" y="589365"/>
                  <a:pt x="4172179" y="592355"/>
                </a:cubicBezTo>
                <a:cubicBezTo>
                  <a:pt x="4180554" y="576172"/>
                  <a:pt x="4255433" y="602075"/>
                  <a:pt x="4276294" y="587119"/>
                </a:cubicBezTo>
                <a:cubicBezTo>
                  <a:pt x="4326119" y="586973"/>
                  <a:pt x="4361692" y="573867"/>
                  <a:pt x="4411090" y="575600"/>
                </a:cubicBezTo>
                <a:cubicBezTo>
                  <a:pt x="4465125" y="575500"/>
                  <a:pt x="4518088" y="570805"/>
                  <a:pt x="4540465" y="567464"/>
                </a:cubicBezTo>
                <a:lnTo>
                  <a:pt x="4545352" y="555554"/>
                </a:lnTo>
                <a:lnTo>
                  <a:pt x="4564014" y="553660"/>
                </a:lnTo>
                <a:lnTo>
                  <a:pt x="4568602" y="550913"/>
                </a:lnTo>
                <a:cubicBezTo>
                  <a:pt x="4577353" y="545618"/>
                  <a:pt x="4586105" y="540734"/>
                  <a:pt x="4595289" y="537407"/>
                </a:cubicBezTo>
                <a:cubicBezTo>
                  <a:pt x="4623104" y="537511"/>
                  <a:pt x="4660764" y="533229"/>
                  <a:pt x="4739026" y="532483"/>
                </a:cubicBezTo>
                <a:cubicBezTo>
                  <a:pt x="4806238" y="527255"/>
                  <a:pt x="4944577" y="524439"/>
                  <a:pt x="5061335" y="545635"/>
                </a:cubicBezTo>
                <a:cubicBezTo>
                  <a:pt x="5167156" y="553533"/>
                  <a:pt x="5251789" y="586167"/>
                  <a:pt x="5338634" y="595754"/>
                </a:cubicBezTo>
                <a:cubicBezTo>
                  <a:pt x="5415763" y="589622"/>
                  <a:pt x="5434719" y="609365"/>
                  <a:pt x="5529430" y="606335"/>
                </a:cubicBezTo>
                <a:cubicBezTo>
                  <a:pt x="5534498" y="613561"/>
                  <a:pt x="5597157" y="603269"/>
                  <a:pt x="5604039" y="607676"/>
                </a:cubicBezTo>
                <a:lnTo>
                  <a:pt x="5625281" y="617253"/>
                </a:lnTo>
                <a:lnTo>
                  <a:pt x="5628138" y="615483"/>
                </a:lnTo>
                <a:cubicBezTo>
                  <a:pt x="5640641" y="612245"/>
                  <a:pt x="5648217" y="613966"/>
                  <a:pt x="5653593" y="617873"/>
                </a:cubicBezTo>
                <a:lnTo>
                  <a:pt x="5658658" y="624279"/>
                </a:lnTo>
                <a:lnTo>
                  <a:pt x="5675963" y="627762"/>
                </a:lnTo>
                <a:lnTo>
                  <a:pt x="5709625" y="639593"/>
                </a:lnTo>
                <a:lnTo>
                  <a:pt x="5716324" y="637148"/>
                </a:lnTo>
                <a:lnTo>
                  <a:pt x="5767720" y="647737"/>
                </a:lnTo>
                <a:lnTo>
                  <a:pt x="5768619" y="645671"/>
                </a:lnTo>
                <a:cubicBezTo>
                  <a:pt x="5776130" y="642927"/>
                  <a:pt x="5830922" y="636226"/>
                  <a:pt x="5858696" y="628099"/>
                </a:cubicBezTo>
                <a:lnTo>
                  <a:pt x="5935260" y="596904"/>
                </a:lnTo>
                <a:lnTo>
                  <a:pt x="5946176" y="597874"/>
                </a:lnTo>
                <a:lnTo>
                  <a:pt x="5946447" y="597396"/>
                </a:lnTo>
                <a:cubicBezTo>
                  <a:pt x="5948934" y="596546"/>
                  <a:pt x="5952567" y="596468"/>
                  <a:pt x="5958069" y="597432"/>
                </a:cubicBezTo>
                <a:lnTo>
                  <a:pt x="5966081" y="599643"/>
                </a:lnTo>
                <a:lnTo>
                  <a:pt x="5987259" y="601523"/>
                </a:lnTo>
                <a:lnTo>
                  <a:pt x="5994905" y="598873"/>
                </a:lnTo>
                <a:cubicBezTo>
                  <a:pt x="6020610" y="579716"/>
                  <a:pt x="6016968" y="560235"/>
                  <a:pt x="6054803" y="541202"/>
                </a:cubicBezTo>
                <a:cubicBezTo>
                  <a:pt x="6108247" y="527358"/>
                  <a:pt x="6130976" y="484538"/>
                  <a:pt x="6188672" y="496389"/>
                </a:cubicBezTo>
                <a:cubicBezTo>
                  <a:pt x="6238659" y="483279"/>
                  <a:pt x="6277194" y="458153"/>
                  <a:pt x="6323280" y="458013"/>
                </a:cubicBezTo>
                <a:cubicBezTo>
                  <a:pt x="6368044" y="444385"/>
                  <a:pt x="6422801" y="420428"/>
                  <a:pt x="6457257" y="414621"/>
                </a:cubicBezTo>
                <a:cubicBezTo>
                  <a:pt x="6483424" y="410645"/>
                  <a:pt x="6508964" y="423228"/>
                  <a:pt x="6530019" y="423168"/>
                </a:cubicBezTo>
                <a:cubicBezTo>
                  <a:pt x="6558276" y="416578"/>
                  <a:pt x="6600264" y="386690"/>
                  <a:pt x="6626800" y="375078"/>
                </a:cubicBezTo>
                <a:cubicBezTo>
                  <a:pt x="6664418" y="400828"/>
                  <a:pt x="6655535" y="354302"/>
                  <a:pt x="6689231" y="353501"/>
                </a:cubicBezTo>
                <a:cubicBezTo>
                  <a:pt x="6708837" y="361122"/>
                  <a:pt x="6719642" y="359485"/>
                  <a:pt x="6726440" y="340276"/>
                </a:cubicBezTo>
                <a:cubicBezTo>
                  <a:pt x="6818329" y="378763"/>
                  <a:pt x="6765502" y="328183"/>
                  <a:pt x="6835228" y="329393"/>
                </a:cubicBezTo>
                <a:cubicBezTo>
                  <a:pt x="6897464" y="335048"/>
                  <a:pt x="6962224" y="329085"/>
                  <a:pt x="7039363" y="370823"/>
                </a:cubicBezTo>
                <a:cubicBezTo>
                  <a:pt x="7056368" y="384567"/>
                  <a:pt x="7070539" y="363899"/>
                  <a:pt x="7095156" y="366075"/>
                </a:cubicBezTo>
                <a:cubicBezTo>
                  <a:pt x="7119772" y="368250"/>
                  <a:pt x="7153748" y="385714"/>
                  <a:pt x="7187061" y="383876"/>
                </a:cubicBezTo>
                <a:cubicBezTo>
                  <a:pt x="7242115" y="377604"/>
                  <a:pt x="7270954" y="334249"/>
                  <a:pt x="7295039" y="355046"/>
                </a:cubicBezTo>
                <a:cubicBezTo>
                  <a:pt x="7320104" y="344159"/>
                  <a:pt x="7343179" y="301443"/>
                  <a:pt x="7373651" y="322299"/>
                </a:cubicBezTo>
                <a:cubicBezTo>
                  <a:pt x="7367160" y="298575"/>
                  <a:pt x="7410095" y="329040"/>
                  <a:pt x="7418964" y="308685"/>
                </a:cubicBezTo>
                <a:cubicBezTo>
                  <a:pt x="7424243" y="291807"/>
                  <a:pt x="7438503" y="297117"/>
                  <a:pt x="7450568" y="293511"/>
                </a:cubicBezTo>
                <a:cubicBezTo>
                  <a:pt x="7461276" y="277652"/>
                  <a:pt x="7519437" y="275664"/>
                  <a:pt x="7538380" y="283235"/>
                </a:cubicBezTo>
                <a:cubicBezTo>
                  <a:pt x="7594343" y="271879"/>
                  <a:pt x="7734488" y="231676"/>
                  <a:pt x="7786348" y="225377"/>
                </a:cubicBezTo>
                <a:cubicBezTo>
                  <a:pt x="7797693" y="277094"/>
                  <a:pt x="7847327" y="236176"/>
                  <a:pt x="7849534" y="245434"/>
                </a:cubicBezTo>
                <a:cubicBezTo>
                  <a:pt x="7894253" y="231282"/>
                  <a:pt x="7937937" y="238796"/>
                  <a:pt x="7981165" y="222252"/>
                </a:cubicBezTo>
                <a:cubicBezTo>
                  <a:pt x="8066564" y="234459"/>
                  <a:pt x="8127007" y="235277"/>
                  <a:pt x="8171882" y="222497"/>
                </a:cubicBezTo>
                <a:cubicBezTo>
                  <a:pt x="8183092" y="205785"/>
                  <a:pt x="8217423" y="177145"/>
                  <a:pt x="8242270" y="180535"/>
                </a:cubicBezTo>
                <a:cubicBezTo>
                  <a:pt x="8294138" y="178846"/>
                  <a:pt x="8410926" y="208334"/>
                  <a:pt x="8490152" y="209193"/>
                </a:cubicBezTo>
                <a:cubicBezTo>
                  <a:pt x="8558493" y="195433"/>
                  <a:pt x="8564727" y="233466"/>
                  <a:pt x="8622272" y="188859"/>
                </a:cubicBezTo>
                <a:cubicBezTo>
                  <a:pt x="8659556" y="191317"/>
                  <a:pt x="8666988" y="178214"/>
                  <a:pt x="8738606" y="208945"/>
                </a:cubicBezTo>
                <a:cubicBezTo>
                  <a:pt x="8769507" y="208543"/>
                  <a:pt x="8800406" y="224019"/>
                  <a:pt x="8831307" y="207738"/>
                </a:cubicBezTo>
                <a:cubicBezTo>
                  <a:pt x="8836477" y="191612"/>
                  <a:pt x="8870109" y="182455"/>
                  <a:pt x="8891432" y="184510"/>
                </a:cubicBezTo>
                <a:cubicBezTo>
                  <a:pt x="8876795" y="135260"/>
                  <a:pt x="8938553" y="173381"/>
                  <a:pt x="8946980" y="145578"/>
                </a:cubicBezTo>
                <a:cubicBezTo>
                  <a:pt x="9010957" y="156064"/>
                  <a:pt x="9046552" y="157746"/>
                  <a:pt x="9107760" y="128052"/>
                </a:cubicBezTo>
                <a:cubicBezTo>
                  <a:pt x="9135191" y="151813"/>
                  <a:pt x="9184204" y="114911"/>
                  <a:pt x="9195623" y="100212"/>
                </a:cubicBezTo>
                <a:cubicBezTo>
                  <a:pt x="9222736" y="85917"/>
                  <a:pt x="9230892" y="98248"/>
                  <a:pt x="9256898" y="73900"/>
                </a:cubicBezTo>
                <a:cubicBezTo>
                  <a:pt x="9276443" y="63724"/>
                  <a:pt x="9334001" y="80454"/>
                  <a:pt x="9351740" y="80439"/>
                </a:cubicBezTo>
                <a:cubicBezTo>
                  <a:pt x="9398889" y="82633"/>
                  <a:pt x="9473718" y="102566"/>
                  <a:pt x="9539796" y="87069"/>
                </a:cubicBezTo>
                <a:cubicBezTo>
                  <a:pt x="9565852" y="70987"/>
                  <a:pt x="9591569" y="56211"/>
                  <a:pt x="9619109" y="399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14">
            <a:extLst>
              <a:ext uri="{FF2B5EF4-FFF2-40B4-BE49-F238E27FC236}">
                <a16:creationId xmlns:a16="http://schemas.microsoft.com/office/drawing/2014/main" id="{47E04D6A-7954-9B4A-509F-31F1E043D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9827"/>
            <a:ext cx="10680562" cy="1078174"/>
          </a:xfrm>
          <a:custGeom>
            <a:avLst/>
            <a:gdLst>
              <a:gd name="connsiteX0" fmla="*/ 3617689 w 10680562"/>
              <a:gd name="connsiteY0" fmla="*/ 0 h 1605023"/>
              <a:gd name="connsiteX1" fmla="*/ 3635901 w 10680562"/>
              <a:gd name="connsiteY1" fmla="*/ 7738 h 1605023"/>
              <a:gd name="connsiteX2" fmla="*/ 3690891 w 10680562"/>
              <a:gd name="connsiteY2" fmla="*/ 7049 h 1605023"/>
              <a:gd name="connsiteX3" fmla="*/ 3832247 w 10680562"/>
              <a:gd name="connsiteY3" fmla="*/ 13937 h 1605023"/>
              <a:gd name="connsiteX4" fmla="*/ 3999111 w 10680562"/>
              <a:gd name="connsiteY4" fmla="*/ 44624 h 1605023"/>
              <a:gd name="connsiteX5" fmla="*/ 4034676 w 10680562"/>
              <a:gd name="connsiteY5" fmla="*/ 48775 h 1605023"/>
              <a:gd name="connsiteX6" fmla="*/ 4065394 w 10680562"/>
              <a:gd name="connsiteY6" fmla="*/ 42879 h 1605023"/>
              <a:gd name="connsiteX7" fmla="*/ 4072648 w 10680562"/>
              <a:gd name="connsiteY7" fmla="*/ 33262 h 1605023"/>
              <a:gd name="connsiteX8" fmla="*/ 4092232 w 10680562"/>
              <a:gd name="connsiteY8" fmla="*/ 34026 h 1605023"/>
              <a:gd name="connsiteX9" fmla="*/ 4097470 w 10680562"/>
              <a:gd name="connsiteY9" fmla="*/ 32252 h 1605023"/>
              <a:gd name="connsiteX10" fmla="*/ 4127488 w 10680562"/>
              <a:gd name="connsiteY10" fmla="*/ 24056 h 1605023"/>
              <a:gd name="connsiteX11" fmla="*/ 4190803 w 10680562"/>
              <a:gd name="connsiteY11" fmla="*/ 55685 h 1605023"/>
              <a:gd name="connsiteX12" fmla="*/ 4269333 w 10680562"/>
              <a:gd name="connsiteY12" fmla="*/ 54186 h 1605023"/>
              <a:gd name="connsiteX13" fmla="*/ 4481486 w 10680562"/>
              <a:gd name="connsiteY13" fmla="*/ 116915 h 1605023"/>
              <a:gd name="connsiteX14" fmla="*/ 4651418 w 10680562"/>
              <a:gd name="connsiteY14" fmla="*/ 150071 h 1605023"/>
              <a:gd name="connsiteX15" fmla="*/ 4863575 w 10680562"/>
              <a:gd name="connsiteY15" fmla="*/ 175458 h 1605023"/>
              <a:gd name="connsiteX16" fmla="*/ 5013635 w 10680562"/>
              <a:gd name="connsiteY16" fmla="*/ 213928 h 1605023"/>
              <a:gd name="connsiteX17" fmla="*/ 5203044 w 10680562"/>
              <a:gd name="connsiteY17" fmla="*/ 228946 h 1605023"/>
              <a:gd name="connsiteX18" fmla="*/ 5207070 w 10680562"/>
              <a:gd name="connsiteY18" fmla="*/ 235105 h 1605023"/>
              <a:gd name="connsiteX19" fmla="*/ 5224253 w 10680562"/>
              <a:gd name="connsiteY19" fmla="*/ 240320 h 1605023"/>
              <a:gd name="connsiteX20" fmla="*/ 5256736 w 10680562"/>
              <a:gd name="connsiteY20" fmla="*/ 254811 h 1605023"/>
              <a:gd name="connsiteX21" fmla="*/ 5264095 w 10680562"/>
              <a:gd name="connsiteY21" fmla="*/ 253567 h 1605023"/>
              <a:gd name="connsiteX22" fmla="*/ 5315084 w 10680562"/>
              <a:gd name="connsiteY22" fmla="*/ 269264 h 1605023"/>
              <a:gd name="connsiteX23" fmla="*/ 5316393 w 10680562"/>
              <a:gd name="connsiteY23" fmla="*/ 267603 h 1605023"/>
              <a:gd name="connsiteX24" fmla="*/ 5333427 w 10680562"/>
              <a:gd name="connsiteY24" fmla="*/ 263823 h 1605023"/>
              <a:gd name="connsiteX25" fmla="*/ 5364589 w 10680562"/>
              <a:gd name="connsiteY25" fmla="*/ 260882 h 1605023"/>
              <a:gd name="connsiteX26" fmla="*/ 5443973 w 10680562"/>
              <a:gd name="connsiteY26" fmla="*/ 230866 h 1605023"/>
              <a:gd name="connsiteX27" fmla="*/ 5497201 w 10680562"/>
              <a:gd name="connsiteY27" fmla="*/ 247023 h 1605023"/>
              <a:gd name="connsiteX28" fmla="*/ 5508269 w 10680562"/>
              <a:gd name="connsiteY28" fmla="*/ 249256 h 1605023"/>
              <a:gd name="connsiteX29" fmla="*/ 5508636 w 10680562"/>
              <a:gd name="connsiteY29" fmla="*/ 248880 h 1605023"/>
              <a:gd name="connsiteX30" fmla="*/ 5520606 w 10680562"/>
              <a:gd name="connsiteY30" fmla="*/ 250400 h 1605023"/>
              <a:gd name="connsiteX31" fmla="*/ 5528451 w 10680562"/>
              <a:gd name="connsiteY31" fmla="*/ 253330 h 1605023"/>
              <a:gd name="connsiteX32" fmla="*/ 5549923 w 10680562"/>
              <a:gd name="connsiteY32" fmla="*/ 257662 h 1605023"/>
              <a:gd name="connsiteX33" fmla="*/ 5558295 w 10680562"/>
              <a:gd name="connsiteY33" fmla="*/ 256364 h 1605023"/>
              <a:gd name="connsiteX34" fmla="*/ 5664799 w 10680562"/>
              <a:gd name="connsiteY34" fmla="*/ 278924 h 1605023"/>
              <a:gd name="connsiteX35" fmla="*/ 5796160 w 10680562"/>
              <a:gd name="connsiteY35" fmla="*/ 307979 h 1605023"/>
              <a:gd name="connsiteX36" fmla="*/ 5897647 w 10680562"/>
              <a:gd name="connsiteY36" fmla="*/ 339431 h 1605023"/>
              <a:gd name="connsiteX37" fmla="*/ 5978838 w 10680562"/>
              <a:gd name="connsiteY37" fmla="*/ 367970 h 1605023"/>
              <a:gd name="connsiteX38" fmla="*/ 6050367 w 10680562"/>
              <a:gd name="connsiteY38" fmla="*/ 386341 h 1605023"/>
              <a:gd name="connsiteX39" fmla="*/ 6140609 w 10680562"/>
              <a:gd name="connsiteY39" fmla="*/ 385135 h 1605023"/>
              <a:gd name="connsiteX40" fmla="*/ 6302950 w 10680562"/>
              <a:gd name="connsiteY40" fmla="*/ 448183 h 1605023"/>
              <a:gd name="connsiteX41" fmla="*/ 6308533 w 10680562"/>
              <a:gd name="connsiteY41" fmla="*/ 448551 h 1605023"/>
              <a:gd name="connsiteX42" fmla="*/ 6340278 w 10680562"/>
              <a:gd name="connsiteY42" fmla="*/ 468555 h 1605023"/>
              <a:gd name="connsiteX43" fmla="*/ 6341685 w 10680562"/>
              <a:gd name="connsiteY43" fmla="*/ 467587 h 1605023"/>
              <a:gd name="connsiteX44" fmla="*/ 6354862 w 10680562"/>
              <a:gd name="connsiteY44" fmla="*/ 467794 h 1605023"/>
              <a:gd name="connsiteX45" fmla="*/ 6377840 w 10680562"/>
              <a:gd name="connsiteY45" fmla="*/ 471024 h 1605023"/>
              <a:gd name="connsiteX46" fmla="*/ 6442804 w 10680562"/>
              <a:gd name="connsiteY46" fmla="*/ 463091 h 1605023"/>
              <a:gd name="connsiteX47" fmla="*/ 6476009 w 10680562"/>
              <a:gd name="connsiteY47" fmla="*/ 483807 h 1605023"/>
              <a:gd name="connsiteX48" fmla="*/ 6483237 w 10680562"/>
              <a:gd name="connsiteY48" fmla="*/ 487308 h 1605023"/>
              <a:gd name="connsiteX49" fmla="*/ 6483605 w 10680562"/>
              <a:gd name="connsiteY49" fmla="*/ 487102 h 1605023"/>
              <a:gd name="connsiteX50" fmla="*/ 6491673 w 10680562"/>
              <a:gd name="connsiteY50" fmla="*/ 490243 h 1605023"/>
              <a:gd name="connsiteX51" fmla="*/ 6496411 w 10680562"/>
              <a:gd name="connsiteY51" fmla="*/ 493689 h 1605023"/>
              <a:gd name="connsiteX52" fmla="*/ 6510429 w 10680562"/>
              <a:gd name="connsiteY52" fmla="*/ 500479 h 1605023"/>
              <a:gd name="connsiteX53" fmla="*/ 6516750 w 10680562"/>
              <a:gd name="connsiteY53" fmla="*/ 500983 h 1605023"/>
              <a:gd name="connsiteX54" fmla="*/ 6580199 w 10680562"/>
              <a:gd name="connsiteY54" fmla="*/ 483318 h 1605023"/>
              <a:gd name="connsiteX55" fmla="*/ 6690237 w 10680562"/>
              <a:gd name="connsiteY55" fmla="*/ 493051 h 1605023"/>
              <a:gd name="connsiteX56" fmla="*/ 6798356 w 10680562"/>
              <a:gd name="connsiteY56" fmla="*/ 506748 h 1605023"/>
              <a:gd name="connsiteX57" fmla="*/ 6837102 w 10680562"/>
              <a:gd name="connsiteY57" fmla="*/ 513677 h 1605023"/>
              <a:gd name="connsiteX58" fmla="*/ 6907934 w 10680562"/>
              <a:gd name="connsiteY58" fmla="*/ 517339 h 1605023"/>
              <a:gd name="connsiteX59" fmla="*/ 6941474 w 10680562"/>
              <a:gd name="connsiteY59" fmla="*/ 513632 h 1605023"/>
              <a:gd name="connsiteX60" fmla="*/ 6942754 w 10680562"/>
              <a:gd name="connsiteY60" fmla="*/ 514394 h 1605023"/>
              <a:gd name="connsiteX61" fmla="*/ 6946363 w 10680562"/>
              <a:gd name="connsiteY61" fmla="*/ 511066 h 1605023"/>
              <a:gd name="connsiteX62" fmla="*/ 6952592 w 10680562"/>
              <a:gd name="connsiteY62" fmla="*/ 510252 h 1605023"/>
              <a:gd name="connsiteX63" fmla="*/ 6968398 w 10680562"/>
              <a:gd name="connsiteY63" fmla="*/ 513946 h 1605023"/>
              <a:gd name="connsiteX64" fmla="*/ 6974142 w 10680562"/>
              <a:gd name="connsiteY64" fmla="*/ 516310 h 1605023"/>
              <a:gd name="connsiteX65" fmla="*/ 6982971 w 10680562"/>
              <a:gd name="connsiteY65" fmla="*/ 517694 h 1605023"/>
              <a:gd name="connsiteX66" fmla="*/ 6983252 w 10680562"/>
              <a:gd name="connsiteY66" fmla="*/ 517416 h 1605023"/>
              <a:gd name="connsiteX67" fmla="*/ 6991400 w 10680562"/>
              <a:gd name="connsiteY67" fmla="*/ 519321 h 1605023"/>
              <a:gd name="connsiteX68" fmla="*/ 7030460 w 10680562"/>
              <a:gd name="connsiteY68" fmla="*/ 532556 h 1605023"/>
              <a:gd name="connsiteX69" fmla="*/ 7089916 w 10680562"/>
              <a:gd name="connsiteY69" fmla="*/ 511503 h 1605023"/>
              <a:gd name="connsiteX70" fmla="*/ 7113059 w 10680562"/>
              <a:gd name="connsiteY70" fmla="*/ 509904 h 1605023"/>
              <a:gd name="connsiteX71" fmla="*/ 7125755 w 10680562"/>
              <a:gd name="connsiteY71" fmla="*/ 507393 h 1605023"/>
              <a:gd name="connsiteX72" fmla="*/ 7126765 w 10680562"/>
              <a:gd name="connsiteY72" fmla="*/ 506166 h 1605023"/>
              <a:gd name="connsiteX73" fmla="*/ 7164175 w 10680562"/>
              <a:gd name="connsiteY73" fmla="*/ 519011 h 1605023"/>
              <a:gd name="connsiteX74" fmla="*/ 7169654 w 10680562"/>
              <a:gd name="connsiteY74" fmla="*/ 518219 h 1605023"/>
              <a:gd name="connsiteX75" fmla="*/ 7193386 w 10680562"/>
              <a:gd name="connsiteY75" fmla="*/ 529788 h 1605023"/>
              <a:gd name="connsiteX76" fmla="*/ 7205997 w 10680562"/>
              <a:gd name="connsiteY76" fmla="*/ 534060 h 1605023"/>
              <a:gd name="connsiteX77" fmla="*/ 7208842 w 10680562"/>
              <a:gd name="connsiteY77" fmla="*/ 538783 h 1605023"/>
              <a:gd name="connsiteX78" fmla="*/ 7227817 w 10680562"/>
              <a:gd name="connsiteY78" fmla="*/ 543304 h 1605023"/>
              <a:gd name="connsiteX79" fmla="*/ 7230267 w 10680562"/>
              <a:gd name="connsiteY79" fmla="*/ 542497 h 1605023"/>
              <a:gd name="connsiteX80" fmla="*/ 7244913 w 10680562"/>
              <a:gd name="connsiteY80" fmla="*/ 551160 h 1605023"/>
              <a:gd name="connsiteX81" fmla="*/ 7255970 w 10680562"/>
              <a:gd name="connsiteY81" fmla="*/ 564383 h 1605023"/>
              <a:gd name="connsiteX82" fmla="*/ 7421156 w 10680562"/>
              <a:gd name="connsiteY82" fmla="*/ 584155 h 1605023"/>
              <a:gd name="connsiteX83" fmla="*/ 7553166 w 10680562"/>
              <a:gd name="connsiteY83" fmla="*/ 653085 h 1605023"/>
              <a:gd name="connsiteX84" fmla="*/ 7643092 w 10680562"/>
              <a:gd name="connsiteY84" fmla="*/ 662482 h 1605023"/>
              <a:gd name="connsiteX85" fmla="*/ 7896429 w 10680562"/>
              <a:gd name="connsiteY85" fmla="*/ 689054 h 1605023"/>
              <a:gd name="connsiteX86" fmla="*/ 7954620 w 10680562"/>
              <a:gd name="connsiteY86" fmla="*/ 689481 h 1605023"/>
              <a:gd name="connsiteX87" fmla="*/ 8000803 w 10680562"/>
              <a:gd name="connsiteY87" fmla="*/ 714583 h 1605023"/>
              <a:gd name="connsiteX88" fmla="*/ 8023216 w 10680562"/>
              <a:gd name="connsiteY88" fmla="*/ 709000 h 1605023"/>
              <a:gd name="connsiteX89" fmla="*/ 8027136 w 10680562"/>
              <a:gd name="connsiteY89" fmla="*/ 707765 h 1605023"/>
              <a:gd name="connsiteX90" fmla="*/ 8041622 w 10680562"/>
              <a:gd name="connsiteY90" fmla="*/ 708731 h 1605023"/>
              <a:gd name="connsiteX91" fmla="*/ 8047209 w 10680562"/>
              <a:gd name="connsiteY91" fmla="*/ 701624 h 1605023"/>
              <a:gd name="connsiteX92" fmla="*/ 8070088 w 10680562"/>
              <a:gd name="connsiteY92" fmla="*/ 697789 h 1605023"/>
              <a:gd name="connsiteX93" fmla="*/ 8096332 w 10680562"/>
              <a:gd name="connsiteY93" fmla="*/ 701624 h 1605023"/>
              <a:gd name="connsiteX94" fmla="*/ 8219225 w 10680562"/>
              <a:gd name="connsiteY94" fmla="*/ 728069 h 1605023"/>
              <a:gd name="connsiteX95" fmla="*/ 8293793 w 10680562"/>
              <a:gd name="connsiteY95" fmla="*/ 739200 h 1605023"/>
              <a:gd name="connsiteX96" fmla="*/ 8323753 w 10680562"/>
              <a:gd name="connsiteY96" fmla="*/ 736063 h 1605023"/>
              <a:gd name="connsiteX97" fmla="*/ 8364496 w 10680562"/>
              <a:gd name="connsiteY97" fmla="*/ 736635 h 1605023"/>
              <a:gd name="connsiteX98" fmla="*/ 8437662 w 10680562"/>
              <a:gd name="connsiteY98" fmla="*/ 731942 h 1605023"/>
              <a:gd name="connsiteX99" fmla="*/ 8533764 w 10680562"/>
              <a:gd name="connsiteY99" fmla="*/ 735554 h 1605023"/>
              <a:gd name="connsiteX100" fmla="*/ 8596769 w 10680562"/>
              <a:gd name="connsiteY100" fmla="*/ 769632 h 1605023"/>
              <a:gd name="connsiteX101" fmla="*/ 8604035 w 10680562"/>
              <a:gd name="connsiteY101" fmla="*/ 764982 h 1605023"/>
              <a:gd name="connsiteX102" fmla="*/ 8650929 w 10680562"/>
              <a:gd name="connsiteY102" fmla="*/ 773164 h 1605023"/>
              <a:gd name="connsiteX103" fmla="*/ 8806497 w 10680562"/>
              <a:gd name="connsiteY103" fmla="*/ 839707 h 1605023"/>
              <a:gd name="connsiteX104" fmla="*/ 8898377 w 10680562"/>
              <a:gd name="connsiteY104" fmla="*/ 854651 h 1605023"/>
              <a:gd name="connsiteX105" fmla="*/ 8932389 w 10680562"/>
              <a:gd name="connsiteY105" fmla="*/ 853846 h 1605023"/>
              <a:gd name="connsiteX106" fmla="*/ 8989288 w 10680562"/>
              <a:gd name="connsiteY106" fmla="*/ 852877 h 1605023"/>
              <a:gd name="connsiteX107" fmla="*/ 9035275 w 10680562"/>
              <a:gd name="connsiteY107" fmla="*/ 837110 h 1605023"/>
              <a:gd name="connsiteX108" fmla="*/ 9138626 w 10680562"/>
              <a:gd name="connsiteY108" fmla="*/ 862106 h 1605023"/>
              <a:gd name="connsiteX109" fmla="*/ 9216298 w 10680562"/>
              <a:gd name="connsiteY109" fmla="*/ 858754 h 1605023"/>
              <a:gd name="connsiteX110" fmla="*/ 9259941 w 10680562"/>
              <a:gd name="connsiteY110" fmla="*/ 861843 h 1605023"/>
              <a:gd name="connsiteX111" fmla="*/ 9380407 w 10680562"/>
              <a:gd name="connsiteY111" fmla="*/ 864825 h 1605023"/>
              <a:gd name="connsiteX112" fmla="*/ 9490772 w 10680562"/>
              <a:gd name="connsiteY112" fmla="*/ 901190 h 1605023"/>
              <a:gd name="connsiteX113" fmla="*/ 9584982 w 10680562"/>
              <a:gd name="connsiteY113" fmla="*/ 935980 h 1605023"/>
              <a:gd name="connsiteX114" fmla="*/ 9759797 w 10680562"/>
              <a:gd name="connsiteY114" fmla="*/ 1010923 h 1605023"/>
              <a:gd name="connsiteX115" fmla="*/ 9834455 w 10680562"/>
              <a:gd name="connsiteY115" fmla="*/ 1082908 h 1605023"/>
              <a:gd name="connsiteX116" fmla="*/ 9939504 w 10680562"/>
              <a:gd name="connsiteY116" fmla="*/ 1110614 h 1605023"/>
              <a:gd name="connsiteX117" fmla="*/ 10077001 w 10680562"/>
              <a:gd name="connsiteY117" fmla="*/ 1160906 h 1605023"/>
              <a:gd name="connsiteX118" fmla="*/ 10178431 w 10680562"/>
              <a:gd name="connsiteY118" fmla="*/ 1244920 h 1605023"/>
              <a:gd name="connsiteX119" fmla="*/ 10248658 w 10680562"/>
              <a:gd name="connsiteY119" fmla="*/ 1309335 h 1605023"/>
              <a:gd name="connsiteX120" fmla="*/ 10414709 w 10680562"/>
              <a:gd name="connsiteY120" fmla="*/ 1388645 h 1605023"/>
              <a:gd name="connsiteX121" fmla="*/ 10592469 w 10680562"/>
              <a:gd name="connsiteY121" fmla="*/ 1543828 h 1605023"/>
              <a:gd name="connsiteX122" fmla="*/ 10674941 w 10680562"/>
              <a:gd name="connsiteY122" fmla="*/ 1597388 h 1605023"/>
              <a:gd name="connsiteX123" fmla="*/ 10680562 w 10680562"/>
              <a:gd name="connsiteY123" fmla="*/ 1605023 h 1605023"/>
              <a:gd name="connsiteX124" fmla="*/ 0 w 10680562"/>
              <a:gd name="connsiteY124" fmla="*/ 1605023 h 1605023"/>
              <a:gd name="connsiteX125" fmla="*/ 0 w 10680562"/>
              <a:gd name="connsiteY125" fmla="*/ 415048 h 1605023"/>
              <a:gd name="connsiteX126" fmla="*/ 9656 w 10680562"/>
              <a:gd name="connsiteY126" fmla="*/ 416044 h 1605023"/>
              <a:gd name="connsiteX127" fmla="*/ 179196 w 10680562"/>
              <a:gd name="connsiteY127" fmla="*/ 423071 h 1605023"/>
              <a:gd name="connsiteX128" fmla="*/ 250912 w 10680562"/>
              <a:gd name="connsiteY128" fmla="*/ 408617 h 1605023"/>
              <a:gd name="connsiteX129" fmla="*/ 291375 w 10680562"/>
              <a:gd name="connsiteY129" fmla="*/ 403710 h 1605023"/>
              <a:gd name="connsiteX130" fmla="*/ 320542 w 10680562"/>
              <a:gd name="connsiteY130" fmla="*/ 396592 h 1605023"/>
              <a:gd name="connsiteX131" fmla="*/ 522426 w 10680562"/>
              <a:gd name="connsiteY131" fmla="*/ 407158 h 1605023"/>
              <a:gd name="connsiteX132" fmla="*/ 549068 w 10680562"/>
              <a:gd name="connsiteY132" fmla="*/ 407418 h 1605023"/>
              <a:gd name="connsiteX133" fmla="*/ 571100 w 10680562"/>
              <a:gd name="connsiteY133" fmla="*/ 400562 h 1605023"/>
              <a:gd name="connsiteX134" fmla="*/ 575457 w 10680562"/>
              <a:gd name="connsiteY134" fmla="*/ 392801 h 1605023"/>
              <a:gd name="connsiteX135" fmla="*/ 589968 w 10680562"/>
              <a:gd name="connsiteY135" fmla="*/ 391807 h 1605023"/>
              <a:gd name="connsiteX136" fmla="*/ 593649 w 10680562"/>
              <a:gd name="connsiteY136" fmla="*/ 390062 h 1605023"/>
              <a:gd name="connsiteX137" fmla="*/ 614928 w 10680562"/>
              <a:gd name="connsiteY137" fmla="*/ 381544 h 1605023"/>
              <a:gd name="connsiteX138" fmla="*/ 722580 w 10680562"/>
              <a:gd name="connsiteY138" fmla="*/ 392722 h 1605023"/>
              <a:gd name="connsiteX139" fmla="*/ 946884 w 10680562"/>
              <a:gd name="connsiteY139" fmla="*/ 411854 h 1605023"/>
              <a:gd name="connsiteX140" fmla="*/ 1210905 w 10680562"/>
              <a:gd name="connsiteY140" fmla="*/ 432414 h 1605023"/>
              <a:gd name="connsiteX141" fmla="*/ 1377854 w 10680562"/>
              <a:gd name="connsiteY141" fmla="*/ 429745 h 1605023"/>
              <a:gd name="connsiteX142" fmla="*/ 1391004 w 10680562"/>
              <a:gd name="connsiteY142" fmla="*/ 441307 h 1605023"/>
              <a:gd name="connsiteX143" fmla="*/ 1406953 w 10680562"/>
              <a:gd name="connsiteY143" fmla="*/ 447889 h 1605023"/>
              <a:gd name="connsiteX144" fmla="*/ 1409246 w 10680562"/>
              <a:gd name="connsiteY144" fmla="*/ 446765 h 1605023"/>
              <a:gd name="connsiteX145" fmla="*/ 1428800 w 10680562"/>
              <a:gd name="connsiteY145" fmla="*/ 448677 h 1605023"/>
              <a:gd name="connsiteX146" fmla="*/ 1432402 w 10680562"/>
              <a:gd name="connsiteY146" fmla="*/ 452956 h 1605023"/>
              <a:gd name="connsiteX147" fmla="*/ 1606578 w 10680562"/>
              <a:gd name="connsiteY147" fmla="*/ 430870 h 1605023"/>
              <a:gd name="connsiteX148" fmla="*/ 1647476 w 10680562"/>
              <a:gd name="connsiteY148" fmla="*/ 438687 h 1605023"/>
              <a:gd name="connsiteX149" fmla="*/ 1655866 w 10680562"/>
              <a:gd name="connsiteY149" fmla="*/ 439472 h 1605023"/>
              <a:gd name="connsiteX150" fmla="*/ 1656096 w 10680562"/>
              <a:gd name="connsiteY150" fmla="*/ 439162 h 1605023"/>
              <a:gd name="connsiteX151" fmla="*/ 1670708 w 10680562"/>
              <a:gd name="connsiteY151" fmla="*/ 412530 h 1605023"/>
              <a:gd name="connsiteX152" fmla="*/ 1737953 w 10680562"/>
              <a:gd name="connsiteY152" fmla="*/ 399496 h 1605023"/>
              <a:gd name="connsiteX153" fmla="*/ 1848192 w 10680562"/>
              <a:gd name="connsiteY153" fmla="*/ 376032 h 1605023"/>
              <a:gd name="connsiteX154" fmla="*/ 1954077 w 10680562"/>
              <a:gd name="connsiteY154" fmla="*/ 352621 h 1605023"/>
              <a:gd name="connsiteX155" fmla="*/ 1993047 w 10680562"/>
              <a:gd name="connsiteY155" fmla="*/ 346068 h 1605023"/>
              <a:gd name="connsiteX156" fmla="*/ 2059719 w 10680562"/>
              <a:gd name="connsiteY156" fmla="*/ 325903 h 1605023"/>
              <a:gd name="connsiteX157" fmla="*/ 2088528 w 10680562"/>
              <a:gd name="connsiteY157" fmla="*/ 311409 h 1605023"/>
              <a:gd name="connsiteX158" fmla="*/ 2090087 w 10680562"/>
              <a:gd name="connsiteY158" fmla="*/ 311676 h 1605023"/>
              <a:gd name="connsiteX159" fmla="*/ 2091700 w 10680562"/>
              <a:gd name="connsiteY159" fmla="*/ 307455 h 1605023"/>
              <a:gd name="connsiteX160" fmla="*/ 2096989 w 10680562"/>
              <a:gd name="connsiteY160" fmla="*/ 304649 h 1605023"/>
              <a:gd name="connsiteX161" fmla="*/ 2113325 w 10680562"/>
              <a:gd name="connsiteY161" fmla="*/ 302764 h 1605023"/>
              <a:gd name="connsiteX162" fmla="*/ 2119780 w 10680562"/>
              <a:gd name="connsiteY162" fmla="*/ 303007 h 1605023"/>
              <a:gd name="connsiteX163" fmla="*/ 2128562 w 10680562"/>
              <a:gd name="connsiteY163" fmla="*/ 301336 h 1605023"/>
              <a:gd name="connsiteX164" fmla="*/ 2128679 w 10680562"/>
              <a:gd name="connsiteY164" fmla="*/ 300991 h 1605023"/>
              <a:gd name="connsiteX165" fmla="*/ 2179558 w 10680562"/>
              <a:gd name="connsiteY165" fmla="*/ 299095 h 1605023"/>
              <a:gd name="connsiteX166" fmla="*/ 2223277 w 10680562"/>
              <a:gd name="connsiteY166" fmla="*/ 260239 h 1605023"/>
              <a:gd name="connsiteX167" fmla="*/ 2243644 w 10680562"/>
              <a:gd name="connsiteY167" fmla="*/ 251110 h 1605023"/>
              <a:gd name="connsiteX168" fmla="*/ 2253986 w 10680562"/>
              <a:gd name="connsiteY168" fmla="*/ 244616 h 1605023"/>
              <a:gd name="connsiteX169" fmla="*/ 2254285 w 10680562"/>
              <a:gd name="connsiteY169" fmla="*/ 243167 h 1605023"/>
              <a:gd name="connsiteX170" fmla="*/ 2295037 w 10680562"/>
              <a:gd name="connsiteY170" fmla="*/ 242433 h 1605023"/>
              <a:gd name="connsiteX171" fmla="*/ 2299648 w 10680562"/>
              <a:gd name="connsiteY171" fmla="*/ 239896 h 1605023"/>
              <a:gd name="connsiteX172" fmla="*/ 2327237 w 10680562"/>
              <a:gd name="connsiteY172" fmla="*/ 242539 h 1605023"/>
              <a:gd name="connsiteX173" fmla="*/ 2340943 w 10680562"/>
              <a:gd name="connsiteY173" fmla="*/ 242239 h 1605023"/>
              <a:gd name="connsiteX174" fmla="*/ 2345943 w 10680562"/>
              <a:gd name="connsiteY174" fmla="*/ 245589 h 1605023"/>
              <a:gd name="connsiteX175" fmla="*/ 2365602 w 10680562"/>
              <a:gd name="connsiteY175" fmla="*/ 243403 h 1605023"/>
              <a:gd name="connsiteX176" fmla="*/ 2367433 w 10680562"/>
              <a:gd name="connsiteY176" fmla="*/ 241858 h 1605023"/>
              <a:gd name="connsiteX177" fmla="*/ 2385231 w 10680562"/>
              <a:gd name="connsiteY177" fmla="*/ 244873 h 1605023"/>
              <a:gd name="connsiteX178" fmla="*/ 2402059 w 10680562"/>
              <a:gd name="connsiteY178" fmla="*/ 253223 h 1605023"/>
              <a:gd name="connsiteX179" fmla="*/ 2719020 w 10680562"/>
              <a:gd name="connsiteY179" fmla="*/ 235271 h 1605023"/>
              <a:gd name="connsiteX180" fmla="*/ 2877308 w 10680562"/>
              <a:gd name="connsiteY180" fmla="*/ 208630 h 1605023"/>
              <a:gd name="connsiteX181" fmla="*/ 3051375 w 10680562"/>
              <a:gd name="connsiteY181" fmla="*/ 154110 h 1605023"/>
              <a:gd name="connsiteX182" fmla="*/ 3104837 w 10680562"/>
              <a:gd name="connsiteY182" fmla="*/ 135199 h 1605023"/>
              <a:gd name="connsiteX183" fmla="*/ 3159836 w 10680562"/>
              <a:gd name="connsiteY183" fmla="*/ 142694 h 1605023"/>
              <a:gd name="connsiteX184" fmla="*/ 3177510 w 10680562"/>
              <a:gd name="connsiteY184" fmla="*/ 130186 h 1605023"/>
              <a:gd name="connsiteX185" fmla="*/ 3180470 w 10680562"/>
              <a:gd name="connsiteY185" fmla="*/ 127764 h 1605023"/>
              <a:gd name="connsiteX186" fmla="*/ 3194216 w 10680562"/>
              <a:gd name="connsiteY186" fmla="*/ 123837 h 1605023"/>
              <a:gd name="connsiteX187" fmla="*/ 3214710 w 10680562"/>
              <a:gd name="connsiteY187" fmla="*/ 104451 h 1605023"/>
              <a:gd name="connsiteX188" fmla="*/ 3240671 w 10680562"/>
              <a:gd name="connsiteY188" fmla="*/ 99232 h 1605023"/>
              <a:gd name="connsiteX189" fmla="*/ 3366544 w 10680562"/>
              <a:gd name="connsiteY189" fmla="*/ 82506 h 1605023"/>
              <a:gd name="connsiteX190" fmla="*/ 3440424 w 10680562"/>
              <a:gd name="connsiteY190" fmla="*/ 67891 h 1605023"/>
              <a:gd name="connsiteX191" fmla="*/ 3466248 w 10680562"/>
              <a:gd name="connsiteY191" fmla="*/ 55103 h 1605023"/>
              <a:gd name="connsiteX192" fmla="*/ 3503820 w 10680562"/>
              <a:gd name="connsiteY192" fmla="*/ 42110 h 1605023"/>
              <a:gd name="connsiteX193" fmla="*/ 3568389 w 10680562"/>
              <a:gd name="connsiteY193" fmla="*/ 13576 h 1605023"/>
              <a:gd name="connsiteX194" fmla="*/ 3604089 w 10680562"/>
              <a:gd name="connsiteY194" fmla="*/ 6980 h 16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680562" h="1605023">
                <a:moveTo>
                  <a:pt x="3617689" y="0"/>
                </a:moveTo>
                <a:lnTo>
                  <a:pt x="3635901" y="7738"/>
                </a:lnTo>
                <a:cubicBezTo>
                  <a:pt x="3636815" y="-13593"/>
                  <a:pt x="3674070" y="21953"/>
                  <a:pt x="3690891" y="7049"/>
                </a:cubicBezTo>
                <a:cubicBezTo>
                  <a:pt x="3723615" y="8082"/>
                  <a:pt x="3780877" y="7675"/>
                  <a:pt x="3832247" y="13937"/>
                </a:cubicBezTo>
                <a:cubicBezTo>
                  <a:pt x="3878761" y="52737"/>
                  <a:pt x="3960967" y="15082"/>
                  <a:pt x="3999111" y="44624"/>
                </a:cubicBezTo>
                <a:cubicBezTo>
                  <a:pt x="4011661" y="48427"/>
                  <a:pt x="4023440" y="49464"/>
                  <a:pt x="4034676" y="48775"/>
                </a:cubicBezTo>
                <a:lnTo>
                  <a:pt x="4065394" y="42879"/>
                </a:lnTo>
                <a:lnTo>
                  <a:pt x="4072648" y="33262"/>
                </a:lnTo>
                <a:lnTo>
                  <a:pt x="4092232" y="34026"/>
                </a:lnTo>
                <a:lnTo>
                  <a:pt x="4097470" y="32252"/>
                </a:lnTo>
                <a:cubicBezTo>
                  <a:pt x="4107476" y="28819"/>
                  <a:pt x="4117405" y="25741"/>
                  <a:pt x="4127488" y="24056"/>
                </a:cubicBezTo>
                <a:cubicBezTo>
                  <a:pt x="4122379" y="69900"/>
                  <a:pt x="4212421" y="17287"/>
                  <a:pt x="4190803" y="55685"/>
                </a:cubicBezTo>
                <a:cubicBezTo>
                  <a:pt x="4245322" y="54405"/>
                  <a:pt x="4210442" y="91290"/>
                  <a:pt x="4269333" y="54186"/>
                </a:cubicBezTo>
                <a:cubicBezTo>
                  <a:pt x="4360007" y="84494"/>
                  <a:pt x="4405441" y="66275"/>
                  <a:pt x="4481486" y="116915"/>
                </a:cubicBezTo>
                <a:cubicBezTo>
                  <a:pt x="4469366" y="96298"/>
                  <a:pt x="4624978" y="141388"/>
                  <a:pt x="4651418" y="150071"/>
                </a:cubicBezTo>
                <a:lnTo>
                  <a:pt x="4863575" y="175458"/>
                </a:lnTo>
                <a:cubicBezTo>
                  <a:pt x="4867452" y="182323"/>
                  <a:pt x="5007365" y="209256"/>
                  <a:pt x="5013635" y="213928"/>
                </a:cubicBezTo>
                <a:lnTo>
                  <a:pt x="5203044" y="228946"/>
                </a:lnTo>
                <a:lnTo>
                  <a:pt x="5207070" y="235105"/>
                </a:lnTo>
                <a:lnTo>
                  <a:pt x="5224253" y="240320"/>
                </a:lnTo>
                <a:lnTo>
                  <a:pt x="5256736" y="254811"/>
                </a:lnTo>
                <a:lnTo>
                  <a:pt x="5264095" y="253567"/>
                </a:lnTo>
                <a:lnTo>
                  <a:pt x="5315084" y="269264"/>
                </a:lnTo>
                <a:lnTo>
                  <a:pt x="5316393" y="267603"/>
                </a:lnTo>
                <a:cubicBezTo>
                  <a:pt x="5320500" y="264235"/>
                  <a:pt x="5325719" y="262424"/>
                  <a:pt x="5333427" y="263823"/>
                </a:cubicBezTo>
                <a:cubicBezTo>
                  <a:pt x="5330520" y="234164"/>
                  <a:pt x="5341605" y="254143"/>
                  <a:pt x="5364589" y="260882"/>
                </a:cubicBezTo>
                <a:cubicBezTo>
                  <a:pt x="5365199" y="216323"/>
                  <a:pt x="5425089" y="252089"/>
                  <a:pt x="5443973" y="230866"/>
                </a:cubicBezTo>
                <a:cubicBezTo>
                  <a:pt x="5460840" y="236821"/>
                  <a:pt x="5478689" y="242307"/>
                  <a:pt x="5497201" y="247023"/>
                </a:cubicBezTo>
                <a:lnTo>
                  <a:pt x="5508269" y="249256"/>
                </a:lnTo>
                <a:lnTo>
                  <a:pt x="5508636" y="248880"/>
                </a:lnTo>
                <a:cubicBezTo>
                  <a:pt x="5511356" y="248469"/>
                  <a:pt x="5515116" y="248867"/>
                  <a:pt x="5520606" y="250400"/>
                </a:cubicBezTo>
                <a:lnTo>
                  <a:pt x="5528451" y="253330"/>
                </a:lnTo>
                <a:lnTo>
                  <a:pt x="5549923" y="257662"/>
                </a:lnTo>
                <a:lnTo>
                  <a:pt x="5558295" y="256364"/>
                </a:lnTo>
                <a:lnTo>
                  <a:pt x="5664799" y="278924"/>
                </a:lnTo>
                <a:lnTo>
                  <a:pt x="5796160" y="307979"/>
                </a:lnTo>
                <a:lnTo>
                  <a:pt x="5897647" y="339431"/>
                </a:lnTo>
                <a:cubicBezTo>
                  <a:pt x="5894921" y="322560"/>
                  <a:pt x="5962532" y="357207"/>
                  <a:pt x="5978838" y="367970"/>
                </a:cubicBezTo>
                <a:cubicBezTo>
                  <a:pt x="6035145" y="375765"/>
                  <a:pt x="6006578" y="380813"/>
                  <a:pt x="6050367" y="386341"/>
                </a:cubicBezTo>
                <a:cubicBezTo>
                  <a:pt x="6051161" y="391932"/>
                  <a:pt x="6137489" y="380709"/>
                  <a:pt x="6140609" y="385135"/>
                </a:cubicBezTo>
                <a:cubicBezTo>
                  <a:pt x="6205928" y="424013"/>
                  <a:pt x="6248816" y="452185"/>
                  <a:pt x="6302950" y="448183"/>
                </a:cubicBezTo>
                <a:lnTo>
                  <a:pt x="6308533" y="448551"/>
                </a:lnTo>
                <a:lnTo>
                  <a:pt x="6340278" y="468555"/>
                </a:lnTo>
                <a:lnTo>
                  <a:pt x="6341685" y="467587"/>
                </a:lnTo>
                <a:cubicBezTo>
                  <a:pt x="6345560" y="465876"/>
                  <a:pt x="6349786" y="465470"/>
                  <a:pt x="6354862" y="467794"/>
                </a:cubicBezTo>
                <a:cubicBezTo>
                  <a:pt x="6361260" y="446013"/>
                  <a:pt x="6363438" y="462250"/>
                  <a:pt x="6377840" y="471024"/>
                </a:cubicBezTo>
                <a:cubicBezTo>
                  <a:pt x="6390990" y="439154"/>
                  <a:pt x="6423334" y="475084"/>
                  <a:pt x="6442804" y="463091"/>
                </a:cubicBezTo>
                <a:cubicBezTo>
                  <a:pt x="6453090" y="470255"/>
                  <a:pt x="6464204" y="477252"/>
                  <a:pt x="6476009" y="483807"/>
                </a:cubicBezTo>
                <a:lnTo>
                  <a:pt x="6483237" y="487308"/>
                </a:lnTo>
                <a:lnTo>
                  <a:pt x="6483605" y="487102"/>
                </a:lnTo>
                <a:cubicBezTo>
                  <a:pt x="6485654" y="487272"/>
                  <a:pt x="6488212" y="488201"/>
                  <a:pt x="6491673" y="490243"/>
                </a:cubicBezTo>
                <a:lnTo>
                  <a:pt x="6496411" y="493689"/>
                </a:lnTo>
                <a:lnTo>
                  <a:pt x="6510429" y="500479"/>
                </a:lnTo>
                <a:lnTo>
                  <a:pt x="6516750" y="500983"/>
                </a:lnTo>
                <a:cubicBezTo>
                  <a:pt x="6541864" y="496675"/>
                  <a:pt x="6554866" y="452619"/>
                  <a:pt x="6580199" y="483318"/>
                </a:cubicBezTo>
                <a:cubicBezTo>
                  <a:pt x="6622601" y="489571"/>
                  <a:pt x="6654587" y="470617"/>
                  <a:pt x="6690237" y="493051"/>
                </a:cubicBezTo>
                <a:cubicBezTo>
                  <a:pt x="6729957" y="498806"/>
                  <a:pt x="6766252" y="494451"/>
                  <a:pt x="6798356" y="506748"/>
                </a:cubicBezTo>
                <a:cubicBezTo>
                  <a:pt x="6813529" y="501270"/>
                  <a:pt x="6826992" y="500232"/>
                  <a:pt x="6837102" y="513677"/>
                </a:cubicBezTo>
                <a:cubicBezTo>
                  <a:pt x="6874837" y="515764"/>
                  <a:pt x="6887115" y="500833"/>
                  <a:pt x="6907934" y="517339"/>
                </a:cubicBezTo>
                <a:cubicBezTo>
                  <a:pt x="6934086" y="494196"/>
                  <a:pt x="6933260" y="504492"/>
                  <a:pt x="6941474" y="513632"/>
                </a:cubicBezTo>
                <a:lnTo>
                  <a:pt x="6942754" y="514394"/>
                </a:lnTo>
                <a:lnTo>
                  <a:pt x="6946363" y="511066"/>
                </a:lnTo>
                <a:lnTo>
                  <a:pt x="6952592" y="510252"/>
                </a:lnTo>
                <a:lnTo>
                  <a:pt x="6968398" y="513946"/>
                </a:lnTo>
                <a:lnTo>
                  <a:pt x="6974142" y="516310"/>
                </a:lnTo>
                <a:cubicBezTo>
                  <a:pt x="6978173" y="517574"/>
                  <a:pt x="6980948" y="517948"/>
                  <a:pt x="6982971" y="517694"/>
                </a:cubicBezTo>
                <a:lnTo>
                  <a:pt x="6983252" y="517416"/>
                </a:lnTo>
                <a:lnTo>
                  <a:pt x="6991400" y="519321"/>
                </a:lnTo>
                <a:cubicBezTo>
                  <a:pt x="7005004" y="523242"/>
                  <a:pt x="7018100" y="527732"/>
                  <a:pt x="7030460" y="532556"/>
                </a:cubicBezTo>
                <a:cubicBezTo>
                  <a:pt x="7044917" y="516932"/>
                  <a:pt x="7088472" y="545083"/>
                  <a:pt x="7089916" y="511503"/>
                </a:cubicBezTo>
                <a:cubicBezTo>
                  <a:pt x="7106785" y="517039"/>
                  <a:pt x="7114554" y="532321"/>
                  <a:pt x="7113059" y="509904"/>
                </a:cubicBezTo>
                <a:cubicBezTo>
                  <a:pt x="7118735" y="511110"/>
                  <a:pt x="7122641" y="509850"/>
                  <a:pt x="7125755" y="507393"/>
                </a:cubicBezTo>
                <a:lnTo>
                  <a:pt x="7126765" y="506166"/>
                </a:lnTo>
                <a:lnTo>
                  <a:pt x="7164175" y="519011"/>
                </a:lnTo>
                <a:lnTo>
                  <a:pt x="7169654" y="518219"/>
                </a:lnTo>
                <a:lnTo>
                  <a:pt x="7193386" y="529788"/>
                </a:lnTo>
                <a:lnTo>
                  <a:pt x="7205997" y="534060"/>
                </a:lnTo>
                <a:lnTo>
                  <a:pt x="7208842" y="538783"/>
                </a:lnTo>
                <a:cubicBezTo>
                  <a:pt x="7212314" y="541931"/>
                  <a:pt x="7217803" y="543928"/>
                  <a:pt x="7227817" y="543304"/>
                </a:cubicBezTo>
                <a:lnTo>
                  <a:pt x="7230267" y="542497"/>
                </a:lnTo>
                <a:lnTo>
                  <a:pt x="7244913" y="551160"/>
                </a:lnTo>
                <a:cubicBezTo>
                  <a:pt x="7249453" y="554807"/>
                  <a:pt x="7253253" y="559130"/>
                  <a:pt x="7255970" y="564383"/>
                </a:cubicBezTo>
                <a:cubicBezTo>
                  <a:pt x="7315146" y="548103"/>
                  <a:pt x="7361553" y="579076"/>
                  <a:pt x="7421156" y="584155"/>
                </a:cubicBezTo>
                <a:cubicBezTo>
                  <a:pt x="7465612" y="613750"/>
                  <a:pt x="7546249" y="613142"/>
                  <a:pt x="7553166" y="653085"/>
                </a:cubicBezTo>
                <a:cubicBezTo>
                  <a:pt x="7562552" y="609214"/>
                  <a:pt x="7673998" y="724531"/>
                  <a:pt x="7643092" y="662482"/>
                </a:cubicBezTo>
                <a:lnTo>
                  <a:pt x="7896429" y="689054"/>
                </a:lnTo>
                <a:cubicBezTo>
                  <a:pt x="7940867" y="662251"/>
                  <a:pt x="7914217" y="689365"/>
                  <a:pt x="7954620" y="689481"/>
                </a:cubicBezTo>
                <a:cubicBezTo>
                  <a:pt x="7937756" y="718000"/>
                  <a:pt x="8005608" y="680123"/>
                  <a:pt x="8000803" y="714583"/>
                </a:cubicBezTo>
                <a:cubicBezTo>
                  <a:pt x="8008309" y="713512"/>
                  <a:pt x="8015731" y="711389"/>
                  <a:pt x="8023216" y="709000"/>
                </a:cubicBezTo>
                <a:lnTo>
                  <a:pt x="8027136" y="707765"/>
                </a:lnTo>
                <a:lnTo>
                  <a:pt x="8041622" y="708731"/>
                </a:lnTo>
                <a:lnTo>
                  <a:pt x="8047209" y="701624"/>
                </a:lnTo>
                <a:lnTo>
                  <a:pt x="8070088" y="697789"/>
                </a:lnTo>
                <a:cubicBezTo>
                  <a:pt x="8078424" y="697492"/>
                  <a:pt x="8087123" y="698508"/>
                  <a:pt x="8096332" y="701624"/>
                </a:cubicBezTo>
                <a:cubicBezTo>
                  <a:pt x="8123926" y="724651"/>
                  <a:pt x="8185640" y="697894"/>
                  <a:pt x="8219225" y="728069"/>
                </a:cubicBezTo>
                <a:cubicBezTo>
                  <a:pt x="8232644" y="736562"/>
                  <a:pt x="8280723" y="746936"/>
                  <a:pt x="8293793" y="739200"/>
                </a:cubicBezTo>
                <a:cubicBezTo>
                  <a:pt x="8304636" y="739365"/>
                  <a:pt x="8314843" y="745516"/>
                  <a:pt x="8323753" y="736063"/>
                </a:cubicBezTo>
                <a:cubicBezTo>
                  <a:pt x="8336542" y="725164"/>
                  <a:pt x="8363344" y="752699"/>
                  <a:pt x="8364496" y="736635"/>
                </a:cubicBezTo>
                <a:cubicBezTo>
                  <a:pt x="8383724" y="755702"/>
                  <a:pt x="8414211" y="733717"/>
                  <a:pt x="8437662" y="731942"/>
                </a:cubicBezTo>
                <a:cubicBezTo>
                  <a:pt x="8451685" y="749699"/>
                  <a:pt x="8487061" y="728469"/>
                  <a:pt x="8533764" y="735554"/>
                </a:cubicBezTo>
                <a:cubicBezTo>
                  <a:pt x="8548878" y="755832"/>
                  <a:pt x="8565301" y="740114"/>
                  <a:pt x="8596769" y="769632"/>
                </a:cubicBezTo>
                <a:cubicBezTo>
                  <a:pt x="8598880" y="767829"/>
                  <a:pt x="8601326" y="766261"/>
                  <a:pt x="8604035" y="764982"/>
                </a:cubicBezTo>
                <a:cubicBezTo>
                  <a:pt x="8619777" y="757551"/>
                  <a:pt x="8640772" y="761213"/>
                  <a:pt x="8650929" y="773164"/>
                </a:cubicBezTo>
                <a:cubicBezTo>
                  <a:pt x="8702615" y="814545"/>
                  <a:pt x="8757170" y="823762"/>
                  <a:pt x="8806497" y="839707"/>
                </a:cubicBezTo>
                <a:cubicBezTo>
                  <a:pt x="8863157" y="854381"/>
                  <a:pt x="8833749" y="812347"/>
                  <a:pt x="8898377" y="854651"/>
                </a:cubicBezTo>
                <a:cubicBezTo>
                  <a:pt x="8909161" y="844048"/>
                  <a:pt x="8918437" y="845186"/>
                  <a:pt x="8932389" y="853846"/>
                </a:cubicBezTo>
                <a:cubicBezTo>
                  <a:pt x="8960146" y="860074"/>
                  <a:pt x="8965550" y="829338"/>
                  <a:pt x="8989288" y="852877"/>
                </a:cubicBezTo>
                <a:cubicBezTo>
                  <a:pt x="8988278" y="835633"/>
                  <a:pt x="9043995" y="856467"/>
                  <a:pt x="9035275" y="837110"/>
                </a:cubicBezTo>
                <a:cubicBezTo>
                  <a:pt x="9060165" y="838647"/>
                  <a:pt x="9108456" y="858499"/>
                  <a:pt x="9138626" y="862106"/>
                </a:cubicBezTo>
                <a:cubicBezTo>
                  <a:pt x="9165080" y="876547"/>
                  <a:pt x="9174888" y="860404"/>
                  <a:pt x="9216298" y="858754"/>
                </a:cubicBezTo>
                <a:cubicBezTo>
                  <a:pt x="9230418" y="871192"/>
                  <a:pt x="9244774" y="868822"/>
                  <a:pt x="9259941" y="861843"/>
                </a:cubicBezTo>
                <a:cubicBezTo>
                  <a:pt x="9297647" y="870955"/>
                  <a:pt x="9335980" y="863006"/>
                  <a:pt x="9380407" y="864825"/>
                </a:cubicBezTo>
                <a:cubicBezTo>
                  <a:pt x="9424338" y="883720"/>
                  <a:pt x="9443322" y="899138"/>
                  <a:pt x="9490772" y="901190"/>
                </a:cubicBezTo>
                <a:cubicBezTo>
                  <a:pt x="9530410" y="933396"/>
                  <a:pt x="9546422" y="928548"/>
                  <a:pt x="9584982" y="935980"/>
                </a:cubicBezTo>
                <a:cubicBezTo>
                  <a:pt x="9629819" y="954269"/>
                  <a:pt x="9718219" y="986435"/>
                  <a:pt x="9759797" y="1010923"/>
                </a:cubicBezTo>
                <a:cubicBezTo>
                  <a:pt x="9801376" y="1035410"/>
                  <a:pt x="9804503" y="1066293"/>
                  <a:pt x="9834455" y="1082908"/>
                </a:cubicBezTo>
                <a:cubicBezTo>
                  <a:pt x="9864406" y="1099522"/>
                  <a:pt x="9891608" y="1087791"/>
                  <a:pt x="9939504" y="1110614"/>
                </a:cubicBezTo>
                <a:cubicBezTo>
                  <a:pt x="9978150" y="1098522"/>
                  <a:pt x="10034187" y="1166580"/>
                  <a:pt x="10077001" y="1160906"/>
                </a:cubicBezTo>
                <a:cubicBezTo>
                  <a:pt x="10084861" y="1190721"/>
                  <a:pt x="10164307" y="1234884"/>
                  <a:pt x="10178431" y="1244920"/>
                </a:cubicBezTo>
                <a:cubicBezTo>
                  <a:pt x="10210316" y="1215779"/>
                  <a:pt x="10222273" y="1306394"/>
                  <a:pt x="10248658" y="1309335"/>
                </a:cubicBezTo>
                <a:lnTo>
                  <a:pt x="10414709" y="1388645"/>
                </a:lnTo>
                <a:cubicBezTo>
                  <a:pt x="10473963" y="1440373"/>
                  <a:pt x="10538857" y="1454568"/>
                  <a:pt x="10592469" y="1543828"/>
                </a:cubicBezTo>
                <a:cubicBezTo>
                  <a:pt x="10651538" y="1531501"/>
                  <a:pt x="10660082" y="1567462"/>
                  <a:pt x="10674941" y="1597388"/>
                </a:cubicBezTo>
                <a:lnTo>
                  <a:pt x="10680562" y="1605023"/>
                </a:lnTo>
                <a:lnTo>
                  <a:pt x="0" y="1605023"/>
                </a:lnTo>
                <a:lnTo>
                  <a:pt x="0" y="415048"/>
                </a:lnTo>
                <a:lnTo>
                  <a:pt x="9656" y="416044"/>
                </a:lnTo>
                <a:cubicBezTo>
                  <a:pt x="66794" y="420549"/>
                  <a:pt x="142962" y="423374"/>
                  <a:pt x="179196" y="423071"/>
                </a:cubicBezTo>
                <a:cubicBezTo>
                  <a:pt x="202136" y="418172"/>
                  <a:pt x="228694" y="392385"/>
                  <a:pt x="250912" y="408617"/>
                </a:cubicBezTo>
                <a:cubicBezTo>
                  <a:pt x="249389" y="392611"/>
                  <a:pt x="280512" y="416185"/>
                  <a:pt x="291375" y="403710"/>
                </a:cubicBezTo>
                <a:cubicBezTo>
                  <a:pt x="298635" y="393187"/>
                  <a:pt x="309770" y="397885"/>
                  <a:pt x="320542" y="396592"/>
                </a:cubicBezTo>
                <a:cubicBezTo>
                  <a:pt x="359051" y="397166"/>
                  <a:pt x="484339" y="405354"/>
                  <a:pt x="522426" y="407158"/>
                </a:cubicBezTo>
                <a:cubicBezTo>
                  <a:pt x="532069" y="408997"/>
                  <a:pt x="540856" y="408831"/>
                  <a:pt x="549068" y="407418"/>
                </a:cubicBezTo>
                <a:lnTo>
                  <a:pt x="571100" y="400562"/>
                </a:lnTo>
                <a:lnTo>
                  <a:pt x="575457" y="392801"/>
                </a:lnTo>
                <a:lnTo>
                  <a:pt x="589968" y="391807"/>
                </a:lnTo>
                <a:lnTo>
                  <a:pt x="593649" y="390062"/>
                </a:lnTo>
                <a:cubicBezTo>
                  <a:pt x="600667" y="386700"/>
                  <a:pt x="607669" y="383607"/>
                  <a:pt x="614928" y="381544"/>
                </a:cubicBezTo>
                <a:cubicBezTo>
                  <a:pt x="636416" y="381988"/>
                  <a:pt x="667253" y="387671"/>
                  <a:pt x="722580" y="392722"/>
                </a:cubicBezTo>
                <a:cubicBezTo>
                  <a:pt x="792539" y="408114"/>
                  <a:pt x="885615" y="380106"/>
                  <a:pt x="946884" y="411854"/>
                </a:cubicBezTo>
                <a:cubicBezTo>
                  <a:pt x="1028270" y="418469"/>
                  <a:pt x="1139077" y="429433"/>
                  <a:pt x="1210905" y="432414"/>
                </a:cubicBezTo>
                <a:cubicBezTo>
                  <a:pt x="1270803" y="429423"/>
                  <a:pt x="1321921" y="453757"/>
                  <a:pt x="1377854" y="429745"/>
                </a:cubicBezTo>
                <a:cubicBezTo>
                  <a:pt x="1381419" y="434564"/>
                  <a:pt x="1385901" y="438319"/>
                  <a:pt x="1391004" y="441307"/>
                </a:cubicBezTo>
                <a:lnTo>
                  <a:pt x="1406953" y="447889"/>
                </a:lnTo>
                <a:lnTo>
                  <a:pt x="1409246" y="446765"/>
                </a:lnTo>
                <a:cubicBezTo>
                  <a:pt x="1419066" y="444804"/>
                  <a:pt x="1424836" y="446037"/>
                  <a:pt x="1428800" y="448677"/>
                </a:cubicBezTo>
                <a:lnTo>
                  <a:pt x="1432402" y="452956"/>
                </a:lnTo>
                <a:lnTo>
                  <a:pt x="1606578" y="430870"/>
                </a:lnTo>
                <a:cubicBezTo>
                  <a:pt x="1619625" y="433971"/>
                  <a:pt x="1633347" y="436643"/>
                  <a:pt x="1647476" y="438687"/>
                </a:cubicBezTo>
                <a:lnTo>
                  <a:pt x="1655866" y="439472"/>
                </a:lnTo>
                <a:lnTo>
                  <a:pt x="1656096" y="439162"/>
                </a:lnTo>
                <a:cubicBezTo>
                  <a:pt x="1658061" y="438636"/>
                  <a:pt x="1666503" y="411823"/>
                  <a:pt x="1670708" y="412530"/>
                </a:cubicBezTo>
                <a:lnTo>
                  <a:pt x="1737953" y="399496"/>
                </a:lnTo>
                <a:lnTo>
                  <a:pt x="1848192" y="376032"/>
                </a:lnTo>
                <a:cubicBezTo>
                  <a:pt x="1887458" y="368088"/>
                  <a:pt x="1918458" y="352092"/>
                  <a:pt x="1954077" y="352621"/>
                </a:cubicBezTo>
                <a:cubicBezTo>
                  <a:pt x="1965180" y="342609"/>
                  <a:pt x="1976973" y="337201"/>
                  <a:pt x="1993047" y="346068"/>
                </a:cubicBezTo>
                <a:cubicBezTo>
                  <a:pt x="2028636" y="335449"/>
                  <a:pt x="2032293" y="317806"/>
                  <a:pt x="2059719" y="325903"/>
                </a:cubicBezTo>
                <a:cubicBezTo>
                  <a:pt x="2071905" y="296194"/>
                  <a:pt x="2076373" y="305826"/>
                  <a:pt x="2088528" y="311409"/>
                </a:cubicBezTo>
                <a:lnTo>
                  <a:pt x="2090087" y="311676"/>
                </a:lnTo>
                <a:lnTo>
                  <a:pt x="2091700" y="307455"/>
                </a:lnTo>
                <a:lnTo>
                  <a:pt x="2096989" y="304649"/>
                </a:lnTo>
                <a:lnTo>
                  <a:pt x="2113325" y="302764"/>
                </a:lnTo>
                <a:lnTo>
                  <a:pt x="2119780" y="303007"/>
                </a:lnTo>
                <a:cubicBezTo>
                  <a:pt x="2124111" y="302819"/>
                  <a:pt x="2126840" y="302239"/>
                  <a:pt x="2128562" y="301336"/>
                </a:cubicBezTo>
                <a:cubicBezTo>
                  <a:pt x="2128600" y="301221"/>
                  <a:pt x="2128640" y="301107"/>
                  <a:pt x="2128679" y="300991"/>
                </a:cubicBezTo>
                <a:lnTo>
                  <a:pt x="2179558" y="299095"/>
                </a:lnTo>
                <a:cubicBezTo>
                  <a:pt x="2184857" y="280099"/>
                  <a:pt x="2238998" y="291238"/>
                  <a:pt x="2223277" y="260239"/>
                </a:cubicBezTo>
                <a:cubicBezTo>
                  <a:pt x="2241523" y="259676"/>
                  <a:pt x="2256386" y="270988"/>
                  <a:pt x="2243644" y="251110"/>
                </a:cubicBezTo>
                <a:cubicBezTo>
                  <a:pt x="2249448" y="250324"/>
                  <a:pt x="2252382" y="247882"/>
                  <a:pt x="2253986" y="244616"/>
                </a:cubicBezTo>
                <a:lnTo>
                  <a:pt x="2254285" y="243167"/>
                </a:lnTo>
                <a:lnTo>
                  <a:pt x="2295037" y="242433"/>
                </a:lnTo>
                <a:lnTo>
                  <a:pt x="2299648" y="239896"/>
                </a:lnTo>
                <a:lnTo>
                  <a:pt x="2327237" y="242539"/>
                </a:lnTo>
                <a:lnTo>
                  <a:pt x="2340943" y="242239"/>
                </a:lnTo>
                <a:lnTo>
                  <a:pt x="2345943" y="245589"/>
                </a:lnTo>
                <a:cubicBezTo>
                  <a:pt x="2350718" y="247299"/>
                  <a:pt x="2356754" y="247292"/>
                  <a:pt x="2365602" y="243403"/>
                </a:cubicBezTo>
                <a:lnTo>
                  <a:pt x="2367433" y="241858"/>
                </a:lnTo>
                <a:lnTo>
                  <a:pt x="2385231" y="244873"/>
                </a:lnTo>
                <a:cubicBezTo>
                  <a:pt x="2391237" y="246682"/>
                  <a:pt x="2396907" y="249351"/>
                  <a:pt x="2402059" y="253223"/>
                </a:cubicBezTo>
                <a:cubicBezTo>
                  <a:pt x="2457690" y="251623"/>
                  <a:pt x="2639813" y="242704"/>
                  <a:pt x="2719020" y="235271"/>
                </a:cubicBezTo>
                <a:cubicBezTo>
                  <a:pt x="2762954" y="229515"/>
                  <a:pt x="2821915" y="222156"/>
                  <a:pt x="2877308" y="208630"/>
                </a:cubicBezTo>
                <a:cubicBezTo>
                  <a:pt x="2947949" y="226393"/>
                  <a:pt x="2978035" y="153757"/>
                  <a:pt x="3051375" y="154110"/>
                </a:cubicBezTo>
                <a:cubicBezTo>
                  <a:pt x="3078434" y="115011"/>
                  <a:pt x="3067807" y="148493"/>
                  <a:pt x="3104837" y="135199"/>
                </a:cubicBezTo>
                <a:cubicBezTo>
                  <a:pt x="3103880" y="166713"/>
                  <a:pt x="3146743" y="109780"/>
                  <a:pt x="3159836" y="142694"/>
                </a:cubicBezTo>
                <a:cubicBezTo>
                  <a:pt x="3166160" y="139232"/>
                  <a:pt x="3171875" y="134841"/>
                  <a:pt x="3177510" y="130186"/>
                </a:cubicBezTo>
                <a:lnTo>
                  <a:pt x="3180470" y="127764"/>
                </a:lnTo>
                <a:lnTo>
                  <a:pt x="3194216" y="123837"/>
                </a:lnTo>
                <a:lnTo>
                  <a:pt x="3214710" y="104451"/>
                </a:lnTo>
                <a:cubicBezTo>
                  <a:pt x="3222186" y="101416"/>
                  <a:pt x="3230663" y="99454"/>
                  <a:pt x="3240671" y="99232"/>
                </a:cubicBezTo>
                <a:cubicBezTo>
                  <a:pt x="3277606" y="111009"/>
                  <a:pt x="3320498" y="66221"/>
                  <a:pt x="3366544" y="82506"/>
                </a:cubicBezTo>
                <a:cubicBezTo>
                  <a:pt x="3383134" y="85775"/>
                  <a:pt x="3432393" y="79256"/>
                  <a:pt x="3440424" y="67891"/>
                </a:cubicBezTo>
                <a:cubicBezTo>
                  <a:pt x="3450432" y="64444"/>
                  <a:pt x="3462892" y="66649"/>
                  <a:pt x="3466248" y="55103"/>
                </a:cubicBezTo>
                <a:cubicBezTo>
                  <a:pt x="3472418" y="40954"/>
                  <a:pt x="3510917" y="57092"/>
                  <a:pt x="3503820" y="42110"/>
                </a:cubicBezTo>
                <a:lnTo>
                  <a:pt x="3568389" y="13576"/>
                </a:lnTo>
                <a:cubicBezTo>
                  <a:pt x="3579310" y="19318"/>
                  <a:pt x="3590168" y="14433"/>
                  <a:pt x="3604089" y="698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Obraz 9">
            <a:extLst>
              <a:ext uri="{FF2B5EF4-FFF2-40B4-BE49-F238E27FC236}">
                <a16:creationId xmlns:a16="http://schemas.microsoft.com/office/drawing/2014/main" id="{DC183F52-AB49-24BA-6CA1-36A08CAD35CD}"/>
              </a:ext>
            </a:extLst>
          </p:cNvPr>
          <p:cNvPicPr>
            <a:picLocks noChangeAspect="1"/>
          </p:cNvPicPr>
          <p:nvPr/>
        </p:nvPicPr>
        <p:blipFill>
          <a:blip r:embed="rId3"/>
          <a:srcRect l="25317" t="46315" r="24791" b="1347"/>
          <a:stretch>
            <a:fillRect/>
          </a:stretch>
        </p:blipFill>
        <p:spPr>
          <a:xfrm>
            <a:off x="3685917" y="2914339"/>
            <a:ext cx="3217422" cy="736414"/>
          </a:xfrm>
          <a:prstGeom prst="rect">
            <a:avLst/>
          </a:prstGeom>
        </p:spPr>
      </p:pic>
      <p:pic>
        <p:nvPicPr>
          <p:cNvPr id="4" name="Obraz 3">
            <a:extLst>
              <a:ext uri="{FF2B5EF4-FFF2-40B4-BE49-F238E27FC236}">
                <a16:creationId xmlns:a16="http://schemas.microsoft.com/office/drawing/2014/main" id="{83DA7442-F049-9B57-F480-D792CE9E42A3}"/>
              </a:ext>
            </a:extLst>
          </p:cNvPr>
          <p:cNvPicPr>
            <a:picLocks noChangeAspect="1"/>
          </p:cNvPicPr>
          <p:nvPr/>
        </p:nvPicPr>
        <p:blipFill>
          <a:blip r:embed="rId4"/>
          <a:stretch>
            <a:fillRect/>
          </a:stretch>
        </p:blipFill>
        <p:spPr>
          <a:xfrm>
            <a:off x="7066542" y="1595418"/>
            <a:ext cx="4749673" cy="3921826"/>
          </a:xfrm>
          <a:prstGeom prst="rect">
            <a:avLst/>
          </a:prstGeom>
        </p:spPr>
      </p:pic>
      <p:sp>
        <p:nvSpPr>
          <p:cNvPr id="3" name="Symbol zastępczy zawartości 2">
            <a:extLst>
              <a:ext uri="{FF2B5EF4-FFF2-40B4-BE49-F238E27FC236}">
                <a16:creationId xmlns:a16="http://schemas.microsoft.com/office/drawing/2014/main" id="{64B75073-4BE9-868C-4EF1-14CDF413EDF1}"/>
              </a:ext>
            </a:extLst>
          </p:cNvPr>
          <p:cNvSpPr>
            <a:spLocks noGrp="1"/>
          </p:cNvSpPr>
          <p:nvPr>
            <p:ph idx="1"/>
          </p:nvPr>
        </p:nvSpPr>
        <p:spPr>
          <a:xfrm>
            <a:off x="924239" y="1858001"/>
            <a:ext cx="6223210" cy="1635613"/>
          </a:xfrm>
        </p:spPr>
        <p:txBody>
          <a:bodyPr>
            <a:normAutofit/>
          </a:bodyPr>
          <a:lstStyle/>
          <a:p>
            <a:pPr marL="0" indent="0">
              <a:buNone/>
            </a:pPr>
            <a:r>
              <a:rPr lang="pl-PL" sz="2000" dirty="0"/>
              <a:t>Wykonuje się wykres y(x) gdzie y = </a:t>
            </a:r>
            <a:r>
              <a:rPr lang="el-GR" sz="2000" dirty="0"/>
              <a:t>ϐ</a:t>
            </a:r>
            <a:r>
              <a:rPr lang="pl-PL" sz="2000" dirty="0"/>
              <a:t>cos</a:t>
            </a:r>
            <a:r>
              <a:rPr lang="el-GR" sz="2000" dirty="0"/>
              <a:t>ϑ</a:t>
            </a:r>
            <a:r>
              <a:rPr lang="pl-PL" sz="2000" dirty="0"/>
              <a:t>, zaś x = sin</a:t>
            </a:r>
            <a:r>
              <a:rPr lang="el-GR" sz="2000" dirty="0"/>
              <a:t>ϑ</a:t>
            </a:r>
            <a:r>
              <a:rPr lang="pl-PL" sz="2000" dirty="0"/>
              <a:t> dla każdego piku i dopasowuje się regresję liniową do danych, a nachylenie i przecięcie z osią y dają odpowiednio wartości K</a:t>
            </a:r>
            <a:r>
              <a:rPr lang="el-GR" sz="2000" dirty="0"/>
              <a:t>λ</a:t>
            </a:r>
            <a:r>
              <a:rPr lang="pl-PL" sz="2000" dirty="0"/>
              <a:t>/d oraz 4</a:t>
            </a:r>
            <a:r>
              <a:rPr lang="el-GR" sz="2000" dirty="0"/>
              <a:t>ε</a:t>
            </a:r>
            <a:r>
              <a:rPr lang="pl-PL" sz="2000" dirty="0"/>
              <a:t> </a:t>
            </a:r>
            <a:r>
              <a:rPr lang="pl-PL" sz="1800" dirty="0"/>
              <a:t>(d – średnica krystalitu,</a:t>
            </a:r>
            <a:r>
              <a:rPr lang="el-GR" sz="1800" dirty="0"/>
              <a:t>ε</a:t>
            </a:r>
            <a:r>
              <a:rPr lang="pl-PL" sz="1800" dirty="0"/>
              <a:t> - naprężenie).</a:t>
            </a:r>
            <a:endParaRPr lang="pl-PL" sz="2000" dirty="0"/>
          </a:p>
        </p:txBody>
      </p:sp>
      <p:sp>
        <p:nvSpPr>
          <p:cNvPr id="9" name="pole tekstowe 8">
            <a:extLst>
              <a:ext uri="{FF2B5EF4-FFF2-40B4-BE49-F238E27FC236}">
                <a16:creationId xmlns:a16="http://schemas.microsoft.com/office/drawing/2014/main" id="{E14DF6F4-9C29-9C9F-674E-87974C52BF61}"/>
              </a:ext>
            </a:extLst>
          </p:cNvPr>
          <p:cNvSpPr txBox="1"/>
          <p:nvPr/>
        </p:nvSpPr>
        <p:spPr>
          <a:xfrm>
            <a:off x="809269" y="3672854"/>
            <a:ext cx="6094070" cy="2308324"/>
          </a:xfrm>
          <a:prstGeom prst="rect">
            <a:avLst/>
          </a:prstGeom>
          <a:noFill/>
        </p:spPr>
        <p:txBody>
          <a:bodyPr wrap="square">
            <a:spAutoFit/>
          </a:bodyPr>
          <a:lstStyle/>
          <a:p>
            <a:r>
              <a:rPr lang="pl-PL" sz="1800" dirty="0"/>
              <a:t>Można również zastosować m</a:t>
            </a:r>
            <a:r>
              <a:rPr lang="pl-PL" dirty="0"/>
              <a:t>odel jednolitej gęstości energii odkształcenia UDEDM, który opiera się na założeniu, że moduł Younga jest anizotropowy i wzbogaca równanie o zależność między naprężeniem a odkształceniem, a dodatkowo uwzględnia gęstość energii układu sprężystego.</a:t>
            </a:r>
          </a:p>
          <a:p>
            <a:r>
              <a:rPr lang="pl-PL" sz="1800" dirty="0"/>
              <a:t>Wówczas równanie </a:t>
            </a:r>
            <a:r>
              <a:rPr lang="pl-PL" dirty="0"/>
              <a:t>będzie wyglądać następująco  </a:t>
            </a:r>
            <a:r>
              <a:rPr lang="pl-PL" dirty="0">
                <a:sym typeface="Wingdings" panose="05000000000000000000" pitchFamily="2" charset="2"/>
              </a:rPr>
              <a:t></a:t>
            </a:r>
            <a:br>
              <a:rPr lang="pl-PL" dirty="0">
                <a:sym typeface="Wingdings" panose="05000000000000000000" pitchFamily="2" charset="2"/>
              </a:rPr>
            </a:br>
            <a:br>
              <a:rPr lang="pl-PL" dirty="0">
                <a:sym typeface="Wingdings" panose="05000000000000000000" pitchFamily="2" charset="2"/>
              </a:rPr>
            </a:br>
            <a:r>
              <a:rPr lang="pl-PL" dirty="0">
                <a:sym typeface="Wingdings" panose="05000000000000000000" pitchFamily="2" charset="2"/>
              </a:rPr>
              <a:t>Mamy dodatkowo </a:t>
            </a:r>
            <a:endParaRPr lang="pl-PL" sz="1800" dirty="0"/>
          </a:p>
        </p:txBody>
      </p:sp>
      <p:pic>
        <p:nvPicPr>
          <p:cNvPr id="13" name="Obraz 12">
            <a:extLst>
              <a:ext uri="{FF2B5EF4-FFF2-40B4-BE49-F238E27FC236}">
                <a16:creationId xmlns:a16="http://schemas.microsoft.com/office/drawing/2014/main" id="{4F327071-3B88-6F1D-CA2D-C31D6F14B701}"/>
              </a:ext>
            </a:extLst>
          </p:cNvPr>
          <p:cNvPicPr>
            <a:picLocks noChangeAspect="1"/>
          </p:cNvPicPr>
          <p:nvPr/>
        </p:nvPicPr>
        <p:blipFill>
          <a:blip r:embed="rId5"/>
          <a:stretch>
            <a:fillRect/>
          </a:stretch>
        </p:blipFill>
        <p:spPr>
          <a:xfrm>
            <a:off x="5390962" y="5559311"/>
            <a:ext cx="3248293" cy="860278"/>
          </a:xfrm>
          <a:prstGeom prst="rect">
            <a:avLst/>
          </a:prstGeom>
        </p:spPr>
      </p:pic>
      <p:pic>
        <p:nvPicPr>
          <p:cNvPr id="15" name="Obraz 14">
            <a:extLst>
              <a:ext uri="{FF2B5EF4-FFF2-40B4-BE49-F238E27FC236}">
                <a16:creationId xmlns:a16="http://schemas.microsoft.com/office/drawing/2014/main" id="{06CCEC5F-41B6-5B6D-2E81-0620C2F80B6A}"/>
              </a:ext>
            </a:extLst>
          </p:cNvPr>
          <p:cNvPicPr>
            <a:picLocks noChangeAspect="1"/>
          </p:cNvPicPr>
          <p:nvPr/>
        </p:nvPicPr>
        <p:blipFill>
          <a:blip r:embed="rId6"/>
          <a:stretch>
            <a:fillRect/>
          </a:stretch>
        </p:blipFill>
        <p:spPr>
          <a:xfrm>
            <a:off x="3030763" y="5518701"/>
            <a:ext cx="1478503" cy="596441"/>
          </a:xfrm>
          <a:prstGeom prst="rect">
            <a:avLst/>
          </a:prstGeom>
        </p:spPr>
      </p:pic>
      <p:sp>
        <p:nvSpPr>
          <p:cNvPr id="16" name="Owal 15">
            <a:extLst>
              <a:ext uri="{FF2B5EF4-FFF2-40B4-BE49-F238E27FC236}">
                <a16:creationId xmlns:a16="http://schemas.microsoft.com/office/drawing/2014/main" id="{3053DB78-1FB0-908D-ECE2-1CB28D36EF01}"/>
              </a:ext>
            </a:extLst>
          </p:cNvPr>
          <p:cNvSpPr/>
          <p:nvPr/>
        </p:nvSpPr>
        <p:spPr>
          <a:xfrm>
            <a:off x="7696200" y="1858001"/>
            <a:ext cx="548640" cy="52140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1665317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AB54FDF-48E4-C379-4E9F-B8CD19E2A740}"/>
              </a:ext>
            </a:extLst>
          </p:cNvPr>
          <p:cNvSpPr>
            <a:spLocks noGrp="1"/>
          </p:cNvSpPr>
          <p:nvPr>
            <p:ph type="title"/>
          </p:nvPr>
        </p:nvSpPr>
        <p:spPr/>
        <p:txBody>
          <a:bodyPr/>
          <a:lstStyle/>
          <a:p>
            <a:r>
              <a:rPr lang="pl-PL" dirty="0"/>
              <a:t> </a:t>
            </a:r>
          </a:p>
        </p:txBody>
      </p:sp>
      <p:sp>
        <p:nvSpPr>
          <p:cNvPr id="3" name="Symbol zastępczy zawartości 2">
            <a:extLst>
              <a:ext uri="{FF2B5EF4-FFF2-40B4-BE49-F238E27FC236}">
                <a16:creationId xmlns:a16="http://schemas.microsoft.com/office/drawing/2014/main" id="{FAACBE90-04C4-CD43-E94F-E1063BAE9995}"/>
              </a:ext>
            </a:extLst>
          </p:cNvPr>
          <p:cNvSpPr>
            <a:spLocks noGrp="1"/>
          </p:cNvSpPr>
          <p:nvPr>
            <p:ph idx="1"/>
          </p:nvPr>
        </p:nvSpPr>
        <p:spPr/>
        <p:txBody>
          <a:bodyPr/>
          <a:lstStyle/>
          <a:p>
            <a:pPr marL="0" indent="0">
              <a:buNone/>
            </a:pPr>
            <a:r>
              <a:rPr lang="pl-PL" dirty="0"/>
              <a:t> </a:t>
            </a:r>
          </a:p>
        </p:txBody>
      </p:sp>
      <p:pic>
        <p:nvPicPr>
          <p:cNvPr id="8" name="Obraz 7">
            <a:extLst>
              <a:ext uri="{FF2B5EF4-FFF2-40B4-BE49-F238E27FC236}">
                <a16:creationId xmlns:a16="http://schemas.microsoft.com/office/drawing/2014/main" id="{285492F4-C960-4CFA-07D4-237003221DC4}"/>
              </a:ext>
            </a:extLst>
          </p:cNvPr>
          <p:cNvPicPr>
            <a:picLocks noChangeAspect="1"/>
          </p:cNvPicPr>
          <p:nvPr/>
        </p:nvPicPr>
        <p:blipFill>
          <a:blip r:embed="rId2"/>
          <a:stretch>
            <a:fillRect/>
          </a:stretch>
        </p:blipFill>
        <p:spPr>
          <a:xfrm>
            <a:off x="211015" y="718738"/>
            <a:ext cx="11769969" cy="5420524"/>
          </a:xfrm>
          <a:prstGeom prst="rect">
            <a:avLst/>
          </a:prstGeom>
        </p:spPr>
      </p:pic>
    </p:spTree>
    <p:extLst>
      <p:ext uri="{BB962C8B-B14F-4D97-AF65-F5344CB8AC3E}">
        <p14:creationId xmlns:p14="http://schemas.microsoft.com/office/powerpoint/2010/main" val="3473188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DA5414-2ED8-8845-43C1-CCB98F320BDA}"/>
            </a:ext>
          </a:extLst>
        </p:cNvPr>
        <p:cNvGrpSpPr/>
        <p:nvPr/>
      </p:nvGrpSpPr>
      <p:grpSpPr>
        <a:xfrm>
          <a:off x="0" y="0"/>
          <a:ext cx="0" cy="0"/>
          <a:chOff x="0" y="0"/>
          <a:chExt cx="0" cy="0"/>
        </a:xfrm>
      </p:grpSpPr>
      <p:sp useBgFill="1">
        <p:nvSpPr>
          <p:cNvPr id="21" name="Rectangle 10">
            <a:extLst>
              <a:ext uri="{FF2B5EF4-FFF2-40B4-BE49-F238E27FC236}">
                <a16:creationId xmlns:a16="http://schemas.microsoft.com/office/drawing/2014/main" id="{A37A68B2-BE96-77D2-9C61-6D9229FA61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2">
            <a:extLst>
              <a:ext uri="{FF2B5EF4-FFF2-40B4-BE49-F238E27FC236}">
                <a16:creationId xmlns:a16="http://schemas.microsoft.com/office/drawing/2014/main" id="{2B868581-1245-F569-A491-5A0BC3033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89924" y="2"/>
            <a:ext cx="7602076" cy="470844"/>
          </a:xfrm>
          <a:custGeom>
            <a:avLst/>
            <a:gdLst>
              <a:gd name="connsiteX0" fmla="*/ 9683888 w 9683888"/>
              <a:gd name="connsiteY0" fmla="*/ 0 h 743457"/>
              <a:gd name="connsiteX1" fmla="*/ 0 w 9683888"/>
              <a:gd name="connsiteY1" fmla="*/ 0 h 743457"/>
              <a:gd name="connsiteX2" fmla="*/ 0 w 9683888"/>
              <a:gd name="connsiteY2" fmla="*/ 365878 h 743457"/>
              <a:gd name="connsiteX3" fmla="*/ 11844 w 9683888"/>
              <a:gd name="connsiteY3" fmla="*/ 367909 h 743457"/>
              <a:gd name="connsiteX4" fmla="*/ 106208 w 9683888"/>
              <a:gd name="connsiteY4" fmla="*/ 385974 h 743457"/>
              <a:gd name="connsiteX5" fmla="*/ 183667 w 9683888"/>
              <a:gd name="connsiteY5" fmla="*/ 399162 h 743457"/>
              <a:gd name="connsiteX6" fmla="*/ 292430 w 9683888"/>
              <a:gd name="connsiteY6" fmla="*/ 390408 h 743457"/>
              <a:gd name="connsiteX7" fmla="*/ 386942 w 9683888"/>
              <a:gd name="connsiteY7" fmla="*/ 395582 h 743457"/>
              <a:gd name="connsiteX8" fmla="*/ 485751 w 9683888"/>
              <a:gd name="connsiteY8" fmla="*/ 408404 h 743457"/>
              <a:gd name="connsiteX9" fmla="*/ 604107 w 9683888"/>
              <a:gd name="connsiteY9" fmla="*/ 418647 h 743457"/>
              <a:gd name="connsiteX10" fmla="*/ 694081 w 9683888"/>
              <a:gd name="connsiteY10" fmla="*/ 449524 h 743457"/>
              <a:gd name="connsiteX11" fmla="*/ 762452 w 9683888"/>
              <a:gd name="connsiteY11" fmla="*/ 456090 h 743457"/>
              <a:gd name="connsiteX12" fmla="*/ 987872 w 9683888"/>
              <a:gd name="connsiteY12" fmla="*/ 481862 h 743457"/>
              <a:gd name="connsiteX13" fmla="*/ 1077163 w 9683888"/>
              <a:gd name="connsiteY13" fmla="*/ 524467 h 743457"/>
              <a:gd name="connsiteX14" fmla="*/ 1258716 w 9683888"/>
              <a:gd name="connsiteY14" fmla="*/ 587975 h 743457"/>
              <a:gd name="connsiteX15" fmla="*/ 1298056 w 9683888"/>
              <a:gd name="connsiteY15" fmla="*/ 595413 h 743457"/>
              <a:gd name="connsiteX16" fmla="*/ 1327017 w 9683888"/>
              <a:gd name="connsiteY16" fmla="*/ 617412 h 743457"/>
              <a:gd name="connsiteX17" fmla="*/ 1347909 w 9683888"/>
              <a:gd name="connsiteY17" fmla="*/ 620209 h 743457"/>
              <a:gd name="connsiteX18" fmla="*/ 1421792 w 9683888"/>
              <a:gd name="connsiteY18" fmla="*/ 626139 h 743457"/>
              <a:gd name="connsiteX19" fmla="*/ 1519789 w 9683888"/>
              <a:gd name="connsiteY19" fmla="*/ 645011 h 743457"/>
              <a:gd name="connsiteX20" fmla="*/ 1620886 w 9683888"/>
              <a:gd name="connsiteY20" fmla="*/ 687715 h 743457"/>
              <a:gd name="connsiteX21" fmla="*/ 1676745 w 9683888"/>
              <a:gd name="connsiteY21" fmla="*/ 690130 h 743457"/>
              <a:gd name="connsiteX22" fmla="*/ 1832228 w 9683888"/>
              <a:gd name="connsiteY22" fmla="*/ 690860 h 743457"/>
              <a:gd name="connsiteX23" fmla="*/ 1980464 w 9683888"/>
              <a:gd name="connsiteY23" fmla="*/ 704858 h 743457"/>
              <a:gd name="connsiteX24" fmla="*/ 2051150 w 9683888"/>
              <a:gd name="connsiteY24" fmla="*/ 711187 h 743457"/>
              <a:gd name="connsiteX25" fmla="*/ 2162824 w 9683888"/>
              <a:gd name="connsiteY25" fmla="*/ 709178 h 743457"/>
              <a:gd name="connsiteX26" fmla="*/ 2259859 w 9683888"/>
              <a:gd name="connsiteY26" fmla="*/ 718188 h 743457"/>
              <a:gd name="connsiteX27" fmla="*/ 2378290 w 9683888"/>
              <a:gd name="connsiteY27" fmla="*/ 738748 h 743457"/>
              <a:gd name="connsiteX28" fmla="*/ 2407828 w 9683888"/>
              <a:gd name="connsiteY28" fmla="*/ 743457 h 743457"/>
              <a:gd name="connsiteX29" fmla="*/ 2428936 w 9683888"/>
              <a:gd name="connsiteY29" fmla="*/ 734697 h 743457"/>
              <a:gd name="connsiteX30" fmla="*/ 2646106 w 9683888"/>
              <a:gd name="connsiteY30" fmla="*/ 660204 h 743457"/>
              <a:gd name="connsiteX31" fmla="*/ 2799920 w 9683888"/>
              <a:gd name="connsiteY31" fmla="*/ 630451 h 743457"/>
              <a:gd name="connsiteX32" fmla="*/ 2953556 w 9683888"/>
              <a:gd name="connsiteY32" fmla="*/ 607173 h 743457"/>
              <a:gd name="connsiteX33" fmla="*/ 3009839 w 9683888"/>
              <a:gd name="connsiteY33" fmla="*/ 601743 h 743457"/>
              <a:gd name="connsiteX34" fmla="*/ 3115016 w 9683888"/>
              <a:gd name="connsiteY34" fmla="*/ 584982 h 743457"/>
              <a:gd name="connsiteX35" fmla="*/ 3185844 w 9683888"/>
              <a:gd name="connsiteY35" fmla="*/ 595356 h 743457"/>
              <a:gd name="connsiteX36" fmla="*/ 3246013 w 9683888"/>
              <a:gd name="connsiteY36" fmla="*/ 592418 h 743457"/>
              <a:gd name="connsiteX37" fmla="*/ 3313565 w 9683888"/>
              <a:gd name="connsiteY37" fmla="*/ 574138 h 743457"/>
              <a:gd name="connsiteX38" fmla="*/ 3414143 w 9683888"/>
              <a:gd name="connsiteY38" fmla="*/ 553730 h 743457"/>
              <a:gd name="connsiteX39" fmla="*/ 3552895 w 9683888"/>
              <a:gd name="connsiteY39" fmla="*/ 548563 h 743457"/>
              <a:gd name="connsiteX40" fmla="*/ 3753012 w 9683888"/>
              <a:gd name="connsiteY40" fmla="*/ 599520 h 743457"/>
              <a:gd name="connsiteX41" fmla="*/ 3804392 w 9683888"/>
              <a:gd name="connsiteY41" fmla="*/ 604131 h 743457"/>
              <a:gd name="connsiteX42" fmla="*/ 3916696 w 9683888"/>
              <a:gd name="connsiteY42" fmla="*/ 606540 h 743457"/>
              <a:gd name="connsiteX43" fmla="*/ 4063849 w 9683888"/>
              <a:gd name="connsiteY43" fmla="*/ 604058 h 743457"/>
              <a:gd name="connsiteX44" fmla="*/ 4172179 w 9683888"/>
              <a:gd name="connsiteY44" fmla="*/ 592355 h 743457"/>
              <a:gd name="connsiteX45" fmla="*/ 4276294 w 9683888"/>
              <a:gd name="connsiteY45" fmla="*/ 587119 h 743457"/>
              <a:gd name="connsiteX46" fmla="*/ 4411090 w 9683888"/>
              <a:gd name="connsiteY46" fmla="*/ 575600 h 743457"/>
              <a:gd name="connsiteX47" fmla="*/ 4540465 w 9683888"/>
              <a:gd name="connsiteY47" fmla="*/ 567464 h 743457"/>
              <a:gd name="connsiteX48" fmla="*/ 4545352 w 9683888"/>
              <a:gd name="connsiteY48" fmla="*/ 555554 h 743457"/>
              <a:gd name="connsiteX49" fmla="*/ 4564014 w 9683888"/>
              <a:gd name="connsiteY49" fmla="*/ 553660 h 743457"/>
              <a:gd name="connsiteX50" fmla="*/ 4568602 w 9683888"/>
              <a:gd name="connsiteY50" fmla="*/ 550913 h 743457"/>
              <a:gd name="connsiteX51" fmla="*/ 4595289 w 9683888"/>
              <a:gd name="connsiteY51" fmla="*/ 537407 h 743457"/>
              <a:gd name="connsiteX52" fmla="*/ 4739026 w 9683888"/>
              <a:gd name="connsiteY52" fmla="*/ 532483 h 743457"/>
              <a:gd name="connsiteX53" fmla="*/ 5061335 w 9683888"/>
              <a:gd name="connsiteY53" fmla="*/ 545635 h 743457"/>
              <a:gd name="connsiteX54" fmla="*/ 5338634 w 9683888"/>
              <a:gd name="connsiteY54" fmla="*/ 595754 h 743457"/>
              <a:gd name="connsiteX55" fmla="*/ 5529430 w 9683888"/>
              <a:gd name="connsiteY55" fmla="*/ 606335 h 743457"/>
              <a:gd name="connsiteX56" fmla="*/ 5604039 w 9683888"/>
              <a:gd name="connsiteY56" fmla="*/ 607676 h 743457"/>
              <a:gd name="connsiteX57" fmla="*/ 5625281 w 9683888"/>
              <a:gd name="connsiteY57" fmla="*/ 617253 h 743457"/>
              <a:gd name="connsiteX58" fmla="*/ 5628138 w 9683888"/>
              <a:gd name="connsiteY58" fmla="*/ 615483 h 743457"/>
              <a:gd name="connsiteX59" fmla="*/ 5653593 w 9683888"/>
              <a:gd name="connsiteY59" fmla="*/ 617873 h 743457"/>
              <a:gd name="connsiteX60" fmla="*/ 5658658 w 9683888"/>
              <a:gd name="connsiteY60" fmla="*/ 624279 h 743457"/>
              <a:gd name="connsiteX61" fmla="*/ 5675963 w 9683888"/>
              <a:gd name="connsiteY61" fmla="*/ 627762 h 743457"/>
              <a:gd name="connsiteX62" fmla="*/ 5709625 w 9683888"/>
              <a:gd name="connsiteY62" fmla="*/ 639593 h 743457"/>
              <a:gd name="connsiteX63" fmla="*/ 5716324 w 9683888"/>
              <a:gd name="connsiteY63" fmla="*/ 637148 h 743457"/>
              <a:gd name="connsiteX64" fmla="*/ 5767720 w 9683888"/>
              <a:gd name="connsiteY64" fmla="*/ 647737 h 743457"/>
              <a:gd name="connsiteX65" fmla="*/ 5768619 w 9683888"/>
              <a:gd name="connsiteY65" fmla="*/ 645671 h 743457"/>
              <a:gd name="connsiteX66" fmla="*/ 5858696 w 9683888"/>
              <a:gd name="connsiteY66" fmla="*/ 628099 h 743457"/>
              <a:gd name="connsiteX67" fmla="*/ 5935260 w 9683888"/>
              <a:gd name="connsiteY67" fmla="*/ 596904 h 743457"/>
              <a:gd name="connsiteX68" fmla="*/ 5946176 w 9683888"/>
              <a:gd name="connsiteY68" fmla="*/ 597874 h 743457"/>
              <a:gd name="connsiteX69" fmla="*/ 5946447 w 9683888"/>
              <a:gd name="connsiteY69" fmla="*/ 597396 h 743457"/>
              <a:gd name="connsiteX70" fmla="*/ 5958069 w 9683888"/>
              <a:gd name="connsiteY70" fmla="*/ 597432 h 743457"/>
              <a:gd name="connsiteX71" fmla="*/ 5966081 w 9683888"/>
              <a:gd name="connsiteY71" fmla="*/ 599643 h 743457"/>
              <a:gd name="connsiteX72" fmla="*/ 5987259 w 9683888"/>
              <a:gd name="connsiteY72" fmla="*/ 601523 h 743457"/>
              <a:gd name="connsiteX73" fmla="*/ 5994905 w 9683888"/>
              <a:gd name="connsiteY73" fmla="*/ 598873 h 743457"/>
              <a:gd name="connsiteX74" fmla="*/ 6054803 w 9683888"/>
              <a:gd name="connsiteY74" fmla="*/ 541202 h 743457"/>
              <a:gd name="connsiteX75" fmla="*/ 6188672 w 9683888"/>
              <a:gd name="connsiteY75" fmla="*/ 496389 h 743457"/>
              <a:gd name="connsiteX76" fmla="*/ 6323280 w 9683888"/>
              <a:gd name="connsiteY76" fmla="*/ 458013 h 743457"/>
              <a:gd name="connsiteX77" fmla="*/ 6457257 w 9683888"/>
              <a:gd name="connsiteY77" fmla="*/ 414621 h 743457"/>
              <a:gd name="connsiteX78" fmla="*/ 6530019 w 9683888"/>
              <a:gd name="connsiteY78" fmla="*/ 423168 h 743457"/>
              <a:gd name="connsiteX79" fmla="*/ 6626800 w 9683888"/>
              <a:gd name="connsiteY79" fmla="*/ 375078 h 743457"/>
              <a:gd name="connsiteX80" fmla="*/ 6689231 w 9683888"/>
              <a:gd name="connsiteY80" fmla="*/ 353501 h 743457"/>
              <a:gd name="connsiteX81" fmla="*/ 6726440 w 9683888"/>
              <a:gd name="connsiteY81" fmla="*/ 340276 h 743457"/>
              <a:gd name="connsiteX82" fmla="*/ 6835228 w 9683888"/>
              <a:gd name="connsiteY82" fmla="*/ 329393 h 743457"/>
              <a:gd name="connsiteX83" fmla="*/ 7039363 w 9683888"/>
              <a:gd name="connsiteY83" fmla="*/ 370823 h 743457"/>
              <a:gd name="connsiteX84" fmla="*/ 7095156 w 9683888"/>
              <a:gd name="connsiteY84" fmla="*/ 366075 h 743457"/>
              <a:gd name="connsiteX85" fmla="*/ 7187061 w 9683888"/>
              <a:gd name="connsiteY85" fmla="*/ 383876 h 743457"/>
              <a:gd name="connsiteX86" fmla="*/ 7295039 w 9683888"/>
              <a:gd name="connsiteY86" fmla="*/ 355046 h 743457"/>
              <a:gd name="connsiteX87" fmla="*/ 7373651 w 9683888"/>
              <a:gd name="connsiteY87" fmla="*/ 322299 h 743457"/>
              <a:gd name="connsiteX88" fmla="*/ 7418964 w 9683888"/>
              <a:gd name="connsiteY88" fmla="*/ 308685 h 743457"/>
              <a:gd name="connsiteX89" fmla="*/ 7450568 w 9683888"/>
              <a:gd name="connsiteY89" fmla="*/ 293511 h 743457"/>
              <a:gd name="connsiteX90" fmla="*/ 7538380 w 9683888"/>
              <a:gd name="connsiteY90" fmla="*/ 283235 h 743457"/>
              <a:gd name="connsiteX91" fmla="*/ 7786348 w 9683888"/>
              <a:gd name="connsiteY91" fmla="*/ 225377 h 743457"/>
              <a:gd name="connsiteX92" fmla="*/ 7849534 w 9683888"/>
              <a:gd name="connsiteY92" fmla="*/ 245434 h 743457"/>
              <a:gd name="connsiteX93" fmla="*/ 7981165 w 9683888"/>
              <a:gd name="connsiteY93" fmla="*/ 222252 h 743457"/>
              <a:gd name="connsiteX94" fmla="*/ 8171882 w 9683888"/>
              <a:gd name="connsiteY94" fmla="*/ 222497 h 743457"/>
              <a:gd name="connsiteX95" fmla="*/ 8242270 w 9683888"/>
              <a:gd name="connsiteY95" fmla="*/ 180535 h 743457"/>
              <a:gd name="connsiteX96" fmla="*/ 8490152 w 9683888"/>
              <a:gd name="connsiteY96" fmla="*/ 209193 h 743457"/>
              <a:gd name="connsiteX97" fmla="*/ 8622272 w 9683888"/>
              <a:gd name="connsiteY97" fmla="*/ 188859 h 743457"/>
              <a:gd name="connsiteX98" fmla="*/ 8738606 w 9683888"/>
              <a:gd name="connsiteY98" fmla="*/ 208945 h 743457"/>
              <a:gd name="connsiteX99" fmla="*/ 8831307 w 9683888"/>
              <a:gd name="connsiteY99" fmla="*/ 207738 h 743457"/>
              <a:gd name="connsiteX100" fmla="*/ 8891432 w 9683888"/>
              <a:gd name="connsiteY100" fmla="*/ 184510 h 743457"/>
              <a:gd name="connsiteX101" fmla="*/ 8946980 w 9683888"/>
              <a:gd name="connsiteY101" fmla="*/ 145578 h 743457"/>
              <a:gd name="connsiteX102" fmla="*/ 9107760 w 9683888"/>
              <a:gd name="connsiteY102" fmla="*/ 128052 h 743457"/>
              <a:gd name="connsiteX103" fmla="*/ 9195623 w 9683888"/>
              <a:gd name="connsiteY103" fmla="*/ 100212 h 743457"/>
              <a:gd name="connsiteX104" fmla="*/ 9256898 w 9683888"/>
              <a:gd name="connsiteY104" fmla="*/ 73900 h 743457"/>
              <a:gd name="connsiteX105" fmla="*/ 9351740 w 9683888"/>
              <a:gd name="connsiteY105" fmla="*/ 80439 h 743457"/>
              <a:gd name="connsiteX106" fmla="*/ 9539796 w 9683888"/>
              <a:gd name="connsiteY106" fmla="*/ 87069 h 743457"/>
              <a:gd name="connsiteX107" fmla="*/ 9619109 w 9683888"/>
              <a:gd name="connsiteY107" fmla="*/ 39994 h 74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9683888" h="743457">
                <a:moveTo>
                  <a:pt x="9683888" y="0"/>
                </a:moveTo>
                <a:lnTo>
                  <a:pt x="0" y="0"/>
                </a:lnTo>
                <a:lnTo>
                  <a:pt x="0" y="365878"/>
                </a:lnTo>
                <a:lnTo>
                  <a:pt x="11844" y="367909"/>
                </a:lnTo>
                <a:cubicBezTo>
                  <a:pt x="50423" y="374387"/>
                  <a:pt x="87879" y="380746"/>
                  <a:pt x="106208" y="385974"/>
                </a:cubicBezTo>
                <a:cubicBezTo>
                  <a:pt x="119919" y="389979"/>
                  <a:pt x="149687" y="402128"/>
                  <a:pt x="183667" y="399162"/>
                </a:cubicBezTo>
                <a:cubicBezTo>
                  <a:pt x="228274" y="394575"/>
                  <a:pt x="256969" y="398315"/>
                  <a:pt x="292430" y="390408"/>
                </a:cubicBezTo>
                <a:cubicBezTo>
                  <a:pt x="325377" y="395694"/>
                  <a:pt x="374510" y="420053"/>
                  <a:pt x="386942" y="395582"/>
                </a:cubicBezTo>
                <a:cubicBezTo>
                  <a:pt x="400429" y="416427"/>
                  <a:pt x="451168" y="399411"/>
                  <a:pt x="485751" y="408404"/>
                </a:cubicBezTo>
                <a:cubicBezTo>
                  <a:pt x="520399" y="423586"/>
                  <a:pt x="570416" y="404235"/>
                  <a:pt x="604107" y="418647"/>
                </a:cubicBezTo>
                <a:cubicBezTo>
                  <a:pt x="633631" y="425521"/>
                  <a:pt x="672063" y="446364"/>
                  <a:pt x="694081" y="449524"/>
                </a:cubicBezTo>
                <a:cubicBezTo>
                  <a:pt x="700528" y="463278"/>
                  <a:pt x="713487" y="450700"/>
                  <a:pt x="762452" y="456090"/>
                </a:cubicBezTo>
                <a:cubicBezTo>
                  <a:pt x="811417" y="461479"/>
                  <a:pt x="935420" y="470466"/>
                  <a:pt x="987872" y="481862"/>
                </a:cubicBezTo>
                <a:cubicBezTo>
                  <a:pt x="1018493" y="475799"/>
                  <a:pt x="1019470" y="516810"/>
                  <a:pt x="1077163" y="524467"/>
                </a:cubicBezTo>
                <a:cubicBezTo>
                  <a:pt x="1124222" y="535807"/>
                  <a:pt x="1202940" y="574855"/>
                  <a:pt x="1258716" y="587975"/>
                </a:cubicBezTo>
                <a:cubicBezTo>
                  <a:pt x="1274181" y="586466"/>
                  <a:pt x="1286859" y="589632"/>
                  <a:pt x="1298056" y="595413"/>
                </a:cubicBezTo>
                <a:lnTo>
                  <a:pt x="1327017" y="617412"/>
                </a:lnTo>
                <a:lnTo>
                  <a:pt x="1347909" y="620209"/>
                </a:lnTo>
                <a:cubicBezTo>
                  <a:pt x="1377004" y="628445"/>
                  <a:pt x="1394712" y="616344"/>
                  <a:pt x="1421792" y="626139"/>
                </a:cubicBezTo>
                <a:cubicBezTo>
                  <a:pt x="1466260" y="647543"/>
                  <a:pt x="1506099" y="610975"/>
                  <a:pt x="1519789" y="645011"/>
                </a:cubicBezTo>
                <a:cubicBezTo>
                  <a:pt x="1556219" y="665699"/>
                  <a:pt x="1578776" y="668950"/>
                  <a:pt x="1620886" y="687715"/>
                </a:cubicBezTo>
                <a:cubicBezTo>
                  <a:pt x="1658228" y="693647"/>
                  <a:pt x="1636224" y="694371"/>
                  <a:pt x="1676745" y="690130"/>
                </a:cubicBezTo>
                <a:cubicBezTo>
                  <a:pt x="1713709" y="697532"/>
                  <a:pt x="1774627" y="701403"/>
                  <a:pt x="1832228" y="690860"/>
                </a:cubicBezTo>
                <a:cubicBezTo>
                  <a:pt x="1866586" y="689181"/>
                  <a:pt x="1949046" y="755765"/>
                  <a:pt x="1980464" y="704858"/>
                </a:cubicBezTo>
                <a:cubicBezTo>
                  <a:pt x="2001472" y="716610"/>
                  <a:pt x="2020758" y="710467"/>
                  <a:pt x="2051150" y="711187"/>
                </a:cubicBezTo>
                <a:cubicBezTo>
                  <a:pt x="2081543" y="711907"/>
                  <a:pt x="2117567" y="736153"/>
                  <a:pt x="2162824" y="709178"/>
                </a:cubicBezTo>
                <a:cubicBezTo>
                  <a:pt x="2219712" y="701824"/>
                  <a:pt x="2181421" y="742368"/>
                  <a:pt x="2259859" y="718188"/>
                </a:cubicBezTo>
                <a:cubicBezTo>
                  <a:pt x="2296623" y="733933"/>
                  <a:pt x="2337412" y="741012"/>
                  <a:pt x="2378290" y="738748"/>
                </a:cubicBezTo>
                <a:cubicBezTo>
                  <a:pt x="2380041" y="725410"/>
                  <a:pt x="2399659" y="741017"/>
                  <a:pt x="2407828" y="743457"/>
                </a:cubicBezTo>
                <a:cubicBezTo>
                  <a:pt x="2406113" y="735180"/>
                  <a:pt x="2421642" y="728742"/>
                  <a:pt x="2428936" y="734697"/>
                </a:cubicBezTo>
                <a:cubicBezTo>
                  <a:pt x="2468648" y="720822"/>
                  <a:pt x="2584275" y="677579"/>
                  <a:pt x="2646106" y="660204"/>
                </a:cubicBezTo>
                <a:cubicBezTo>
                  <a:pt x="2706894" y="652346"/>
                  <a:pt x="2738390" y="612318"/>
                  <a:pt x="2799920" y="630451"/>
                </a:cubicBezTo>
                <a:cubicBezTo>
                  <a:pt x="2856798" y="622940"/>
                  <a:pt x="2902940" y="602232"/>
                  <a:pt x="2953556" y="607173"/>
                </a:cubicBezTo>
                <a:cubicBezTo>
                  <a:pt x="2970626" y="593247"/>
                  <a:pt x="2988095" y="586399"/>
                  <a:pt x="3009839" y="601743"/>
                </a:cubicBezTo>
                <a:cubicBezTo>
                  <a:pt x="3046166" y="594868"/>
                  <a:pt x="3085682" y="586046"/>
                  <a:pt x="3115016" y="584982"/>
                </a:cubicBezTo>
                <a:cubicBezTo>
                  <a:pt x="3144992" y="587935"/>
                  <a:pt x="3158740" y="599045"/>
                  <a:pt x="3185844" y="595356"/>
                </a:cubicBezTo>
                <a:cubicBezTo>
                  <a:pt x="3209939" y="576197"/>
                  <a:pt x="3221731" y="614583"/>
                  <a:pt x="3246013" y="592418"/>
                </a:cubicBezTo>
                <a:cubicBezTo>
                  <a:pt x="3228976" y="565486"/>
                  <a:pt x="3320172" y="599686"/>
                  <a:pt x="3313565" y="574138"/>
                </a:cubicBezTo>
                <a:cubicBezTo>
                  <a:pt x="3341586" y="564515"/>
                  <a:pt x="3371901" y="555346"/>
                  <a:pt x="3414143" y="553730"/>
                </a:cubicBezTo>
                <a:cubicBezTo>
                  <a:pt x="3463229" y="557630"/>
                  <a:pt x="3476532" y="539673"/>
                  <a:pt x="3552895" y="548563"/>
                </a:cubicBezTo>
                <a:cubicBezTo>
                  <a:pt x="3620356" y="561042"/>
                  <a:pt x="3688830" y="574962"/>
                  <a:pt x="3753012" y="599520"/>
                </a:cubicBezTo>
                <a:cubicBezTo>
                  <a:pt x="3769580" y="615048"/>
                  <a:pt x="3777112" y="602961"/>
                  <a:pt x="3804392" y="604131"/>
                </a:cubicBezTo>
                <a:cubicBezTo>
                  <a:pt x="3831672" y="605301"/>
                  <a:pt x="3878076" y="605222"/>
                  <a:pt x="3916696" y="606540"/>
                </a:cubicBezTo>
                <a:cubicBezTo>
                  <a:pt x="3970533" y="603881"/>
                  <a:pt x="3981244" y="618066"/>
                  <a:pt x="4063849" y="604058"/>
                </a:cubicBezTo>
                <a:cubicBezTo>
                  <a:pt x="4074473" y="605185"/>
                  <a:pt x="4134611" y="589365"/>
                  <a:pt x="4172179" y="592355"/>
                </a:cubicBezTo>
                <a:cubicBezTo>
                  <a:pt x="4180554" y="576172"/>
                  <a:pt x="4255433" y="602075"/>
                  <a:pt x="4276294" y="587119"/>
                </a:cubicBezTo>
                <a:cubicBezTo>
                  <a:pt x="4326119" y="586973"/>
                  <a:pt x="4361692" y="573867"/>
                  <a:pt x="4411090" y="575600"/>
                </a:cubicBezTo>
                <a:cubicBezTo>
                  <a:pt x="4465125" y="575500"/>
                  <a:pt x="4518088" y="570805"/>
                  <a:pt x="4540465" y="567464"/>
                </a:cubicBezTo>
                <a:lnTo>
                  <a:pt x="4545352" y="555554"/>
                </a:lnTo>
                <a:lnTo>
                  <a:pt x="4564014" y="553660"/>
                </a:lnTo>
                <a:lnTo>
                  <a:pt x="4568602" y="550913"/>
                </a:lnTo>
                <a:cubicBezTo>
                  <a:pt x="4577353" y="545618"/>
                  <a:pt x="4586105" y="540734"/>
                  <a:pt x="4595289" y="537407"/>
                </a:cubicBezTo>
                <a:cubicBezTo>
                  <a:pt x="4623104" y="537511"/>
                  <a:pt x="4660764" y="533229"/>
                  <a:pt x="4739026" y="532483"/>
                </a:cubicBezTo>
                <a:cubicBezTo>
                  <a:pt x="4806238" y="527255"/>
                  <a:pt x="4944577" y="524439"/>
                  <a:pt x="5061335" y="545635"/>
                </a:cubicBezTo>
                <a:cubicBezTo>
                  <a:pt x="5167156" y="553533"/>
                  <a:pt x="5251789" y="586167"/>
                  <a:pt x="5338634" y="595754"/>
                </a:cubicBezTo>
                <a:cubicBezTo>
                  <a:pt x="5415763" y="589622"/>
                  <a:pt x="5434719" y="609365"/>
                  <a:pt x="5529430" y="606335"/>
                </a:cubicBezTo>
                <a:cubicBezTo>
                  <a:pt x="5534498" y="613561"/>
                  <a:pt x="5597157" y="603269"/>
                  <a:pt x="5604039" y="607676"/>
                </a:cubicBezTo>
                <a:lnTo>
                  <a:pt x="5625281" y="617253"/>
                </a:lnTo>
                <a:lnTo>
                  <a:pt x="5628138" y="615483"/>
                </a:lnTo>
                <a:cubicBezTo>
                  <a:pt x="5640641" y="612245"/>
                  <a:pt x="5648217" y="613966"/>
                  <a:pt x="5653593" y="617873"/>
                </a:cubicBezTo>
                <a:lnTo>
                  <a:pt x="5658658" y="624279"/>
                </a:lnTo>
                <a:lnTo>
                  <a:pt x="5675963" y="627762"/>
                </a:lnTo>
                <a:lnTo>
                  <a:pt x="5709625" y="639593"/>
                </a:lnTo>
                <a:lnTo>
                  <a:pt x="5716324" y="637148"/>
                </a:lnTo>
                <a:lnTo>
                  <a:pt x="5767720" y="647737"/>
                </a:lnTo>
                <a:lnTo>
                  <a:pt x="5768619" y="645671"/>
                </a:lnTo>
                <a:cubicBezTo>
                  <a:pt x="5776130" y="642927"/>
                  <a:pt x="5830922" y="636226"/>
                  <a:pt x="5858696" y="628099"/>
                </a:cubicBezTo>
                <a:lnTo>
                  <a:pt x="5935260" y="596904"/>
                </a:lnTo>
                <a:lnTo>
                  <a:pt x="5946176" y="597874"/>
                </a:lnTo>
                <a:lnTo>
                  <a:pt x="5946447" y="597396"/>
                </a:lnTo>
                <a:cubicBezTo>
                  <a:pt x="5948934" y="596546"/>
                  <a:pt x="5952567" y="596468"/>
                  <a:pt x="5958069" y="597432"/>
                </a:cubicBezTo>
                <a:lnTo>
                  <a:pt x="5966081" y="599643"/>
                </a:lnTo>
                <a:lnTo>
                  <a:pt x="5987259" y="601523"/>
                </a:lnTo>
                <a:lnTo>
                  <a:pt x="5994905" y="598873"/>
                </a:lnTo>
                <a:cubicBezTo>
                  <a:pt x="6020610" y="579716"/>
                  <a:pt x="6016968" y="560235"/>
                  <a:pt x="6054803" y="541202"/>
                </a:cubicBezTo>
                <a:cubicBezTo>
                  <a:pt x="6108247" y="527358"/>
                  <a:pt x="6130976" y="484538"/>
                  <a:pt x="6188672" y="496389"/>
                </a:cubicBezTo>
                <a:cubicBezTo>
                  <a:pt x="6238659" y="483279"/>
                  <a:pt x="6277194" y="458153"/>
                  <a:pt x="6323280" y="458013"/>
                </a:cubicBezTo>
                <a:cubicBezTo>
                  <a:pt x="6368044" y="444385"/>
                  <a:pt x="6422801" y="420428"/>
                  <a:pt x="6457257" y="414621"/>
                </a:cubicBezTo>
                <a:cubicBezTo>
                  <a:pt x="6483424" y="410645"/>
                  <a:pt x="6508964" y="423228"/>
                  <a:pt x="6530019" y="423168"/>
                </a:cubicBezTo>
                <a:cubicBezTo>
                  <a:pt x="6558276" y="416578"/>
                  <a:pt x="6600264" y="386690"/>
                  <a:pt x="6626800" y="375078"/>
                </a:cubicBezTo>
                <a:cubicBezTo>
                  <a:pt x="6664418" y="400828"/>
                  <a:pt x="6655535" y="354302"/>
                  <a:pt x="6689231" y="353501"/>
                </a:cubicBezTo>
                <a:cubicBezTo>
                  <a:pt x="6708837" y="361122"/>
                  <a:pt x="6719642" y="359485"/>
                  <a:pt x="6726440" y="340276"/>
                </a:cubicBezTo>
                <a:cubicBezTo>
                  <a:pt x="6818329" y="378763"/>
                  <a:pt x="6765502" y="328183"/>
                  <a:pt x="6835228" y="329393"/>
                </a:cubicBezTo>
                <a:cubicBezTo>
                  <a:pt x="6897464" y="335048"/>
                  <a:pt x="6962224" y="329085"/>
                  <a:pt x="7039363" y="370823"/>
                </a:cubicBezTo>
                <a:cubicBezTo>
                  <a:pt x="7056368" y="384567"/>
                  <a:pt x="7070539" y="363899"/>
                  <a:pt x="7095156" y="366075"/>
                </a:cubicBezTo>
                <a:cubicBezTo>
                  <a:pt x="7119772" y="368250"/>
                  <a:pt x="7153748" y="385714"/>
                  <a:pt x="7187061" y="383876"/>
                </a:cubicBezTo>
                <a:cubicBezTo>
                  <a:pt x="7242115" y="377604"/>
                  <a:pt x="7270954" y="334249"/>
                  <a:pt x="7295039" y="355046"/>
                </a:cubicBezTo>
                <a:cubicBezTo>
                  <a:pt x="7320104" y="344159"/>
                  <a:pt x="7343179" y="301443"/>
                  <a:pt x="7373651" y="322299"/>
                </a:cubicBezTo>
                <a:cubicBezTo>
                  <a:pt x="7367160" y="298575"/>
                  <a:pt x="7410095" y="329040"/>
                  <a:pt x="7418964" y="308685"/>
                </a:cubicBezTo>
                <a:cubicBezTo>
                  <a:pt x="7424243" y="291807"/>
                  <a:pt x="7438503" y="297117"/>
                  <a:pt x="7450568" y="293511"/>
                </a:cubicBezTo>
                <a:cubicBezTo>
                  <a:pt x="7461276" y="277652"/>
                  <a:pt x="7519437" y="275664"/>
                  <a:pt x="7538380" y="283235"/>
                </a:cubicBezTo>
                <a:cubicBezTo>
                  <a:pt x="7594343" y="271879"/>
                  <a:pt x="7734488" y="231676"/>
                  <a:pt x="7786348" y="225377"/>
                </a:cubicBezTo>
                <a:cubicBezTo>
                  <a:pt x="7797693" y="277094"/>
                  <a:pt x="7847327" y="236176"/>
                  <a:pt x="7849534" y="245434"/>
                </a:cubicBezTo>
                <a:cubicBezTo>
                  <a:pt x="7894253" y="231282"/>
                  <a:pt x="7937937" y="238796"/>
                  <a:pt x="7981165" y="222252"/>
                </a:cubicBezTo>
                <a:cubicBezTo>
                  <a:pt x="8066564" y="234459"/>
                  <a:pt x="8127007" y="235277"/>
                  <a:pt x="8171882" y="222497"/>
                </a:cubicBezTo>
                <a:cubicBezTo>
                  <a:pt x="8183092" y="205785"/>
                  <a:pt x="8217423" y="177145"/>
                  <a:pt x="8242270" y="180535"/>
                </a:cubicBezTo>
                <a:cubicBezTo>
                  <a:pt x="8294138" y="178846"/>
                  <a:pt x="8410926" y="208334"/>
                  <a:pt x="8490152" y="209193"/>
                </a:cubicBezTo>
                <a:cubicBezTo>
                  <a:pt x="8558493" y="195433"/>
                  <a:pt x="8564727" y="233466"/>
                  <a:pt x="8622272" y="188859"/>
                </a:cubicBezTo>
                <a:cubicBezTo>
                  <a:pt x="8659556" y="191317"/>
                  <a:pt x="8666988" y="178214"/>
                  <a:pt x="8738606" y="208945"/>
                </a:cubicBezTo>
                <a:cubicBezTo>
                  <a:pt x="8769507" y="208543"/>
                  <a:pt x="8800406" y="224019"/>
                  <a:pt x="8831307" y="207738"/>
                </a:cubicBezTo>
                <a:cubicBezTo>
                  <a:pt x="8836477" y="191612"/>
                  <a:pt x="8870109" y="182455"/>
                  <a:pt x="8891432" y="184510"/>
                </a:cubicBezTo>
                <a:cubicBezTo>
                  <a:pt x="8876795" y="135260"/>
                  <a:pt x="8938553" y="173381"/>
                  <a:pt x="8946980" y="145578"/>
                </a:cubicBezTo>
                <a:cubicBezTo>
                  <a:pt x="9010957" y="156064"/>
                  <a:pt x="9046552" y="157746"/>
                  <a:pt x="9107760" y="128052"/>
                </a:cubicBezTo>
                <a:cubicBezTo>
                  <a:pt x="9135191" y="151813"/>
                  <a:pt x="9184204" y="114911"/>
                  <a:pt x="9195623" y="100212"/>
                </a:cubicBezTo>
                <a:cubicBezTo>
                  <a:pt x="9222736" y="85917"/>
                  <a:pt x="9230892" y="98248"/>
                  <a:pt x="9256898" y="73900"/>
                </a:cubicBezTo>
                <a:cubicBezTo>
                  <a:pt x="9276443" y="63724"/>
                  <a:pt x="9334001" y="80454"/>
                  <a:pt x="9351740" y="80439"/>
                </a:cubicBezTo>
                <a:cubicBezTo>
                  <a:pt x="9398889" y="82633"/>
                  <a:pt x="9473718" y="102566"/>
                  <a:pt x="9539796" y="87069"/>
                </a:cubicBezTo>
                <a:cubicBezTo>
                  <a:pt x="9565852" y="70987"/>
                  <a:pt x="9591569" y="56211"/>
                  <a:pt x="9619109" y="399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14">
            <a:extLst>
              <a:ext uri="{FF2B5EF4-FFF2-40B4-BE49-F238E27FC236}">
                <a16:creationId xmlns:a16="http://schemas.microsoft.com/office/drawing/2014/main" id="{37414A5D-6BC9-E865-F1FC-521834593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9827"/>
            <a:ext cx="10680562" cy="1078174"/>
          </a:xfrm>
          <a:custGeom>
            <a:avLst/>
            <a:gdLst>
              <a:gd name="connsiteX0" fmla="*/ 3617689 w 10680562"/>
              <a:gd name="connsiteY0" fmla="*/ 0 h 1605023"/>
              <a:gd name="connsiteX1" fmla="*/ 3635901 w 10680562"/>
              <a:gd name="connsiteY1" fmla="*/ 7738 h 1605023"/>
              <a:gd name="connsiteX2" fmla="*/ 3690891 w 10680562"/>
              <a:gd name="connsiteY2" fmla="*/ 7049 h 1605023"/>
              <a:gd name="connsiteX3" fmla="*/ 3832247 w 10680562"/>
              <a:gd name="connsiteY3" fmla="*/ 13937 h 1605023"/>
              <a:gd name="connsiteX4" fmla="*/ 3999111 w 10680562"/>
              <a:gd name="connsiteY4" fmla="*/ 44624 h 1605023"/>
              <a:gd name="connsiteX5" fmla="*/ 4034676 w 10680562"/>
              <a:gd name="connsiteY5" fmla="*/ 48775 h 1605023"/>
              <a:gd name="connsiteX6" fmla="*/ 4065394 w 10680562"/>
              <a:gd name="connsiteY6" fmla="*/ 42879 h 1605023"/>
              <a:gd name="connsiteX7" fmla="*/ 4072648 w 10680562"/>
              <a:gd name="connsiteY7" fmla="*/ 33262 h 1605023"/>
              <a:gd name="connsiteX8" fmla="*/ 4092232 w 10680562"/>
              <a:gd name="connsiteY8" fmla="*/ 34026 h 1605023"/>
              <a:gd name="connsiteX9" fmla="*/ 4097470 w 10680562"/>
              <a:gd name="connsiteY9" fmla="*/ 32252 h 1605023"/>
              <a:gd name="connsiteX10" fmla="*/ 4127488 w 10680562"/>
              <a:gd name="connsiteY10" fmla="*/ 24056 h 1605023"/>
              <a:gd name="connsiteX11" fmla="*/ 4190803 w 10680562"/>
              <a:gd name="connsiteY11" fmla="*/ 55685 h 1605023"/>
              <a:gd name="connsiteX12" fmla="*/ 4269333 w 10680562"/>
              <a:gd name="connsiteY12" fmla="*/ 54186 h 1605023"/>
              <a:gd name="connsiteX13" fmla="*/ 4481486 w 10680562"/>
              <a:gd name="connsiteY13" fmla="*/ 116915 h 1605023"/>
              <a:gd name="connsiteX14" fmla="*/ 4651418 w 10680562"/>
              <a:gd name="connsiteY14" fmla="*/ 150071 h 1605023"/>
              <a:gd name="connsiteX15" fmla="*/ 4863575 w 10680562"/>
              <a:gd name="connsiteY15" fmla="*/ 175458 h 1605023"/>
              <a:gd name="connsiteX16" fmla="*/ 5013635 w 10680562"/>
              <a:gd name="connsiteY16" fmla="*/ 213928 h 1605023"/>
              <a:gd name="connsiteX17" fmla="*/ 5203044 w 10680562"/>
              <a:gd name="connsiteY17" fmla="*/ 228946 h 1605023"/>
              <a:gd name="connsiteX18" fmla="*/ 5207070 w 10680562"/>
              <a:gd name="connsiteY18" fmla="*/ 235105 h 1605023"/>
              <a:gd name="connsiteX19" fmla="*/ 5224253 w 10680562"/>
              <a:gd name="connsiteY19" fmla="*/ 240320 h 1605023"/>
              <a:gd name="connsiteX20" fmla="*/ 5256736 w 10680562"/>
              <a:gd name="connsiteY20" fmla="*/ 254811 h 1605023"/>
              <a:gd name="connsiteX21" fmla="*/ 5264095 w 10680562"/>
              <a:gd name="connsiteY21" fmla="*/ 253567 h 1605023"/>
              <a:gd name="connsiteX22" fmla="*/ 5315084 w 10680562"/>
              <a:gd name="connsiteY22" fmla="*/ 269264 h 1605023"/>
              <a:gd name="connsiteX23" fmla="*/ 5316393 w 10680562"/>
              <a:gd name="connsiteY23" fmla="*/ 267603 h 1605023"/>
              <a:gd name="connsiteX24" fmla="*/ 5333427 w 10680562"/>
              <a:gd name="connsiteY24" fmla="*/ 263823 h 1605023"/>
              <a:gd name="connsiteX25" fmla="*/ 5364589 w 10680562"/>
              <a:gd name="connsiteY25" fmla="*/ 260882 h 1605023"/>
              <a:gd name="connsiteX26" fmla="*/ 5443973 w 10680562"/>
              <a:gd name="connsiteY26" fmla="*/ 230866 h 1605023"/>
              <a:gd name="connsiteX27" fmla="*/ 5497201 w 10680562"/>
              <a:gd name="connsiteY27" fmla="*/ 247023 h 1605023"/>
              <a:gd name="connsiteX28" fmla="*/ 5508269 w 10680562"/>
              <a:gd name="connsiteY28" fmla="*/ 249256 h 1605023"/>
              <a:gd name="connsiteX29" fmla="*/ 5508636 w 10680562"/>
              <a:gd name="connsiteY29" fmla="*/ 248880 h 1605023"/>
              <a:gd name="connsiteX30" fmla="*/ 5520606 w 10680562"/>
              <a:gd name="connsiteY30" fmla="*/ 250400 h 1605023"/>
              <a:gd name="connsiteX31" fmla="*/ 5528451 w 10680562"/>
              <a:gd name="connsiteY31" fmla="*/ 253330 h 1605023"/>
              <a:gd name="connsiteX32" fmla="*/ 5549923 w 10680562"/>
              <a:gd name="connsiteY32" fmla="*/ 257662 h 1605023"/>
              <a:gd name="connsiteX33" fmla="*/ 5558295 w 10680562"/>
              <a:gd name="connsiteY33" fmla="*/ 256364 h 1605023"/>
              <a:gd name="connsiteX34" fmla="*/ 5664799 w 10680562"/>
              <a:gd name="connsiteY34" fmla="*/ 278924 h 1605023"/>
              <a:gd name="connsiteX35" fmla="*/ 5796160 w 10680562"/>
              <a:gd name="connsiteY35" fmla="*/ 307979 h 1605023"/>
              <a:gd name="connsiteX36" fmla="*/ 5897647 w 10680562"/>
              <a:gd name="connsiteY36" fmla="*/ 339431 h 1605023"/>
              <a:gd name="connsiteX37" fmla="*/ 5978838 w 10680562"/>
              <a:gd name="connsiteY37" fmla="*/ 367970 h 1605023"/>
              <a:gd name="connsiteX38" fmla="*/ 6050367 w 10680562"/>
              <a:gd name="connsiteY38" fmla="*/ 386341 h 1605023"/>
              <a:gd name="connsiteX39" fmla="*/ 6140609 w 10680562"/>
              <a:gd name="connsiteY39" fmla="*/ 385135 h 1605023"/>
              <a:gd name="connsiteX40" fmla="*/ 6302950 w 10680562"/>
              <a:gd name="connsiteY40" fmla="*/ 448183 h 1605023"/>
              <a:gd name="connsiteX41" fmla="*/ 6308533 w 10680562"/>
              <a:gd name="connsiteY41" fmla="*/ 448551 h 1605023"/>
              <a:gd name="connsiteX42" fmla="*/ 6340278 w 10680562"/>
              <a:gd name="connsiteY42" fmla="*/ 468555 h 1605023"/>
              <a:gd name="connsiteX43" fmla="*/ 6341685 w 10680562"/>
              <a:gd name="connsiteY43" fmla="*/ 467587 h 1605023"/>
              <a:gd name="connsiteX44" fmla="*/ 6354862 w 10680562"/>
              <a:gd name="connsiteY44" fmla="*/ 467794 h 1605023"/>
              <a:gd name="connsiteX45" fmla="*/ 6377840 w 10680562"/>
              <a:gd name="connsiteY45" fmla="*/ 471024 h 1605023"/>
              <a:gd name="connsiteX46" fmla="*/ 6442804 w 10680562"/>
              <a:gd name="connsiteY46" fmla="*/ 463091 h 1605023"/>
              <a:gd name="connsiteX47" fmla="*/ 6476009 w 10680562"/>
              <a:gd name="connsiteY47" fmla="*/ 483807 h 1605023"/>
              <a:gd name="connsiteX48" fmla="*/ 6483237 w 10680562"/>
              <a:gd name="connsiteY48" fmla="*/ 487308 h 1605023"/>
              <a:gd name="connsiteX49" fmla="*/ 6483605 w 10680562"/>
              <a:gd name="connsiteY49" fmla="*/ 487102 h 1605023"/>
              <a:gd name="connsiteX50" fmla="*/ 6491673 w 10680562"/>
              <a:gd name="connsiteY50" fmla="*/ 490243 h 1605023"/>
              <a:gd name="connsiteX51" fmla="*/ 6496411 w 10680562"/>
              <a:gd name="connsiteY51" fmla="*/ 493689 h 1605023"/>
              <a:gd name="connsiteX52" fmla="*/ 6510429 w 10680562"/>
              <a:gd name="connsiteY52" fmla="*/ 500479 h 1605023"/>
              <a:gd name="connsiteX53" fmla="*/ 6516750 w 10680562"/>
              <a:gd name="connsiteY53" fmla="*/ 500983 h 1605023"/>
              <a:gd name="connsiteX54" fmla="*/ 6580199 w 10680562"/>
              <a:gd name="connsiteY54" fmla="*/ 483318 h 1605023"/>
              <a:gd name="connsiteX55" fmla="*/ 6690237 w 10680562"/>
              <a:gd name="connsiteY55" fmla="*/ 493051 h 1605023"/>
              <a:gd name="connsiteX56" fmla="*/ 6798356 w 10680562"/>
              <a:gd name="connsiteY56" fmla="*/ 506748 h 1605023"/>
              <a:gd name="connsiteX57" fmla="*/ 6837102 w 10680562"/>
              <a:gd name="connsiteY57" fmla="*/ 513677 h 1605023"/>
              <a:gd name="connsiteX58" fmla="*/ 6907934 w 10680562"/>
              <a:gd name="connsiteY58" fmla="*/ 517339 h 1605023"/>
              <a:gd name="connsiteX59" fmla="*/ 6941474 w 10680562"/>
              <a:gd name="connsiteY59" fmla="*/ 513632 h 1605023"/>
              <a:gd name="connsiteX60" fmla="*/ 6942754 w 10680562"/>
              <a:gd name="connsiteY60" fmla="*/ 514394 h 1605023"/>
              <a:gd name="connsiteX61" fmla="*/ 6946363 w 10680562"/>
              <a:gd name="connsiteY61" fmla="*/ 511066 h 1605023"/>
              <a:gd name="connsiteX62" fmla="*/ 6952592 w 10680562"/>
              <a:gd name="connsiteY62" fmla="*/ 510252 h 1605023"/>
              <a:gd name="connsiteX63" fmla="*/ 6968398 w 10680562"/>
              <a:gd name="connsiteY63" fmla="*/ 513946 h 1605023"/>
              <a:gd name="connsiteX64" fmla="*/ 6974142 w 10680562"/>
              <a:gd name="connsiteY64" fmla="*/ 516310 h 1605023"/>
              <a:gd name="connsiteX65" fmla="*/ 6982971 w 10680562"/>
              <a:gd name="connsiteY65" fmla="*/ 517694 h 1605023"/>
              <a:gd name="connsiteX66" fmla="*/ 6983252 w 10680562"/>
              <a:gd name="connsiteY66" fmla="*/ 517416 h 1605023"/>
              <a:gd name="connsiteX67" fmla="*/ 6991400 w 10680562"/>
              <a:gd name="connsiteY67" fmla="*/ 519321 h 1605023"/>
              <a:gd name="connsiteX68" fmla="*/ 7030460 w 10680562"/>
              <a:gd name="connsiteY68" fmla="*/ 532556 h 1605023"/>
              <a:gd name="connsiteX69" fmla="*/ 7089916 w 10680562"/>
              <a:gd name="connsiteY69" fmla="*/ 511503 h 1605023"/>
              <a:gd name="connsiteX70" fmla="*/ 7113059 w 10680562"/>
              <a:gd name="connsiteY70" fmla="*/ 509904 h 1605023"/>
              <a:gd name="connsiteX71" fmla="*/ 7125755 w 10680562"/>
              <a:gd name="connsiteY71" fmla="*/ 507393 h 1605023"/>
              <a:gd name="connsiteX72" fmla="*/ 7126765 w 10680562"/>
              <a:gd name="connsiteY72" fmla="*/ 506166 h 1605023"/>
              <a:gd name="connsiteX73" fmla="*/ 7164175 w 10680562"/>
              <a:gd name="connsiteY73" fmla="*/ 519011 h 1605023"/>
              <a:gd name="connsiteX74" fmla="*/ 7169654 w 10680562"/>
              <a:gd name="connsiteY74" fmla="*/ 518219 h 1605023"/>
              <a:gd name="connsiteX75" fmla="*/ 7193386 w 10680562"/>
              <a:gd name="connsiteY75" fmla="*/ 529788 h 1605023"/>
              <a:gd name="connsiteX76" fmla="*/ 7205997 w 10680562"/>
              <a:gd name="connsiteY76" fmla="*/ 534060 h 1605023"/>
              <a:gd name="connsiteX77" fmla="*/ 7208842 w 10680562"/>
              <a:gd name="connsiteY77" fmla="*/ 538783 h 1605023"/>
              <a:gd name="connsiteX78" fmla="*/ 7227817 w 10680562"/>
              <a:gd name="connsiteY78" fmla="*/ 543304 h 1605023"/>
              <a:gd name="connsiteX79" fmla="*/ 7230267 w 10680562"/>
              <a:gd name="connsiteY79" fmla="*/ 542497 h 1605023"/>
              <a:gd name="connsiteX80" fmla="*/ 7244913 w 10680562"/>
              <a:gd name="connsiteY80" fmla="*/ 551160 h 1605023"/>
              <a:gd name="connsiteX81" fmla="*/ 7255970 w 10680562"/>
              <a:gd name="connsiteY81" fmla="*/ 564383 h 1605023"/>
              <a:gd name="connsiteX82" fmla="*/ 7421156 w 10680562"/>
              <a:gd name="connsiteY82" fmla="*/ 584155 h 1605023"/>
              <a:gd name="connsiteX83" fmla="*/ 7553166 w 10680562"/>
              <a:gd name="connsiteY83" fmla="*/ 653085 h 1605023"/>
              <a:gd name="connsiteX84" fmla="*/ 7643092 w 10680562"/>
              <a:gd name="connsiteY84" fmla="*/ 662482 h 1605023"/>
              <a:gd name="connsiteX85" fmla="*/ 7896429 w 10680562"/>
              <a:gd name="connsiteY85" fmla="*/ 689054 h 1605023"/>
              <a:gd name="connsiteX86" fmla="*/ 7954620 w 10680562"/>
              <a:gd name="connsiteY86" fmla="*/ 689481 h 1605023"/>
              <a:gd name="connsiteX87" fmla="*/ 8000803 w 10680562"/>
              <a:gd name="connsiteY87" fmla="*/ 714583 h 1605023"/>
              <a:gd name="connsiteX88" fmla="*/ 8023216 w 10680562"/>
              <a:gd name="connsiteY88" fmla="*/ 709000 h 1605023"/>
              <a:gd name="connsiteX89" fmla="*/ 8027136 w 10680562"/>
              <a:gd name="connsiteY89" fmla="*/ 707765 h 1605023"/>
              <a:gd name="connsiteX90" fmla="*/ 8041622 w 10680562"/>
              <a:gd name="connsiteY90" fmla="*/ 708731 h 1605023"/>
              <a:gd name="connsiteX91" fmla="*/ 8047209 w 10680562"/>
              <a:gd name="connsiteY91" fmla="*/ 701624 h 1605023"/>
              <a:gd name="connsiteX92" fmla="*/ 8070088 w 10680562"/>
              <a:gd name="connsiteY92" fmla="*/ 697789 h 1605023"/>
              <a:gd name="connsiteX93" fmla="*/ 8096332 w 10680562"/>
              <a:gd name="connsiteY93" fmla="*/ 701624 h 1605023"/>
              <a:gd name="connsiteX94" fmla="*/ 8219225 w 10680562"/>
              <a:gd name="connsiteY94" fmla="*/ 728069 h 1605023"/>
              <a:gd name="connsiteX95" fmla="*/ 8293793 w 10680562"/>
              <a:gd name="connsiteY95" fmla="*/ 739200 h 1605023"/>
              <a:gd name="connsiteX96" fmla="*/ 8323753 w 10680562"/>
              <a:gd name="connsiteY96" fmla="*/ 736063 h 1605023"/>
              <a:gd name="connsiteX97" fmla="*/ 8364496 w 10680562"/>
              <a:gd name="connsiteY97" fmla="*/ 736635 h 1605023"/>
              <a:gd name="connsiteX98" fmla="*/ 8437662 w 10680562"/>
              <a:gd name="connsiteY98" fmla="*/ 731942 h 1605023"/>
              <a:gd name="connsiteX99" fmla="*/ 8533764 w 10680562"/>
              <a:gd name="connsiteY99" fmla="*/ 735554 h 1605023"/>
              <a:gd name="connsiteX100" fmla="*/ 8596769 w 10680562"/>
              <a:gd name="connsiteY100" fmla="*/ 769632 h 1605023"/>
              <a:gd name="connsiteX101" fmla="*/ 8604035 w 10680562"/>
              <a:gd name="connsiteY101" fmla="*/ 764982 h 1605023"/>
              <a:gd name="connsiteX102" fmla="*/ 8650929 w 10680562"/>
              <a:gd name="connsiteY102" fmla="*/ 773164 h 1605023"/>
              <a:gd name="connsiteX103" fmla="*/ 8806497 w 10680562"/>
              <a:gd name="connsiteY103" fmla="*/ 839707 h 1605023"/>
              <a:gd name="connsiteX104" fmla="*/ 8898377 w 10680562"/>
              <a:gd name="connsiteY104" fmla="*/ 854651 h 1605023"/>
              <a:gd name="connsiteX105" fmla="*/ 8932389 w 10680562"/>
              <a:gd name="connsiteY105" fmla="*/ 853846 h 1605023"/>
              <a:gd name="connsiteX106" fmla="*/ 8989288 w 10680562"/>
              <a:gd name="connsiteY106" fmla="*/ 852877 h 1605023"/>
              <a:gd name="connsiteX107" fmla="*/ 9035275 w 10680562"/>
              <a:gd name="connsiteY107" fmla="*/ 837110 h 1605023"/>
              <a:gd name="connsiteX108" fmla="*/ 9138626 w 10680562"/>
              <a:gd name="connsiteY108" fmla="*/ 862106 h 1605023"/>
              <a:gd name="connsiteX109" fmla="*/ 9216298 w 10680562"/>
              <a:gd name="connsiteY109" fmla="*/ 858754 h 1605023"/>
              <a:gd name="connsiteX110" fmla="*/ 9259941 w 10680562"/>
              <a:gd name="connsiteY110" fmla="*/ 861843 h 1605023"/>
              <a:gd name="connsiteX111" fmla="*/ 9380407 w 10680562"/>
              <a:gd name="connsiteY111" fmla="*/ 864825 h 1605023"/>
              <a:gd name="connsiteX112" fmla="*/ 9490772 w 10680562"/>
              <a:gd name="connsiteY112" fmla="*/ 901190 h 1605023"/>
              <a:gd name="connsiteX113" fmla="*/ 9584982 w 10680562"/>
              <a:gd name="connsiteY113" fmla="*/ 935980 h 1605023"/>
              <a:gd name="connsiteX114" fmla="*/ 9759797 w 10680562"/>
              <a:gd name="connsiteY114" fmla="*/ 1010923 h 1605023"/>
              <a:gd name="connsiteX115" fmla="*/ 9834455 w 10680562"/>
              <a:gd name="connsiteY115" fmla="*/ 1082908 h 1605023"/>
              <a:gd name="connsiteX116" fmla="*/ 9939504 w 10680562"/>
              <a:gd name="connsiteY116" fmla="*/ 1110614 h 1605023"/>
              <a:gd name="connsiteX117" fmla="*/ 10077001 w 10680562"/>
              <a:gd name="connsiteY117" fmla="*/ 1160906 h 1605023"/>
              <a:gd name="connsiteX118" fmla="*/ 10178431 w 10680562"/>
              <a:gd name="connsiteY118" fmla="*/ 1244920 h 1605023"/>
              <a:gd name="connsiteX119" fmla="*/ 10248658 w 10680562"/>
              <a:gd name="connsiteY119" fmla="*/ 1309335 h 1605023"/>
              <a:gd name="connsiteX120" fmla="*/ 10414709 w 10680562"/>
              <a:gd name="connsiteY120" fmla="*/ 1388645 h 1605023"/>
              <a:gd name="connsiteX121" fmla="*/ 10592469 w 10680562"/>
              <a:gd name="connsiteY121" fmla="*/ 1543828 h 1605023"/>
              <a:gd name="connsiteX122" fmla="*/ 10674941 w 10680562"/>
              <a:gd name="connsiteY122" fmla="*/ 1597388 h 1605023"/>
              <a:gd name="connsiteX123" fmla="*/ 10680562 w 10680562"/>
              <a:gd name="connsiteY123" fmla="*/ 1605023 h 1605023"/>
              <a:gd name="connsiteX124" fmla="*/ 0 w 10680562"/>
              <a:gd name="connsiteY124" fmla="*/ 1605023 h 1605023"/>
              <a:gd name="connsiteX125" fmla="*/ 0 w 10680562"/>
              <a:gd name="connsiteY125" fmla="*/ 415048 h 1605023"/>
              <a:gd name="connsiteX126" fmla="*/ 9656 w 10680562"/>
              <a:gd name="connsiteY126" fmla="*/ 416044 h 1605023"/>
              <a:gd name="connsiteX127" fmla="*/ 179196 w 10680562"/>
              <a:gd name="connsiteY127" fmla="*/ 423071 h 1605023"/>
              <a:gd name="connsiteX128" fmla="*/ 250912 w 10680562"/>
              <a:gd name="connsiteY128" fmla="*/ 408617 h 1605023"/>
              <a:gd name="connsiteX129" fmla="*/ 291375 w 10680562"/>
              <a:gd name="connsiteY129" fmla="*/ 403710 h 1605023"/>
              <a:gd name="connsiteX130" fmla="*/ 320542 w 10680562"/>
              <a:gd name="connsiteY130" fmla="*/ 396592 h 1605023"/>
              <a:gd name="connsiteX131" fmla="*/ 522426 w 10680562"/>
              <a:gd name="connsiteY131" fmla="*/ 407158 h 1605023"/>
              <a:gd name="connsiteX132" fmla="*/ 549068 w 10680562"/>
              <a:gd name="connsiteY132" fmla="*/ 407418 h 1605023"/>
              <a:gd name="connsiteX133" fmla="*/ 571100 w 10680562"/>
              <a:gd name="connsiteY133" fmla="*/ 400562 h 1605023"/>
              <a:gd name="connsiteX134" fmla="*/ 575457 w 10680562"/>
              <a:gd name="connsiteY134" fmla="*/ 392801 h 1605023"/>
              <a:gd name="connsiteX135" fmla="*/ 589968 w 10680562"/>
              <a:gd name="connsiteY135" fmla="*/ 391807 h 1605023"/>
              <a:gd name="connsiteX136" fmla="*/ 593649 w 10680562"/>
              <a:gd name="connsiteY136" fmla="*/ 390062 h 1605023"/>
              <a:gd name="connsiteX137" fmla="*/ 614928 w 10680562"/>
              <a:gd name="connsiteY137" fmla="*/ 381544 h 1605023"/>
              <a:gd name="connsiteX138" fmla="*/ 722580 w 10680562"/>
              <a:gd name="connsiteY138" fmla="*/ 392722 h 1605023"/>
              <a:gd name="connsiteX139" fmla="*/ 946884 w 10680562"/>
              <a:gd name="connsiteY139" fmla="*/ 411854 h 1605023"/>
              <a:gd name="connsiteX140" fmla="*/ 1210905 w 10680562"/>
              <a:gd name="connsiteY140" fmla="*/ 432414 h 1605023"/>
              <a:gd name="connsiteX141" fmla="*/ 1377854 w 10680562"/>
              <a:gd name="connsiteY141" fmla="*/ 429745 h 1605023"/>
              <a:gd name="connsiteX142" fmla="*/ 1391004 w 10680562"/>
              <a:gd name="connsiteY142" fmla="*/ 441307 h 1605023"/>
              <a:gd name="connsiteX143" fmla="*/ 1406953 w 10680562"/>
              <a:gd name="connsiteY143" fmla="*/ 447889 h 1605023"/>
              <a:gd name="connsiteX144" fmla="*/ 1409246 w 10680562"/>
              <a:gd name="connsiteY144" fmla="*/ 446765 h 1605023"/>
              <a:gd name="connsiteX145" fmla="*/ 1428800 w 10680562"/>
              <a:gd name="connsiteY145" fmla="*/ 448677 h 1605023"/>
              <a:gd name="connsiteX146" fmla="*/ 1432402 w 10680562"/>
              <a:gd name="connsiteY146" fmla="*/ 452956 h 1605023"/>
              <a:gd name="connsiteX147" fmla="*/ 1606578 w 10680562"/>
              <a:gd name="connsiteY147" fmla="*/ 430870 h 1605023"/>
              <a:gd name="connsiteX148" fmla="*/ 1647476 w 10680562"/>
              <a:gd name="connsiteY148" fmla="*/ 438687 h 1605023"/>
              <a:gd name="connsiteX149" fmla="*/ 1655866 w 10680562"/>
              <a:gd name="connsiteY149" fmla="*/ 439472 h 1605023"/>
              <a:gd name="connsiteX150" fmla="*/ 1656096 w 10680562"/>
              <a:gd name="connsiteY150" fmla="*/ 439162 h 1605023"/>
              <a:gd name="connsiteX151" fmla="*/ 1670708 w 10680562"/>
              <a:gd name="connsiteY151" fmla="*/ 412530 h 1605023"/>
              <a:gd name="connsiteX152" fmla="*/ 1737953 w 10680562"/>
              <a:gd name="connsiteY152" fmla="*/ 399496 h 1605023"/>
              <a:gd name="connsiteX153" fmla="*/ 1848192 w 10680562"/>
              <a:gd name="connsiteY153" fmla="*/ 376032 h 1605023"/>
              <a:gd name="connsiteX154" fmla="*/ 1954077 w 10680562"/>
              <a:gd name="connsiteY154" fmla="*/ 352621 h 1605023"/>
              <a:gd name="connsiteX155" fmla="*/ 1993047 w 10680562"/>
              <a:gd name="connsiteY155" fmla="*/ 346068 h 1605023"/>
              <a:gd name="connsiteX156" fmla="*/ 2059719 w 10680562"/>
              <a:gd name="connsiteY156" fmla="*/ 325903 h 1605023"/>
              <a:gd name="connsiteX157" fmla="*/ 2088528 w 10680562"/>
              <a:gd name="connsiteY157" fmla="*/ 311409 h 1605023"/>
              <a:gd name="connsiteX158" fmla="*/ 2090087 w 10680562"/>
              <a:gd name="connsiteY158" fmla="*/ 311676 h 1605023"/>
              <a:gd name="connsiteX159" fmla="*/ 2091700 w 10680562"/>
              <a:gd name="connsiteY159" fmla="*/ 307455 h 1605023"/>
              <a:gd name="connsiteX160" fmla="*/ 2096989 w 10680562"/>
              <a:gd name="connsiteY160" fmla="*/ 304649 h 1605023"/>
              <a:gd name="connsiteX161" fmla="*/ 2113325 w 10680562"/>
              <a:gd name="connsiteY161" fmla="*/ 302764 h 1605023"/>
              <a:gd name="connsiteX162" fmla="*/ 2119780 w 10680562"/>
              <a:gd name="connsiteY162" fmla="*/ 303007 h 1605023"/>
              <a:gd name="connsiteX163" fmla="*/ 2128562 w 10680562"/>
              <a:gd name="connsiteY163" fmla="*/ 301336 h 1605023"/>
              <a:gd name="connsiteX164" fmla="*/ 2128679 w 10680562"/>
              <a:gd name="connsiteY164" fmla="*/ 300991 h 1605023"/>
              <a:gd name="connsiteX165" fmla="*/ 2179558 w 10680562"/>
              <a:gd name="connsiteY165" fmla="*/ 299095 h 1605023"/>
              <a:gd name="connsiteX166" fmla="*/ 2223277 w 10680562"/>
              <a:gd name="connsiteY166" fmla="*/ 260239 h 1605023"/>
              <a:gd name="connsiteX167" fmla="*/ 2243644 w 10680562"/>
              <a:gd name="connsiteY167" fmla="*/ 251110 h 1605023"/>
              <a:gd name="connsiteX168" fmla="*/ 2253986 w 10680562"/>
              <a:gd name="connsiteY168" fmla="*/ 244616 h 1605023"/>
              <a:gd name="connsiteX169" fmla="*/ 2254285 w 10680562"/>
              <a:gd name="connsiteY169" fmla="*/ 243167 h 1605023"/>
              <a:gd name="connsiteX170" fmla="*/ 2295037 w 10680562"/>
              <a:gd name="connsiteY170" fmla="*/ 242433 h 1605023"/>
              <a:gd name="connsiteX171" fmla="*/ 2299648 w 10680562"/>
              <a:gd name="connsiteY171" fmla="*/ 239896 h 1605023"/>
              <a:gd name="connsiteX172" fmla="*/ 2327237 w 10680562"/>
              <a:gd name="connsiteY172" fmla="*/ 242539 h 1605023"/>
              <a:gd name="connsiteX173" fmla="*/ 2340943 w 10680562"/>
              <a:gd name="connsiteY173" fmla="*/ 242239 h 1605023"/>
              <a:gd name="connsiteX174" fmla="*/ 2345943 w 10680562"/>
              <a:gd name="connsiteY174" fmla="*/ 245589 h 1605023"/>
              <a:gd name="connsiteX175" fmla="*/ 2365602 w 10680562"/>
              <a:gd name="connsiteY175" fmla="*/ 243403 h 1605023"/>
              <a:gd name="connsiteX176" fmla="*/ 2367433 w 10680562"/>
              <a:gd name="connsiteY176" fmla="*/ 241858 h 1605023"/>
              <a:gd name="connsiteX177" fmla="*/ 2385231 w 10680562"/>
              <a:gd name="connsiteY177" fmla="*/ 244873 h 1605023"/>
              <a:gd name="connsiteX178" fmla="*/ 2402059 w 10680562"/>
              <a:gd name="connsiteY178" fmla="*/ 253223 h 1605023"/>
              <a:gd name="connsiteX179" fmla="*/ 2719020 w 10680562"/>
              <a:gd name="connsiteY179" fmla="*/ 235271 h 1605023"/>
              <a:gd name="connsiteX180" fmla="*/ 2877308 w 10680562"/>
              <a:gd name="connsiteY180" fmla="*/ 208630 h 1605023"/>
              <a:gd name="connsiteX181" fmla="*/ 3051375 w 10680562"/>
              <a:gd name="connsiteY181" fmla="*/ 154110 h 1605023"/>
              <a:gd name="connsiteX182" fmla="*/ 3104837 w 10680562"/>
              <a:gd name="connsiteY182" fmla="*/ 135199 h 1605023"/>
              <a:gd name="connsiteX183" fmla="*/ 3159836 w 10680562"/>
              <a:gd name="connsiteY183" fmla="*/ 142694 h 1605023"/>
              <a:gd name="connsiteX184" fmla="*/ 3177510 w 10680562"/>
              <a:gd name="connsiteY184" fmla="*/ 130186 h 1605023"/>
              <a:gd name="connsiteX185" fmla="*/ 3180470 w 10680562"/>
              <a:gd name="connsiteY185" fmla="*/ 127764 h 1605023"/>
              <a:gd name="connsiteX186" fmla="*/ 3194216 w 10680562"/>
              <a:gd name="connsiteY186" fmla="*/ 123837 h 1605023"/>
              <a:gd name="connsiteX187" fmla="*/ 3214710 w 10680562"/>
              <a:gd name="connsiteY187" fmla="*/ 104451 h 1605023"/>
              <a:gd name="connsiteX188" fmla="*/ 3240671 w 10680562"/>
              <a:gd name="connsiteY188" fmla="*/ 99232 h 1605023"/>
              <a:gd name="connsiteX189" fmla="*/ 3366544 w 10680562"/>
              <a:gd name="connsiteY189" fmla="*/ 82506 h 1605023"/>
              <a:gd name="connsiteX190" fmla="*/ 3440424 w 10680562"/>
              <a:gd name="connsiteY190" fmla="*/ 67891 h 1605023"/>
              <a:gd name="connsiteX191" fmla="*/ 3466248 w 10680562"/>
              <a:gd name="connsiteY191" fmla="*/ 55103 h 1605023"/>
              <a:gd name="connsiteX192" fmla="*/ 3503820 w 10680562"/>
              <a:gd name="connsiteY192" fmla="*/ 42110 h 1605023"/>
              <a:gd name="connsiteX193" fmla="*/ 3568389 w 10680562"/>
              <a:gd name="connsiteY193" fmla="*/ 13576 h 1605023"/>
              <a:gd name="connsiteX194" fmla="*/ 3604089 w 10680562"/>
              <a:gd name="connsiteY194" fmla="*/ 6980 h 16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680562" h="1605023">
                <a:moveTo>
                  <a:pt x="3617689" y="0"/>
                </a:moveTo>
                <a:lnTo>
                  <a:pt x="3635901" y="7738"/>
                </a:lnTo>
                <a:cubicBezTo>
                  <a:pt x="3636815" y="-13593"/>
                  <a:pt x="3674070" y="21953"/>
                  <a:pt x="3690891" y="7049"/>
                </a:cubicBezTo>
                <a:cubicBezTo>
                  <a:pt x="3723615" y="8082"/>
                  <a:pt x="3780877" y="7675"/>
                  <a:pt x="3832247" y="13937"/>
                </a:cubicBezTo>
                <a:cubicBezTo>
                  <a:pt x="3878761" y="52737"/>
                  <a:pt x="3960967" y="15082"/>
                  <a:pt x="3999111" y="44624"/>
                </a:cubicBezTo>
                <a:cubicBezTo>
                  <a:pt x="4011661" y="48427"/>
                  <a:pt x="4023440" y="49464"/>
                  <a:pt x="4034676" y="48775"/>
                </a:cubicBezTo>
                <a:lnTo>
                  <a:pt x="4065394" y="42879"/>
                </a:lnTo>
                <a:lnTo>
                  <a:pt x="4072648" y="33262"/>
                </a:lnTo>
                <a:lnTo>
                  <a:pt x="4092232" y="34026"/>
                </a:lnTo>
                <a:lnTo>
                  <a:pt x="4097470" y="32252"/>
                </a:lnTo>
                <a:cubicBezTo>
                  <a:pt x="4107476" y="28819"/>
                  <a:pt x="4117405" y="25741"/>
                  <a:pt x="4127488" y="24056"/>
                </a:cubicBezTo>
                <a:cubicBezTo>
                  <a:pt x="4122379" y="69900"/>
                  <a:pt x="4212421" y="17287"/>
                  <a:pt x="4190803" y="55685"/>
                </a:cubicBezTo>
                <a:cubicBezTo>
                  <a:pt x="4245322" y="54405"/>
                  <a:pt x="4210442" y="91290"/>
                  <a:pt x="4269333" y="54186"/>
                </a:cubicBezTo>
                <a:cubicBezTo>
                  <a:pt x="4360007" y="84494"/>
                  <a:pt x="4405441" y="66275"/>
                  <a:pt x="4481486" y="116915"/>
                </a:cubicBezTo>
                <a:cubicBezTo>
                  <a:pt x="4469366" y="96298"/>
                  <a:pt x="4624978" y="141388"/>
                  <a:pt x="4651418" y="150071"/>
                </a:cubicBezTo>
                <a:lnTo>
                  <a:pt x="4863575" y="175458"/>
                </a:lnTo>
                <a:cubicBezTo>
                  <a:pt x="4867452" y="182323"/>
                  <a:pt x="5007365" y="209256"/>
                  <a:pt x="5013635" y="213928"/>
                </a:cubicBezTo>
                <a:lnTo>
                  <a:pt x="5203044" y="228946"/>
                </a:lnTo>
                <a:lnTo>
                  <a:pt x="5207070" y="235105"/>
                </a:lnTo>
                <a:lnTo>
                  <a:pt x="5224253" y="240320"/>
                </a:lnTo>
                <a:lnTo>
                  <a:pt x="5256736" y="254811"/>
                </a:lnTo>
                <a:lnTo>
                  <a:pt x="5264095" y="253567"/>
                </a:lnTo>
                <a:lnTo>
                  <a:pt x="5315084" y="269264"/>
                </a:lnTo>
                <a:lnTo>
                  <a:pt x="5316393" y="267603"/>
                </a:lnTo>
                <a:cubicBezTo>
                  <a:pt x="5320500" y="264235"/>
                  <a:pt x="5325719" y="262424"/>
                  <a:pt x="5333427" y="263823"/>
                </a:cubicBezTo>
                <a:cubicBezTo>
                  <a:pt x="5330520" y="234164"/>
                  <a:pt x="5341605" y="254143"/>
                  <a:pt x="5364589" y="260882"/>
                </a:cubicBezTo>
                <a:cubicBezTo>
                  <a:pt x="5365199" y="216323"/>
                  <a:pt x="5425089" y="252089"/>
                  <a:pt x="5443973" y="230866"/>
                </a:cubicBezTo>
                <a:cubicBezTo>
                  <a:pt x="5460840" y="236821"/>
                  <a:pt x="5478689" y="242307"/>
                  <a:pt x="5497201" y="247023"/>
                </a:cubicBezTo>
                <a:lnTo>
                  <a:pt x="5508269" y="249256"/>
                </a:lnTo>
                <a:lnTo>
                  <a:pt x="5508636" y="248880"/>
                </a:lnTo>
                <a:cubicBezTo>
                  <a:pt x="5511356" y="248469"/>
                  <a:pt x="5515116" y="248867"/>
                  <a:pt x="5520606" y="250400"/>
                </a:cubicBezTo>
                <a:lnTo>
                  <a:pt x="5528451" y="253330"/>
                </a:lnTo>
                <a:lnTo>
                  <a:pt x="5549923" y="257662"/>
                </a:lnTo>
                <a:lnTo>
                  <a:pt x="5558295" y="256364"/>
                </a:lnTo>
                <a:lnTo>
                  <a:pt x="5664799" y="278924"/>
                </a:lnTo>
                <a:lnTo>
                  <a:pt x="5796160" y="307979"/>
                </a:lnTo>
                <a:lnTo>
                  <a:pt x="5897647" y="339431"/>
                </a:lnTo>
                <a:cubicBezTo>
                  <a:pt x="5894921" y="322560"/>
                  <a:pt x="5962532" y="357207"/>
                  <a:pt x="5978838" y="367970"/>
                </a:cubicBezTo>
                <a:cubicBezTo>
                  <a:pt x="6035145" y="375765"/>
                  <a:pt x="6006578" y="380813"/>
                  <a:pt x="6050367" y="386341"/>
                </a:cubicBezTo>
                <a:cubicBezTo>
                  <a:pt x="6051161" y="391932"/>
                  <a:pt x="6137489" y="380709"/>
                  <a:pt x="6140609" y="385135"/>
                </a:cubicBezTo>
                <a:cubicBezTo>
                  <a:pt x="6205928" y="424013"/>
                  <a:pt x="6248816" y="452185"/>
                  <a:pt x="6302950" y="448183"/>
                </a:cubicBezTo>
                <a:lnTo>
                  <a:pt x="6308533" y="448551"/>
                </a:lnTo>
                <a:lnTo>
                  <a:pt x="6340278" y="468555"/>
                </a:lnTo>
                <a:lnTo>
                  <a:pt x="6341685" y="467587"/>
                </a:lnTo>
                <a:cubicBezTo>
                  <a:pt x="6345560" y="465876"/>
                  <a:pt x="6349786" y="465470"/>
                  <a:pt x="6354862" y="467794"/>
                </a:cubicBezTo>
                <a:cubicBezTo>
                  <a:pt x="6361260" y="446013"/>
                  <a:pt x="6363438" y="462250"/>
                  <a:pt x="6377840" y="471024"/>
                </a:cubicBezTo>
                <a:cubicBezTo>
                  <a:pt x="6390990" y="439154"/>
                  <a:pt x="6423334" y="475084"/>
                  <a:pt x="6442804" y="463091"/>
                </a:cubicBezTo>
                <a:cubicBezTo>
                  <a:pt x="6453090" y="470255"/>
                  <a:pt x="6464204" y="477252"/>
                  <a:pt x="6476009" y="483807"/>
                </a:cubicBezTo>
                <a:lnTo>
                  <a:pt x="6483237" y="487308"/>
                </a:lnTo>
                <a:lnTo>
                  <a:pt x="6483605" y="487102"/>
                </a:lnTo>
                <a:cubicBezTo>
                  <a:pt x="6485654" y="487272"/>
                  <a:pt x="6488212" y="488201"/>
                  <a:pt x="6491673" y="490243"/>
                </a:cubicBezTo>
                <a:lnTo>
                  <a:pt x="6496411" y="493689"/>
                </a:lnTo>
                <a:lnTo>
                  <a:pt x="6510429" y="500479"/>
                </a:lnTo>
                <a:lnTo>
                  <a:pt x="6516750" y="500983"/>
                </a:lnTo>
                <a:cubicBezTo>
                  <a:pt x="6541864" y="496675"/>
                  <a:pt x="6554866" y="452619"/>
                  <a:pt x="6580199" y="483318"/>
                </a:cubicBezTo>
                <a:cubicBezTo>
                  <a:pt x="6622601" y="489571"/>
                  <a:pt x="6654587" y="470617"/>
                  <a:pt x="6690237" y="493051"/>
                </a:cubicBezTo>
                <a:cubicBezTo>
                  <a:pt x="6729957" y="498806"/>
                  <a:pt x="6766252" y="494451"/>
                  <a:pt x="6798356" y="506748"/>
                </a:cubicBezTo>
                <a:cubicBezTo>
                  <a:pt x="6813529" y="501270"/>
                  <a:pt x="6826992" y="500232"/>
                  <a:pt x="6837102" y="513677"/>
                </a:cubicBezTo>
                <a:cubicBezTo>
                  <a:pt x="6874837" y="515764"/>
                  <a:pt x="6887115" y="500833"/>
                  <a:pt x="6907934" y="517339"/>
                </a:cubicBezTo>
                <a:cubicBezTo>
                  <a:pt x="6934086" y="494196"/>
                  <a:pt x="6933260" y="504492"/>
                  <a:pt x="6941474" y="513632"/>
                </a:cubicBezTo>
                <a:lnTo>
                  <a:pt x="6942754" y="514394"/>
                </a:lnTo>
                <a:lnTo>
                  <a:pt x="6946363" y="511066"/>
                </a:lnTo>
                <a:lnTo>
                  <a:pt x="6952592" y="510252"/>
                </a:lnTo>
                <a:lnTo>
                  <a:pt x="6968398" y="513946"/>
                </a:lnTo>
                <a:lnTo>
                  <a:pt x="6974142" y="516310"/>
                </a:lnTo>
                <a:cubicBezTo>
                  <a:pt x="6978173" y="517574"/>
                  <a:pt x="6980948" y="517948"/>
                  <a:pt x="6982971" y="517694"/>
                </a:cubicBezTo>
                <a:lnTo>
                  <a:pt x="6983252" y="517416"/>
                </a:lnTo>
                <a:lnTo>
                  <a:pt x="6991400" y="519321"/>
                </a:lnTo>
                <a:cubicBezTo>
                  <a:pt x="7005004" y="523242"/>
                  <a:pt x="7018100" y="527732"/>
                  <a:pt x="7030460" y="532556"/>
                </a:cubicBezTo>
                <a:cubicBezTo>
                  <a:pt x="7044917" y="516932"/>
                  <a:pt x="7088472" y="545083"/>
                  <a:pt x="7089916" y="511503"/>
                </a:cubicBezTo>
                <a:cubicBezTo>
                  <a:pt x="7106785" y="517039"/>
                  <a:pt x="7114554" y="532321"/>
                  <a:pt x="7113059" y="509904"/>
                </a:cubicBezTo>
                <a:cubicBezTo>
                  <a:pt x="7118735" y="511110"/>
                  <a:pt x="7122641" y="509850"/>
                  <a:pt x="7125755" y="507393"/>
                </a:cubicBezTo>
                <a:lnTo>
                  <a:pt x="7126765" y="506166"/>
                </a:lnTo>
                <a:lnTo>
                  <a:pt x="7164175" y="519011"/>
                </a:lnTo>
                <a:lnTo>
                  <a:pt x="7169654" y="518219"/>
                </a:lnTo>
                <a:lnTo>
                  <a:pt x="7193386" y="529788"/>
                </a:lnTo>
                <a:lnTo>
                  <a:pt x="7205997" y="534060"/>
                </a:lnTo>
                <a:lnTo>
                  <a:pt x="7208842" y="538783"/>
                </a:lnTo>
                <a:cubicBezTo>
                  <a:pt x="7212314" y="541931"/>
                  <a:pt x="7217803" y="543928"/>
                  <a:pt x="7227817" y="543304"/>
                </a:cubicBezTo>
                <a:lnTo>
                  <a:pt x="7230267" y="542497"/>
                </a:lnTo>
                <a:lnTo>
                  <a:pt x="7244913" y="551160"/>
                </a:lnTo>
                <a:cubicBezTo>
                  <a:pt x="7249453" y="554807"/>
                  <a:pt x="7253253" y="559130"/>
                  <a:pt x="7255970" y="564383"/>
                </a:cubicBezTo>
                <a:cubicBezTo>
                  <a:pt x="7315146" y="548103"/>
                  <a:pt x="7361553" y="579076"/>
                  <a:pt x="7421156" y="584155"/>
                </a:cubicBezTo>
                <a:cubicBezTo>
                  <a:pt x="7465612" y="613750"/>
                  <a:pt x="7546249" y="613142"/>
                  <a:pt x="7553166" y="653085"/>
                </a:cubicBezTo>
                <a:cubicBezTo>
                  <a:pt x="7562552" y="609214"/>
                  <a:pt x="7673998" y="724531"/>
                  <a:pt x="7643092" y="662482"/>
                </a:cubicBezTo>
                <a:lnTo>
                  <a:pt x="7896429" y="689054"/>
                </a:lnTo>
                <a:cubicBezTo>
                  <a:pt x="7940867" y="662251"/>
                  <a:pt x="7914217" y="689365"/>
                  <a:pt x="7954620" y="689481"/>
                </a:cubicBezTo>
                <a:cubicBezTo>
                  <a:pt x="7937756" y="718000"/>
                  <a:pt x="8005608" y="680123"/>
                  <a:pt x="8000803" y="714583"/>
                </a:cubicBezTo>
                <a:cubicBezTo>
                  <a:pt x="8008309" y="713512"/>
                  <a:pt x="8015731" y="711389"/>
                  <a:pt x="8023216" y="709000"/>
                </a:cubicBezTo>
                <a:lnTo>
                  <a:pt x="8027136" y="707765"/>
                </a:lnTo>
                <a:lnTo>
                  <a:pt x="8041622" y="708731"/>
                </a:lnTo>
                <a:lnTo>
                  <a:pt x="8047209" y="701624"/>
                </a:lnTo>
                <a:lnTo>
                  <a:pt x="8070088" y="697789"/>
                </a:lnTo>
                <a:cubicBezTo>
                  <a:pt x="8078424" y="697492"/>
                  <a:pt x="8087123" y="698508"/>
                  <a:pt x="8096332" y="701624"/>
                </a:cubicBezTo>
                <a:cubicBezTo>
                  <a:pt x="8123926" y="724651"/>
                  <a:pt x="8185640" y="697894"/>
                  <a:pt x="8219225" y="728069"/>
                </a:cubicBezTo>
                <a:cubicBezTo>
                  <a:pt x="8232644" y="736562"/>
                  <a:pt x="8280723" y="746936"/>
                  <a:pt x="8293793" y="739200"/>
                </a:cubicBezTo>
                <a:cubicBezTo>
                  <a:pt x="8304636" y="739365"/>
                  <a:pt x="8314843" y="745516"/>
                  <a:pt x="8323753" y="736063"/>
                </a:cubicBezTo>
                <a:cubicBezTo>
                  <a:pt x="8336542" y="725164"/>
                  <a:pt x="8363344" y="752699"/>
                  <a:pt x="8364496" y="736635"/>
                </a:cubicBezTo>
                <a:cubicBezTo>
                  <a:pt x="8383724" y="755702"/>
                  <a:pt x="8414211" y="733717"/>
                  <a:pt x="8437662" y="731942"/>
                </a:cubicBezTo>
                <a:cubicBezTo>
                  <a:pt x="8451685" y="749699"/>
                  <a:pt x="8487061" y="728469"/>
                  <a:pt x="8533764" y="735554"/>
                </a:cubicBezTo>
                <a:cubicBezTo>
                  <a:pt x="8548878" y="755832"/>
                  <a:pt x="8565301" y="740114"/>
                  <a:pt x="8596769" y="769632"/>
                </a:cubicBezTo>
                <a:cubicBezTo>
                  <a:pt x="8598880" y="767829"/>
                  <a:pt x="8601326" y="766261"/>
                  <a:pt x="8604035" y="764982"/>
                </a:cubicBezTo>
                <a:cubicBezTo>
                  <a:pt x="8619777" y="757551"/>
                  <a:pt x="8640772" y="761213"/>
                  <a:pt x="8650929" y="773164"/>
                </a:cubicBezTo>
                <a:cubicBezTo>
                  <a:pt x="8702615" y="814545"/>
                  <a:pt x="8757170" y="823762"/>
                  <a:pt x="8806497" y="839707"/>
                </a:cubicBezTo>
                <a:cubicBezTo>
                  <a:pt x="8863157" y="854381"/>
                  <a:pt x="8833749" y="812347"/>
                  <a:pt x="8898377" y="854651"/>
                </a:cubicBezTo>
                <a:cubicBezTo>
                  <a:pt x="8909161" y="844048"/>
                  <a:pt x="8918437" y="845186"/>
                  <a:pt x="8932389" y="853846"/>
                </a:cubicBezTo>
                <a:cubicBezTo>
                  <a:pt x="8960146" y="860074"/>
                  <a:pt x="8965550" y="829338"/>
                  <a:pt x="8989288" y="852877"/>
                </a:cubicBezTo>
                <a:cubicBezTo>
                  <a:pt x="8988278" y="835633"/>
                  <a:pt x="9043995" y="856467"/>
                  <a:pt x="9035275" y="837110"/>
                </a:cubicBezTo>
                <a:cubicBezTo>
                  <a:pt x="9060165" y="838647"/>
                  <a:pt x="9108456" y="858499"/>
                  <a:pt x="9138626" y="862106"/>
                </a:cubicBezTo>
                <a:cubicBezTo>
                  <a:pt x="9165080" y="876547"/>
                  <a:pt x="9174888" y="860404"/>
                  <a:pt x="9216298" y="858754"/>
                </a:cubicBezTo>
                <a:cubicBezTo>
                  <a:pt x="9230418" y="871192"/>
                  <a:pt x="9244774" y="868822"/>
                  <a:pt x="9259941" y="861843"/>
                </a:cubicBezTo>
                <a:cubicBezTo>
                  <a:pt x="9297647" y="870955"/>
                  <a:pt x="9335980" y="863006"/>
                  <a:pt x="9380407" y="864825"/>
                </a:cubicBezTo>
                <a:cubicBezTo>
                  <a:pt x="9424338" y="883720"/>
                  <a:pt x="9443322" y="899138"/>
                  <a:pt x="9490772" y="901190"/>
                </a:cubicBezTo>
                <a:cubicBezTo>
                  <a:pt x="9530410" y="933396"/>
                  <a:pt x="9546422" y="928548"/>
                  <a:pt x="9584982" y="935980"/>
                </a:cubicBezTo>
                <a:cubicBezTo>
                  <a:pt x="9629819" y="954269"/>
                  <a:pt x="9718219" y="986435"/>
                  <a:pt x="9759797" y="1010923"/>
                </a:cubicBezTo>
                <a:cubicBezTo>
                  <a:pt x="9801376" y="1035410"/>
                  <a:pt x="9804503" y="1066293"/>
                  <a:pt x="9834455" y="1082908"/>
                </a:cubicBezTo>
                <a:cubicBezTo>
                  <a:pt x="9864406" y="1099522"/>
                  <a:pt x="9891608" y="1087791"/>
                  <a:pt x="9939504" y="1110614"/>
                </a:cubicBezTo>
                <a:cubicBezTo>
                  <a:pt x="9978150" y="1098522"/>
                  <a:pt x="10034187" y="1166580"/>
                  <a:pt x="10077001" y="1160906"/>
                </a:cubicBezTo>
                <a:cubicBezTo>
                  <a:pt x="10084861" y="1190721"/>
                  <a:pt x="10164307" y="1234884"/>
                  <a:pt x="10178431" y="1244920"/>
                </a:cubicBezTo>
                <a:cubicBezTo>
                  <a:pt x="10210316" y="1215779"/>
                  <a:pt x="10222273" y="1306394"/>
                  <a:pt x="10248658" y="1309335"/>
                </a:cubicBezTo>
                <a:lnTo>
                  <a:pt x="10414709" y="1388645"/>
                </a:lnTo>
                <a:cubicBezTo>
                  <a:pt x="10473963" y="1440373"/>
                  <a:pt x="10538857" y="1454568"/>
                  <a:pt x="10592469" y="1543828"/>
                </a:cubicBezTo>
                <a:cubicBezTo>
                  <a:pt x="10651538" y="1531501"/>
                  <a:pt x="10660082" y="1567462"/>
                  <a:pt x="10674941" y="1597388"/>
                </a:cubicBezTo>
                <a:lnTo>
                  <a:pt x="10680562" y="1605023"/>
                </a:lnTo>
                <a:lnTo>
                  <a:pt x="0" y="1605023"/>
                </a:lnTo>
                <a:lnTo>
                  <a:pt x="0" y="415048"/>
                </a:lnTo>
                <a:lnTo>
                  <a:pt x="9656" y="416044"/>
                </a:lnTo>
                <a:cubicBezTo>
                  <a:pt x="66794" y="420549"/>
                  <a:pt x="142962" y="423374"/>
                  <a:pt x="179196" y="423071"/>
                </a:cubicBezTo>
                <a:cubicBezTo>
                  <a:pt x="202136" y="418172"/>
                  <a:pt x="228694" y="392385"/>
                  <a:pt x="250912" y="408617"/>
                </a:cubicBezTo>
                <a:cubicBezTo>
                  <a:pt x="249389" y="392611"/>
                  <a:pt x="280512" y="416185"/>
                  <a:pt x="291375" y="403710"/>
                </a:cubicBezTo>
                <a:cubicBezTo>
                  <a:pt x="298635" y="393187"/>
                  <a:pt x="309770" y="397885"/>
                  <a:pt x="320542" y="396592"/>
                </a:cubicBezTo>
                <a:cubicBezTo>
                  <a:pt x="359051" y="397166"/>
                  <a:pt x="484339" y="405354"/>
                  <a:pt x="522426" y="407158"/>
                </a:cubicBezTo>
                <a:cubicBezTo>
                  <a:pt x="532069" y="408997"/>
                  <a:pt x="540856" y="408831"/>
                  <a:pt x="549068" y="407418"/>
                </a:cubicBezTo>
                <a:lnTo>
                  <a:pt x="571100" y="400562"/>
                </a:lnTo>
                <a:lnTo>
                  <a:pt x="575457" y="392801"/>
                </a:lnTo>
                <a:lnTo>
                  <a:pt x="589968" y="391807"/>
                </a:lnTo>
                <a:lnTo>
                  <a:pt x="593649" y="390062"/>
                </a:lnTo>
                <a:cubicBezTo>
                  <a:pt x="600667" y="386700"/>
                  <a:pt x="607669" y="383607"/>
                  <a:pt x="614928" y="381544"/>
                </a:cubicBezTo>
                <a:cubicBezTo>
                  <a:pt x="636416" y="381988"/>
                  <a:pt x="667253" y="387671"/>
                  <a:pt x="722580" y="392722"/>
                </a:cubicBezTo>
                <a:cubicBezTo>
                  <a:pt x="792539" y="408114"/>
                  <a:pt x="885615" y="380106"/>
                  <a:pt x="946884" y="411854"/>
                </a:cubicBezTo>
                <a:cubicBezTo>
                  <a:pt x="1028270" y="418469"/>
                  <a:pt x="1139077" y="429433"/>
                  <a:pt x="1210905" y="432414"/>
                </a:cubicBezTo>
                <a:cubicBezTo>
                  <a:pt x="1270803" y="429423"/>
                  <a:pt x="1321921" y="453757"/>
                  <a:pt x="1377854" y="429745"/>
                </a:cubicBezTo>
                <a:cubicBezTo>
                  <a:pt x="1381419" y="434564"/>
                  <a:pt x="1385901" y="438319"/>
                  <a:pt x="1391004" y="441307"/>
                </a:cubicBezTo>
                <a:lnTo>
                  <a:pt x="1406953" y="447889"/>
                </a:lnTo>
                <a:lnTo>
                  <a:pt x="1409246" y="446765"/>
                </a:lnTo>
                <a:cubicBezTo>
                  <a:pt x="1419066" y="444804"/>
                  <a:pt x="1424836" y="446037"/>
                  <a:pt x="1428800" y="448677"/>
                </a:cubicBezTo>
                <a:lnTo>
                  <a:pt x="1432402" y="452956"/>
                </a:lnTo>
                <a:lnTo>
                  <a:pt x="1606578" y="430870"/>
                </a:lnTo>
                <a:cubicBezTo>
                  <a:pt x="1619625" y="433971"/>
                  <a:pt x="1633347" y="436643"/>
                  <a:pt x="1647476" y="438687"/>
                </a:cubicBezTo>
                <a:lnTo>
                  <a:pt x="1655866" y="439472"/>
                </a:lnTo>
                <a:lnTo>
                  <a:pt x="1656096" y="439162"/>
                </a:lnTo>
                <a:cubicBezTo>
                  <a:pt x="1658061" y="438636"/>
                  <a:pt x="1666503" y="411823"/>
                  <a:pt x="1670708" y="412530"/>
                </a:cubicBezTo>
                <a:lnTo>
                  <a:pt x="1737953" y="399496"/>
                </a:lnTo>
                <a:lnTo>
                  <a:pt x="1848192" y="376032"/>
                </a:lnTo>
                <a:cubicBezTo>
                  <a:pt x="1887458" y="368088"/>
                  <a:pt x="1918458" y="352092"/>
                  <a:pt x="1954077" y="352621"/>
                </a:cubicBezTo>
                <a:cubicBezTo>
                  <a:pt x="1965180" y="342609"/>
                  <a:pt x="1976973" y="337201"/>
                  <a:pt x="1993047" y="346068"/>
                </a:cubicBezTo>
                <a:cubicBezTo>
                  <a:pt x="2028636" y="335449"/>
                  <a:pt x="2032293" y="317806"/>
                  <a:pt x="2059719" y="325903"/>
                </a:cubicBezTo>
                <a:cubicBezTo>
                  <a:pt x="2071905" y="296194"/>
                  <a:pt x="2076373" y="305826"/>
                  <a:pt x="2088528" y="311409"/>
                </a:cubicBezTo>
                <a:lnTo>
                  <a:pt x="2090087" y="311676"/>
                </a:lnTo>
                <a:lnTo>
                  <a:pt x="2091700" y="307455"/>
                </a:lnTo>
                <a:lnTo>
                  <a:pt x="2096989" y="304649"/>
                </a:lnTo>
                <a:lnTo>
                  <a:pt x="2113325" y="302764"/>
                </a:lnTo>
                <a:lnTo>
                  <a:pt x="2119780" y="303007"/>
                </a:lnTo>
                <a:cubicBezTo>
                  <a:pt x="2124111" y="302819"/>
                  <a:pt x="2126840" y="302239"/>
                  <a:pt x="2128562" y="301336"/>
                </a:cubicBezTo>
                <a:cubicBezTo>
                  <a:pt x="2128600" y="301221"/>
                  <a:pt x="2128640" y="301107"/>
                  <a:pt x="2128679" y="300991"/>
                </a:cubicBezTo>
                <a:lnTo>
                  <a:pt x="2179558" y="299095"/>
                </a:lnTo>
                <a:cubicBezTo>
                  <a:pt x="2184857" y="280099"/>
                  <a:pt x="2238998" y="291238"/>
                  <a:pt x="2223277" y="260239"/>
                </a:cubicBezTo>
                <a:cubicBezTo>
                  <a:pt x="2241523" y="259676"/>
                  <a:pt x="2256386" y="270988"/>
                  <a:pt x="2243644" y="251110"/>
                </a:cubicBezTo>
                <a:cubicBezTo>
                  <a:pt x="2249448" y="250324"/>
                  <a:pt x="2252382" y="247882"/>
                  <a:pt x="2253986" y="244616"/>
                </a:cubicBezTo>
                <a:lnTo>
                  <a:pt x="2254285" y="243167"/>
                </a:lnTo>
                <a:lnTo>
                  <a:pt x="2295037" y="242433"/>
                </a:lnTo>
                <a:lnTo>
                  <a:pt x="2299648" y="239896"/>
                </a:lnTo>
                <a:lnTo>
                  <a:pt x="2327237" y="242539"/>
                </a:lnTo>
                <a:lnTo>
                  <a:pt x="2340943" y="242239"/>
                </a:lnTo>
                <a:lnTo>
                  <a:pt x="2345943" y="245589"/>
                </a:lnTo>
                <a:cubicBezTo>
                  <a:pt x="2350718" y="247299"/>
                  <a:pt x="2356754" y="247292"/>
                  <a:pt x="2365602" y="243403"/>
                </a:cubicBezTo>
                <a:lnTo>
                  <a:pt x="2367433" y="241858"/>
                </a:lnTo>
                <a:lnTo>
                  <a:pt x="2385231" y="244873"/>
                </a:lnTo>
                <a:cubicBezTo>
                  <a:pt x="2391237" y="246682"/>
                  <a:pt x="2396907" y="249351"/>
                  <a:pt x="2402059" y="253223"/>
                </a:cubicBezTo>
                <a:cubicBezTo>
                  <a:pt x="2457690" y="251623"/>
                  <a:pt x="2639813" y="242704"/>
                  <a:pt x="2719020" y="235271"/>
                </a:cubicBezTo>
                <a:cubicBezTo>
                  <a:pt x="2762954" y="229515"/>
                  <a:pt x="2821915" y="222156"/>
                  <a:pt x="2877308" y="208630"/>
                </a:cubicBezTo>
                <a:cubicBezTo>
                  <a:pt x="2947949" y="226393"/>
                  <a:pt x="2978035" y="153757"/>
                  <a:pt x="3051375" y="154110"/>
                </a:cubicBezTo>
                <a:cubicBezTo>
                  <a:pt x="3078434" y="115011"/>
                  <a:pt x="3067807" y="148493"/>
                  <a:pt x="3104837" y="135199"/>
                </a:cubicBezTo>
                <a:cubicBezTo>
                  <a:pt x="3103880" y="166713"/>
                  <a:pt x="3146743" y="109780"/>
                  <a:pt x="3159836" y="142694"/>
                </a:cubicBezTo>
                <a:cubicBezTo>
                  <a:pt x="3166160" y="139232"/>
                  <a:pt x="3171875" y="134841"/>
                  <a:pt x="3177510" y="130186"/>
                </a:cubicBezTo>
                <a:lnTo>
                  <a:pt x="3180470" y="127764"/>
                </a:lnTo>
                <a:lnTo>
                  <a:pt x="3194216" y="123837"/>
                </a:lnTo>
                <a:lnTo>
                  <a:pt x="3214710" y="104451"/>
                </a:lnTo>
                <a:cubicBezTo>
                  <a:pt x="3222186" y="101416"/>
                  <a:pt x="3230663" y="99454"/>
                  <a:pt x="3240671" y="99232"/>
                </a:cubicBezTo>
                <a:cubicBezTo>
                  <a:pt x="3277606" y="111009"/>
                  <a:pt x="3320498" y="66221"/>
                  <a:pt x="3366544" y="82506"/>
                </a:cubicBezTo>
                <a:cubicBezTo>
                  <a:pt x="3383134" y="85775"/>
                  <a:pt x="3432393" y="79256"/>
                  <a:pt x="3440424" y="67891"/>
                </a:cubicBezTo>
                <a:cubicBezTo>
                  <a:pt x="3450432" y="64444"/>
                  <a:pt x="3462892" y="66649"/>
                  <a:pt x="3466248" y="55103"/>
                </a:cubicBezTo>
                <a:cubicBezTo>
                  <a:pt x="3472418" y="40954"/>
                  <a:pt x="3510917" y="57092"/>
                  <a:pt x="3503820" y="42110"/>
                </a:cubicBezTo>
                <a:lnTo>
                  <a:pt x="3568389" y="13576"/>
                </a:lnTo>
                <a:cubicBezTo>
                  <a:pt x="3579310" y="19318"/>
                  <a:pt x="3590168" y="14433"/>
                  <a:pt x="3604089" y="698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wal 15">
            <a:extLst>
              <a:ext uri="{FF2B5EF4-FFF2-40B4-BE49-F238E27FC236}">
                <a16:creationId xmlns:a16="http://schemas.microsoft.com/office/drawing/2014/main" id="{F4C9563D-5ED6-0833-1F60-F2F62E7A369E}"/>
              </a:ext>
            </a:extLst>
          </p:cNvPr>
          <p:cNvSpPr/>
          <p:nvPr/>
        </p:nvSpPr>
        <p:spPr>
          <a:xfrm>
            <a:off x="7696200" y="1858001"/>
            <a:ext cx="548640" cy="52140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Tytuł 7">
            <a:extLst>
              <a:ext uri="{FF2B5EF4-FFF2-40B4-BE49-F238E27FC236}">
                <a16:creationId xmlns:a16="http://schemas.microsoft.com/office/drawing/2014/main" id="{E9B80B58-C880-993E-3BC7-AFEA721765C1}"/>
              </a:ext>
            </a:extLst>
          </p:cNvPr>
          <p:cNvSpPr>
            <a:spLocks noGrp="1"/>
          </p:cNvSpPr>
          <p:nvPr>
            <p:ph type="title"/>
          </p:nvPr>
        </p:nvSpPr>
        <p:spPr/>
        <p:txBody>
          <a:bodyPr/>
          <a:lstStyle/>
          <a:p>
            <a:r>
              <a:rPr lang="pl-PL" dirty="0"/>
              <a:t> </a:t>
            </a:r>
          </a:p>
        </p:txBody>
      </p:sp>
      <p:sp>
        <p:nvSpPr>
          <p:cNvPr id="19" name="Tytuł 1">
            <a:extLst>
              <a:ext uri="{FF2B5EF4-FFF2-40B4-BE49-F238E27FC236}">
                <a16:creationId xmlns:a16="http://schemas.microsoft.com/office/drawing/2014/main" id="{639FED88-A974-A18D-1E88-414318CE7838}"/>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l-PL" sz="4000" dirty="0"/>
              <a:t>Opis posiadanych danych</a:t>
            </a:r>
          </a:p>
        </p:txBody>
      </p:sp>
      <p:sp>
        <p:nvSpPr>
          <p:cNvPr id="20" name="Symbol zastępczy zawartości 2">
            <a:extLst>
              <a:ext uri="{FF2B5EF4-FFF2-40B4-BE49-F238E27FC236}">
                <a16:creationId xmlns:a16="http://schemas.microsoft.com/office/drawing/2014/main" id="{E8A9E5B5-5EBE-37BB-0D84-52B14478C1C6}"/>
              </a:ext>
            </a:extLst>
          </p:cNvPr>
          <p:cNvSpPr txBox="1">
            <a:spLocks/>
          </p:cNvSpPr>
          <p:nvPr/>
        </p:nvSpPr>
        <p:spPr>
          <a:xfrm>
            <a:off x="838200" y="1690688"/>
            <a:ext cx="1031748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2400" b="1" dirty="0"/>
              <a:t>U, V, W</a:t>
            </a:r>
            <a:r>
              <a:rPr lang="en-US" sz="2400" dirty="0"/>
              <a:t> – instrumental broadening </a:t>
            </a:r>
          </a:p>
          <a:p>
            <a:pPr fontAlgn="base"/>
            <a:r>
              <a:rPr lang="en-US" sz="2400" b="1" dirty="0"/>
              <a:t>X, Y</a:t>
            </a:r>
            <a:r>
              <a:rPr lang="en-US" sz="2400" dirty="0"/>
              <a:t> – sample broadening, in simple model: </a:t>
            </a:r>
            <a:r>
              <a:rPr lang="en-US" sz="2400" b="1" i="1" dirty="0"/>
              <a:t>X –strains, Y – crystallite size.</a:t>
            </a:r>
            <a:r>
              <a:rPr lang="en-US" sz="2400" dirty="0"/>
              <a:t> </a:t>
            </a:r>
          </a:p>
          <a:p>
            <a:pPr fontAlgn="base"/>
            <a:r>
              <a:rPr lang="en-US" sz="2400" dirty="0"/>
              <a:t>FWHM^2(gaussian) = (U)*Tan^2(Theta) + V*Tan(Theta) + W  </a:t>
            </a:r>
          </a:p>
          <a:p>
            <a:pPr fontAlgn="base"/>
            <a:r>
              <a:rPr lang="en-US" sz="2400" dirty="0"/>
              <a:t>FWHM(</a:t>
            </a:r>
            <a:r>
              <a:rPr lang="en-US" sz="2400" dirty="0" err="1"/>
              <a:t>lorentzian</a:t>
            </a:r>
            <a:r>
              <a:rPr lang="en-US" sz="2400" dirty="0"/>
              <a:t>)</a:t>
            </a:r>
            <a:r>
              <a:rPr lang="pl-PL" sz="2400" dirty="0"/>
              <a:t> cos(</a:t>
            </a:r>
            <a:r>
              <a:rPr lang="pl-PL" sz="2400" dirty="0" err="1"/>
              <a:t>Theta</a:t>
            </a:r>
            <a:r>
              <a:rPr lang="pl-PL" sz="2400" dirty="0"/>
              <a:t>)</a:t>
            </a:r>
            <a:r>
              <a:rPr lang="en-US" sz="2400" dirty="0"/>
              <a:t> =  X </a:t>
            </a:r>
            <a:r>
              <a:rPr lang="pl-PL" sz="2400" dirty="0"/>
              <a:t>sin</a:t>
            </a:r>
            <a:r>
              <a:rPr lang="en-US" sz="2400" dirty="0"/>
              <a:t>(Theta) + (Y) </a:t>
            </a:r>
            <a:endParaRPr lang="pl-PL" sz="2400" dirty="0"/>
          </a:p>
          <a:p>
            <a:pPr marL="0" indent="0">
              <a:buFont typeface="Arial" panose="020B0604020202020204" pitchFamily="34" charset="0"/>
              <a:buNone/>
            </a:pPr>
            <a:r>
              <a:rPr lang="pl-PL" sz="2400" dirty="0"/>
              <a:t>W pomiarach dyfrakcyjnym używa się </a:t>
            </a:r>
            <a:br>
              <a:rPr lang="pl-PL" sz="2400" dirty="0"/>
            </a:br>
            <a:r>
              <a:rPr lang="pl-PL" sz="2400" dirty="0"/>
              <a:t>promieniowania, które składa się z dwóch</a:t>
            </a:r>
            <a:br>
              <a:rPr lang="pl-PL" sz="2400" dirty="0"/>
            </a:br>
            <a:r>
              <a:rPr lang="pl-PL" sz="2400" dirty="0"/>
              <a:t>długości fali </a:t>
            </a:r>
            <a:r>
              <a:rPr lang="pl-PL" sz="2000" dirty="0"/>
              <a:t> </a:t>
            </a:r>
            <a:r>
              <a:rPr lang="pl-PL" sz="2400" dirty="0"/>
              <a:t>K_alpha1 i K_alpha2, gdzie </a:t>
            </a:r>
            <a:endParaRPr lang="en-US" sz="2000" dirty="0"/>
          </a:p>
        </p:txBody>
      </p:sp>
      <p:pic>
        <p:nvPicPr>
          <p:cNvPr id="24" name="Picture 2" descr="Obraz 1, Obraz">
            <a:extLst>
              <a:ext uri="{FF2B5EF4-FFF2-40B4-BE49-F238E27FC236}">
                <a16:creationId xmlns:a16="http://schemas.microsoft.com/office/drawing/2014/main" id="{6BFB8861-BD4F-DFC7-7CAF-7C13B6897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5400" y="3728801"/>
            <a:ext cx="4716741" cy="2376014"/>
          </a:xfrm>
          <a:prstGeom prst="rect">
            <a:avLst/>
          </a:prstGeom>
          <a:noFill/>
          <a:extLst>
            <a:ext uri="{909E8E84-426E-40DD-AFC4-6F175D3DCCD1}">
              <a14:hiddenFill xmlns:a14="http://schemas.microsoft.com/office/drawing/2010/main">
                <a:solidFill>
                  <a:srgbClr val="FFFFFF"/>
                </a:solidFill>
              </a14:hiddenFill>
            </a:ext>
          </a:extLst>
        </p:spPr>
      </p:pic>
      <p:pic>
        <p:nvPicPr>
          <p:cNvPr id="25" name="Obraz 24">
            <a:extLst>
              <a:ext uri="{FF2B5EF4-FFF2-40B4-BE49-F238E27FC236}">
                <a16:creationId xmlns:a16="http://schemas.microsoft.com/office/drawing/2014/main" id="{F8B3A323-4E44-09F6-0FBB-D176867A0EE6}"/>
              </a:ext>
            </a:extLst>
          </p:cNvPr>
          <p:cNvPicPr>
            <a:picLocks noChangeAspect="1"/>
          </p:cNvPicPr>
          <p:nvPr/>
        </p:nvPicPr>
        <p:blipFill>
          <a:blip r:embed="rId4"/>
          <a:stretch>
            <a:fillRect/>
          </a:stretch>
        </p:blipFill>
        <p:spPr>
          <a:xfrm>
            <a:off x="2667529" y="4643801"/>
            <a:ext cx="1951450" cy="569677"/>
          </a:xfrm>
          <a:prstGeom prst="rect">
            <a:avLst/>
          </a:prstGeom>
        </p:spPr>
      </p:pic>
    </p:spTree>
    <p:extLst>
      <p:ext uri="{BB962C8B-B14F-4D97-AF65-F5344CB8AC3E}">
        <p14:creationId xmlns:p14="http://schemas.microsoft.com/office/powerpoint/2010/main" val="1268479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FA3CB2-26F1-6852-ED35-5C73EB62DEFE}"/>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a16="http://schemas.microsoft.com/office/drawing/2014/main" id="{3DF9D811-2FEC-C0E7-60B3-A608EFA0C9F0}"/>
              </a:ext>
            </a:extLst>
          </p:cNvPr>
          <p:cNvSpPr>
            <a:spLocks noGrp="1"/>
          </p:cNvSpPr>
          <p:nvPr>
            <p:ph idx="1"/>
          </p:nvPr>
        </p:nvSpPr>
        <p:spPr/>
        <p:txBody>
          <a:bodyPr/>
          <a:lstStyle/>
          <a:p>
            <a:endParaRPr lang="pl-PL"/>
          </a:p>
        </p:txBody>
      </p:sp>
      <p:pic>
        <p:nvPicPr>
          <p:cNvPr id="5" name="Obraz 4">
            <a:extLst>
              <a:ext uri="{FF2B5EF4-FFF2-40B4-BE49-F238E27FC236}">
                <a16:creationId xmlns:a16="http://schemas.microsoft.com/office/drawing/2014/main" id="{B63F6208-F2C5-07AA-2DD7-1425DDC393E5}"/>
              </a:ext>
            </a:extLst>
          </p:cNvPr>
          <p:cNvPicPr>
            <a:picLocks noChangeAspect="1"/>
          </p:cNvPicPr>
          <p:nvPr/>
        </p:nvPicPr>
        <p:blipFill>
          <a:blip r:embed="rId3"/>
          <a:stretch>
            <a:fillRect/>
          </a:stretch>
        </p:blipFill>
        <p:spPr>
          <a:xfrm>
            <a:off x="-307480" y="0"/>
            <a:ext cx="12499480" cy="6858000"/>
          </a:xfrm>
          <a:prstGeom prst="rect">
            <a:avLst/>
          </a:prstGeom>
        </p:spPr>
      </p:pic>
    </p:spTree>
    <p:extLst>
      <p:ext uri="{BB962C8B-B14F-4D97-AF65-F5344CB8AC3E}">
        <p14:creationId xmlns:p14="http://schemas.microsoft.com/office/powerpoint/2010/main" val="3487525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320254-80F5-F25C-3979-93C65F296B06}"/>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684E2317-F16C-2C72-004B-4E3BFCEE9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BBF38F9B-A68A-212C-E8B2-2E86CA1BBF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9000"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ytuł 4">
            <a:extLst>
              <a:ext uri="{FF2B5EF4-FFF2-40B4-BE49-F238E27FC236}">
                <a16:creationId xmlns:a16="http://schemas.microsoft.com/office/drawing/2014/main" id="{E9FCCA34-71B4-813D-E845-AA91DDCA7F5F}"/>
              </a:ext>
            </a:extLst>
          </p:cNvPr>
          <p:cNvSpPr>
            <a:spLocks noGrp="1"/>
          </p:cNvSpPr>
          <p:nvPr>
            <p:ph type="title"/>
          </p:nvPr>
        </p:nvSpPr>
        <p:spPr/>
        <p:txBody>
          <a:bodyPr/>
          <a:lstStyle/>
          <a:p>
            <a:r>
              <a:rPr lang="pl-PL" dirty="0"/>
              <a:t>Cel projektu ? </a:t>
            </a:r>
          </a:p>
        </p:txBody>
      </p:sp>
      <p:sp>
        <p:nvSpPr>
          <p:cNvPr id="13" name="Owal 12">
            <a:extLst>
              <a:ext uri="{FF2B5EF4-FFF2-40B4-BE49-F238E27FC236}">
                <a16:creationId xmlns:a16="http://schemas.microsoft.com/office/drawing/2014/main" id="{64C46282-16FA-A136-60FD-91FBAA436832}"/>
              </a:ext>
            </a:extLst>
          </p:cNvPr>
          <p:cNvSpPr/>
          <p:nvPr/>
        </p:nvSpPr>
        <p:spPr>
          <a:xfrm>
            <a:off x="1050536" y="2127636"/>
            <a:ext cx="1335915" cy="1335915"/>
          </a:xfrm>
          <a:prstGeom prst="ellipse">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pl-PL" dirty="0"/>
          </a:p>
        </p:txBody>
      </p:sp>
      <p:sp>
        <p:nvSpPr>
          <p:cNvPr id="15" name="Dowolny kształt: kształt 14">
            <a:extLst>
              <a:ext uri="{FF2B5EF4-FFF2-40B4-BE49-F238E27FC236}">
                <a16:creationId xmlns:a16="http://schemas.microsoft.com/office/drawing/2014/main" id="{6B3D84AF-64AB-C188-D5D3-8BEB6FD653E0}"/>
              </a:ext>
            </a:extLst>
          </p:cNvPr>
          <p:cNvSpPr/>
          <p:nvPr/>
        </p:nvSpPr>
        <p:spPr>
          <a:xfrm>
            <a:off x="2632401" y="3463551"/>
            <a:ext cx="3148942" cy="1335915"/>
          </a:xfrm>
          <a:custGeom>
            <a:avLst/>
            <a:gdLst>
              <a:gd name="connsiteX0" fmla="*/ 0 w 3148942"/>
              <a:gd name="connsiteY0" fmla="*/ 0 h 1335915"/>
              <a:gd name="connsiteX1" fmla="*/ 3148942 w 3148942"/>
              <a:gd name="connsiteY1" fmla="*/ 0 h 1335915"/>
              <a:gd name="connsiteX2" fmla="*/ 3148942 w 3148942"/>
              <a:gd name="connsiteY2" fmla="*/ 1335915 h 1335915"/>
              <a:gd name="connsiteX3" fmla="*/ 0 w 3148942"/>
              <a:gd name="connsiteY3" fmla="*/ 1335915 h 1335915"/>
              <a:gd name="connsiteX4" fmla="*/ 0 w 3148942"/>
              <a:gd name="connsiteY4" fmla="*/ 0 h 1335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8942" h="1335915">
                <a:moveTo>
                  <a:pt x="0" y="0"/>
                </a:moveTo>
                <a:lnTo>
                  <a:pt x="3148942" y="0"/>
                </a:lnTo>
                <a:lnTo>
                  <a:pt x="3148942" y="1335915"/>
                </a:lnTo>
                <a:lnTo>
                  <a:pt x="0" y="13359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pl-PL" sz="2000" kern="1200" dirty="0"/>
              <a:t>Łatwy w obsłudze intuicyjny program, gdzie wprowadza się dyfraktogram (dane) albo wartości UVW i w oparciu</a:t>
            </a:r>
            <a:br>
              <a:rPr lang="pl-PL" sz="2000" kern="1200" dirty="0"/>
            </a:br>
            <a:r>
              <a:rPr lang="pl-PL" sz="2000" kern="1200" dirty="0"/>
              <a:t>o wcześniej wyuczone schematy i widmo referencyjne dla danego dyfraktometru (może się zmienić z konfiguracją) analizuje i daje rozmiar krystalitu i naprężenie. Nie ma potrzeby wprowadzania modelu strukturalnego.</a:t>
            </a:r>
            <a:endParaRPr lang="en-US" sz="2000" kern="1200" dirty="0"/>
          </a:p>
        </p:txBody>
      </p:sp>
      <p:sp>
        <p:nvSpPr>
          <p:cNvPr id="16" name="Owal 15">
            <a:extLst>
              <a:ext uri="{FF2B5EF4-FFF2-40B4-BE49-F238E27FC236}">
                <a16:creationId xmlns:a16="http://schemas.microsoft.com/office/drawing/2014/main" id="{EAAC4A91-F258-9219-E33A-832C3B3187F4}"/>
              </a:ext>
            </a:extLst>
          </p:cNvPr>
          <p:cNvSpPr/>
          <p:nvPr/>
        </p:nvSpPr>
        <p:spPr>
          <a:xfrm>
            <a:off x="6370340" y="2127636"/>
            <a:ext cx="1335915" cy="1335915"/>
          </a:xfrm>
          <a:prstGeom prst="ellipse">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pl-PL" dirty="0"/>
          </a:p>
        </p:txBody>
      </p:sp>
      <p:sp>
        <p:nvSpPr>
          <p:cNvPr id="18" name="Dowolny kształt: kształt 17">
            <a:extLst>
              <a:ext uri="{FF2B5EF4-FFF2-40B4-BE49-F238E27FC236}">
                <a16:creationId xmlns:a16="http://schemas.microsoft.com/office/drawing/2014/main" id="{A7726F46-B325-730E-5723-F5BAD24D936A}"/>
              </a:ext>
            </a:extLst>
          </p:cNvPr>
          <p:cNvSpPr/>
          <p:nvPr/>
        </p:nvSpPr>
        <p:spPr>
          <a:xfrm>
            <a:off x="7992522" y="3333336"/>
            <a:ext cx="3148942" cy="1335915"/>
          </a:xfrm>
          <a:custGeom>
            <a:avLst/>
            <a:gdLst>
              <a:gd name="connsiteX0" fmla="*/ 0 w 3148942"/>
              <a:gd name="connsiteY0" fmla="*/ 0 h 1335915"/>
              <a:gd name="connsiteX1" fmla="*/ 3148942 w 3148942"/>
              <a:gd name="connsiteY1" fmla="*/ 0 h 1335915"/>
              <a:gd name="connsiteX2" fmla="*/ 3148942 w 3148942"/>
              <a:gd name="connsiteY2" fmla="*/ 1335915 h 1335915"/>
              <a:gd name="connsiteX3" fmla="*/ 0 w 3148942"/>
              <a:gd name="connsiteY3" fmla="*/ 1335915 h 1335915"/>
              <a:gd name="connsiteX4" fmla="*/ 0 w 3148942"/>
              <a:gd name="connsiteY4" fmla="*/ 0 h 1335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8942" h="1335915">
                <a:moveTo>
                  <a:pt x="0" y="0"/>
                </a:moveTo>
                <a:lnTo>
                  <a:pt x="3148942" y="0"/>
                </a:lnTo>
                <a:lnTo>
                  <a:pt x="3148942" y="1335915"/>
                </a:lnTo>
                <a:lnTo>
                  <a:pt x="0" y="13359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pl-PL" sz="2400" kern="1200" dirty="0"/>
              <a:t>Różnica od innych programów? Np. </a:t>
            </a:r>
            <a:br>
              <a:rPr lang="pl-PL" sz="2400" kern="1200" dirty="0"/>
            </a:br>
            <a:r>
              <a:rPr lang="pl-PL" sz="2400" kern="1200" dirty="0"/>
              <a:t>w programie </a:t>
            </a:r>
            <a:r>
              <a:rPr lang="pl-PL" sz="2400" kern="1200" dirty="0" err="1"/>
              <a:t>FullProff</a:t>
            </a:r>
            <a:r>
              <a:rPr lang="pl-PL" sz="2400" kern="1200" dirty="0"/>
              <a:t> konieczny jest model strukturalny do tej analizy, co zawiera dużo danych i wyrzuca dużo danych, a my chcemy jedynie te dwie wartości. </a:t>
            </a:r>
            <a:endParaRPr lang="en-US" sz="2400" kern="1200" dirty="0"/>
          </a:p>
        </p:txBody>
      </p:sp>
      <p:pic>
        <p:nvPicPr>
          <p:cNvPr id="21" name="Grafika 20" descr="Bąbelki z wypełnieniem pełnym">
            <a:extLst>
              <a:ext uri="{FF2B5EF4-FFF2-40B4-BE49-F238E27FC236}">
                <a16:creationId xmlns:a16="http://schemas.microsoft.com/office/drawing/2014/main" id="{5A6F84BF-80C4-0837-EB43-F60C7A84EA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8228" y="2277626"/>
            <a:ext cx="914400" cy="914400"/>
          </a:xfrm>
          <a:prstGeom prst="rect">
            <a:avLst/>
          </a:prstGeom>
        </p:spPr>
      </p:pic>
      <p:pic>
        <p:nvPicPr>
          <p:cNvPr id="23" name="Grafika 22" descr="Bąbelki kontur">
            <a:extLst>
              <a:ext uri="{FF2B5EF4-FFF2-40B4-BE49-F238E27FC236}">
                <a16:creationId xmlns:a16="http://schemas.microsoft.com/office/drawing/2014/main" id="{D9AC69E6-F112-4E87-274B-F8418AA601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1293" y="2338393"/>
            <a:ext cx="914400" cy="914400"/>
          </a:xfrm>
          <a:prstGeom prst="rect">
            <a:avLst/>
          </a:prstGeom>
        </p:spPr>
      </p:pic>
    </p:spTree>
    <p:extLst>
      <p:ext uri="{BB962C8B-B14F-4D97-AF65-F5344CB8AC3E}">
        <p14:creationId xmlns:p14="http://schemas.microsoft.com/office/powerpoint/2010/main" val="91699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D1A22E-8A6C-CD09-4F73-FDF6A37F2C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5CD17E8-3AF2-6928-7F1C-BBFAAB72F3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D1D2590-0D62-6D8D-701F-68785C7A4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ytuł 1">
            <a:extLst>
              <a:ext uri="{FF2B5EF4-FFF2-40B4-BE49-F238E27FC236}">
                <a16:creationId xmlns:a16="http://schemas.microsoft.com/office/drawing/2014/main" id="{B8D493F2-D535-8B20-D2A3-D7940958F0BD}"/>
              </a:ext>
            </a:extLst>
          </p:cNvPr>
          <p:cNvSpPr>
            <a:spLocks noGrp="1"/>
          </p:cNvSpPr>
          <p:nvPr>
            <p:ph type="title"/>
          </p:nvPr>
        </p:nvSpPr>
        <p:spPr>
          <a:xfrm>
            <a:off x="838200" y="713312"/>
            <a:ext cx="4038600" cy="5431376"/>
          </a:xfrm>
        </p:spPr>
        <p:txBody>
          <a:bodyPr>
            <a:normAutofit/>
          </a:bodyPr>
          <a:lstStyle/>
          <a:p>
            <a:r>
              <a:rPr lang="pl-PL" dirty="0"/>
              <a:t>Sfery wymagające dopracowania</a:t>
            </a:r>
            <a:br>
              <a:rPr lang="pl-PL" dirty="0"/>
            </a:br>
            <a:r>
              <a:rPr lang="pl-PL" dirty="0"/>
              <a:t>lub doprecyzowania</a:t>
            </a:r>
          </a:p>
        </p:txBody>
      </p:sp>
      <p:sp>
        <p:nvSpPr>
          <p:cNvPr id="3" name="Symbol zastępczy zawartości 2">
            <a:extLst>
              <a:ext uri="{FF2B5EF4-FFF2-40B4-BE49-F238E27FC236}">
                <a16:creationId xmlns:a16="http://schemas.microsoft.com/office/drawing/2014/main" id="{E4669691-2659-9930-7C6B-9D69097D6F2D}"/>
              </a:ext>
            </a:extLst>
          </p:cNvPr>
          <p:cNvSpPr>
            <a:spLocks noGrp="1"/>
          </p:cNvSpPr>
          <p:nvPr>
            <p:ph idx="1"/>
          </p:nvPr>
        </p:nvSpPr>
        <p:spPr>
          <a:xfrm>
            <a:off x="6095999" y="713313"/>
            <a:ext cx="5257801" cy="5431376"/>
          </a:xfrm>
        </p:spPr>
        <p:txBody>
          <a:bodyPr anchor="ctr">
            <a:normAutofit/>
          </a:bodyPr>
          <a:lstStyle/>
          <a:p>
            <a:r>
              <a:rPr lang="pl-PL" sz="2400" dirty="0"/>
              <a:t> Zależność </a:t>
            </a:r>
            <a:r>
              <a:rPr lang="pl-PL" sz="2400" dirty="0" err="1"/>
              <a:t>Gaussianu</a:t>
            </a:r>
            <a:r>
              <a:rPr lang="pl-PL" sz="2400" dirty="0"/>
              <a:t> i </a:t>
            </a:r>
            <a:r>
              <a:rPr lang="pl-PL" sz="2400" dirty="0" err="1"/>
              <a:t>Lorenzianu</a:t>
            </a:r>
            <a:endParaRPr lang="pl-PL" sz="2400" dirty="0"/>
          </a:p>
          <a:p>
            <a:r>
              <a:rPr lang="pl-PL" sz="2400" dirty="0"/>
              <a:t>Wykorzystywana metoda (UDM, USDM czy UDEDM)</a:t>
            </a:r>
          </a:p>
          <a:p>
            <a:r>
              <a:rPr lang="pl-PL" sz="2400" dirty="0"/>
              <a:t>Sytuacja, gdy piki referencyjne (aparaturowe) nie pokrywają się </a:t>
            </a:r>
            <a:br>
              <a:rPr lang="pl-PL" sz="2400" dirty="0"/>
            </a:br>
            <a:r>
              <a:rPr lang="pl-PL" sz="2400" dirty="0"/>
              <a:t>z pikami próbek.</a:t>
            </a:r>
          </a:p>
          <a:p>
            <a:r>
              <a:rPr lang="pl-PL" sz="2400" dirty="0"/>
              <a:t>Jak odciąć tło? *</a:t>
            </a:r>
          </a:p>
          <a:p>
            <a:endParaRPr lang="pl-PL" sz="2400" dirty="0"/>
          </a:p>
        </p:txBody>
      </p:sp>
      <p:sp>
        <p:nvSpPr>
          <p:cNvPr id="5" name="pole tekstowe 4">
            <a:extLst>
              <a:ext uri="{FF2B5EF4-FFF2-40B4-BE49-F238E27FC236}">
                <a16:creationId xmlns:a16="http://schemas.microsoft.com/office/drawing/2014/main" id="{D8115FF3-0854-49F5-291D-1F83BC195E60}"/>
              </a:ext>
            </a:extLst>
          </p:cNvPr>
          <p:cNvSpPr txBox="1"/>
          <p:nvPr/>
        </p:nvSpPr>
        <p:spPr>
          <a:xfrm>
            <a:off x="838199" y="5959979"/>
            <a:ext cx="11060575" cy="646331"/>
          </a:xfrm>
          <a:prstGeom prst="rect">
            <a:avLst/>
          </a:prstGeom>
          <a:noFill/>
        </p:spPr>
        <p:txBody>
          <a:bodyPr wrap="square">
            <a:spAutoFit/>
          </a:bodyPr>
          <a:lstStyle/>
          <a:p>
            <a:r>
              <a:rPr lang="pl-PL" dirty="0"/>
              <a:t>*W posiadanych danych do nauki algorytmu mamy dane dotyczące tła, ale podejrzewam, że podczas korzystania z końcowego programu nie będą one dane.</a:t>
            </a:r>
          </a:p>
        </p:txBody>
      </p:sp>
    </p:spTree>
    <p:extLst>
      <p:ext uri="{BB962C8B-B14F-4D97-AF65-F5344CB8AC3E}">
        <p14:creationId xmlns:p14="http://schemas.microsoft.com/office/powerpoint/2010/main" val="2466480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AB1767-E88D-2493-7589-C98220290E55}"/>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F1C0744E-3C57-BD4B-11F6-345513B73B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4EAAA938-03A9-AD5B-4FFC-79DCE198A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5017681B-CA4D-8788-CC40-375CDBC44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ytuł 1">
            <a:extLst>
              <a:ext uri="{FF2B5EF4-FFF2-40B4-BE49-F238E27FC236}">
                <a16:creationId xmlns:a16="http://schemas.microsoft.com/office/drawing/2014/main" id="{B9A047D5-DB50-9016-DFCD-0A9850BD40CD}"/>
              </a:ext>
            </a:extLst>
          </p:cNvPr>
          <p:cNvSpPr>
            <a:spLocks noGrp="1"/>
          </p:cNvSpPr>
          <p:nvPr>
            <p:ph type="ctrTitle"/>
          </p:nvPr>
        </p:nvSpPr>
        <p:spPr>
          <a:xfrm>
            <a:off x="5791200" y="1058780"/>
            <a:ext cx="5562599" cy="3092116"/>
          </a:xfrm>
        </p:spPr>
        <p:txBody>
          <a:bodyPr anchor="ctr">
            <a:normAutofit/>
          </a:bodyPr>
          <a:lstStyle/>
          <a:p>
            <a:pPr algn="r"/>
            <a:r>
              <a:rPr lang="pl-PL" sz="5200" dirty="0"/>
              <a:t>Dziękuję za uwagę</a:t>
            </a:r>
          </a:p>
        </p:txBody>
      </p:sp>
      <p:sp>
        <p:nvSpPr>
          <p:cNvPr id="3" name="Podtytuł 2">
            <a:extLst>
              <a:ext uri="{FF2B5EF4-FFF2-40B4-BE49-F238E27FC236}">
                <a16:creationId xmlns:a16="http://schemas.microsoft.com/office/drawing/2014/main" id="{90A49EEA-D07A-BB93-709F-1F0EF840A0D6}"/>
              </a:ext>
            </a:extLst>
          </p:cNvPr>
          <p:cNvSpPr>
            <a:spLocks noGrp="1"/>
          </p:cNvSpPr>
          <p:nvPr>
            <p:ph type="subTitle" idx="1"/>
          </p:nvPr>
        </p:nvSpPr>
        <p:spPr>
          <a:xfrm>
            <a:off x="838200" y="5041616"/>
            <a:ext cx="3781926" cy="1246472"/>
          </a:xfrm>
        </p:spPr>
        <p:txBody>
          <a:bodyPr anchor="ctr">
            <a:normAutofit/>
          </a:bodyPr>
          <a:lstStyle/>
          <a:p>
            <a:pPr algn="l"/>
            <a:r>
              <a:rPr lang="pl-PL" dirty="0"/>
              <a:t>Kurdziel Natalia</a:t>
            </a:r>
          </a:p>
        </p:txBody>
      </p:sp>
    </p:spTree>
    <p:extLst>
      <p:ext uri="{BB962C8B-B14F-4D97-AF65-F5344CB8AC3E}">
        <p14:creationId xmlns:p14="http://schemas.microsoft.com/office/powerpoint/2010/main" val="119969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4B33FA-6010-77B4-BD93-4E0E8C8F7D68}"/>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a16="http://schemas.microsoft.com/office/drawing/2014/main" id="{36138C57-F584-215F-3746-9C248223C84C}"/>
              </a:ext>
            </a:extLst>
          </p:cNvPr>
          <p:cNvSpPr>
            <a:spLocks noGrp="1"/>
          </p:cNvSpPr>
          <p:nvPr>
            <p:ph idx="1"/>
          </p:nvPr>
        </p:nvSpPr>
        <p:spPr/>
        <p:txBody>
          <a:bodyPr>
            <a:normAutofit fontScale="92500" lnSpcReduction="10000"/>
          </a:bodyPr>
          <a:lstStyle/>
          <a:p>
            <a:pPr>
              <a:buNone/>
            </a:pPr>
            <a:r>
              <a:rPr lang="pl-PL" dirty="0">
                <a:latin typeface="-apple-system"/>
              </a:rPr>
              <a:t>Chciałam się jeszcze dokładniej przyjrzeć tym danym dotyczącym tak idealnego </a:t>
            </a:r>
            <a:r>
              <a:rPr lang="pl-PL" dirty="0" err="1">
                <a:latin typeface="-apple-system"/>
              </a:rPr>
              <a:t>fwhm</a:t>
            </a:r>
            <a:r>
              <a:rPr lang="pl-PL" dirty="0">
                <a:latin typeface="-apple-system"/>
              </a:rPr>
              <a:t> pochodzącego z danych referencyjnych (danych z programu) i udało mi się zebrać sporo informacji na jednym wykresie. Znajdują się tam : dopasowanie funkcji </a:t>
            </a:r>
            <a:r>
              <a:rPr lang="pl-PL" dirty="0" err="1">
                <a:latin typeface="-apple-system"/>
              </a:rPr>
              <a:t>pseudo_voight</a:t>
            </a:r>
            <a:r>
              <a:rPr lang="pl-PL" dirty="0">
                <a:latin typeface="-apple-system"/>
              </a:rPr>
              <a:t> do danych razem z </a:t>
            </a:r>
            <a:r>
              <a:rPr lang="pl-PL" dirty="0" err="1">
                <a:latin typeface="-apple-system"/>
              </a:rPr>
              <a:t>fwhm</a:t>
            </a:r>
            <a:r>
              <a:rPr lang="pl-PL" dirty="0">
                <a:latin typeface="-apple-system"/>
              </a:rPr>
              <a:t> z dopasowania znalezionego wcześniej piku przez </a:t>
            </a:r>
            <a:r>
              <a:rPr lang="pl-PL" dirty="0" err="1">
                <a:latin typeface="-apple-system"/>
              </a:rPr>
              <a:t>find</a:t>
            </a:r>
            <a:r>
              <a:rPr lang="pl-PL" dirty="0">
                <a:latin typeface="-apple-system"/>
              </a:rPr>
              <a:t> </a:t>
            </a:r>
            <a:r>
              <a:rPr lang="pl-PL" dirty="0" err="1">
                <a:latin typeface="-apple-system"/>
              </a:rPr>
              <a:t>peaks</a:t>
            </a:r>
            <a:r>
              <a:rPr lang="pl-PL" dirty="0">
                <a:latin typeface="-apple-system"/>
              </a:rPr>
              <a:t>, miejsce zaznaczone przez 2theta gdzie według programu powinien znajdować się pik oraz jego szerokość narysowana w połowie wysokości oraz pionowe linie (bledsze) dla lepszej wizualizacji. Zdarza się niestety, że w wielu miejscach punkt 2_theta z dopasowania przez program zewnętrzny nie do końca jest rzeczywiście w środku piku. </a:t>
            </a:r>
          </a:p>
          <a:p>
            <a:pPr>
              <a:buNone/>
            </a:pPr>
            <a:r>
              <a:rPr lang="pl-PL" dirty="0">
                <a:latin typeface="-apple-system"/>
              </a:rPr>
              <a:t> </a:t>
            </a:r>
          </a:p>
          <a:p>
            <a:pPr>
              <a:buNone/>
            </a:pPr>
            <a:r>
              <a:rPr lang="pl-PL" dirty="0">
                <a:latin typeface="-apple-system"/>
              </a:rPr>
              <a:t> </a:t>
            </a:r>
            <a:endParaRPr lang="pl-PL" dirty="0"/>
          </a:p>
          <a:p>
            <a:pPr marL="0" indent="0">
              <a:buNone/>
            </a:pPr>
            <a:endParaRPr lang="pl-PL" dirty="0"/>
          </a:p>
        </p:txBody>
      </p:sp>
    </p:spTree>
    <p:extLst>
      <p:ext uri="{BB962C8B-B14F-4D97-AF65-F5344CB8AC3E}">
        <p14:creationId xmlns:p14="http://schemas.microsoft.com/office/powerpoint/2010/main" val="2105577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CE932E9-1E7A-3BDD-7150-810FAA77B476}"/>
              </a:ext>
            </a:extLst>
          </p:cNvPr>
          <p:cNvSpPr>
            <a:spLocks noGrp="1"/>
          </p:cNvSpPr>
          <p:nvPr>
            <p:ph type="title"/>
          </p:nvPr>
        </p:nvSpPr>
        <p:spPr/>
        <p:txBody>
          <a:bodyPr/>
          <a:lstStyle/>
          <a:p>
            <a:endParaRPr lang="pl-PL" dirty="0"/>
          </a:p>
        </p:txBody>
      </p:sp>
      <p:sp>
        <p:nvSpPr>
          <p:cNvPr id="3" name="Symbol zastępczy zawartości 2">
            <a:extLst>
              <a:ext uri="{FF2B5EF4-FFF2-40B4-BE49-F238E27FC236}">
                <a16:creationId xmlns:a16="http://schemas.microsoft.com/office/drawing/2014/main" id="{A125D5B1-A58C-A613-F479-413BDD372062}"/>
              </a:ext>
            </a:extLst>
          </p:cNvPr>
          <p:cNvSpPr>
            <a:spLocks noGrp="1"/>
          </p:cNvSpPr>
          <p:nvPr>
            <p:ph idx="1"/>
          </p:nvPr>
        </p:nvSpPr>
        <p:spPr/>
        <p:txBody>
          <a:bodyPr/>
          <a:lstStyle/>
          <a:p>
            <a:endParaRPr lang="pl-PL" dirty="0"/>
          </a:p>
        </p:txBody>
      </p:sp>
      <p:sp>
        <p:nvSpPr>
          <p:cNvPr id="4" name="AutoShape 2" descr="obraz">
            <a:extLst>
              <a:ext uri="{FF2B5EF4-FFF2-40B4-BE49-F238E27FC236}">
                <a16:creationId xmlns:a16="http://schemas.microsoft.com/office/drawing/2014/main" id="{05509458-3100-19AA-7FB3-CFB006AA7F3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pic>
        <p:nvPicPr>
          <p:cNvPr id="1030" name="Picture 6">
            <a:extLst>
              <a:ext uri="{FF2B5EF4-FFF2-40B4-BE49-F238E27FC236}">
                <a16:creationId xmlns:a16="http://schemas.microsoft.com/office/drawing/2014/main" id="{82D20552-FFB2-D5CC-90DB-C20DA854F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515225" cy="46672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133EECEA-A990-5683-89C1-6F158E3FA4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4083" y="2026505"/>
            <a:ext cx="7515225"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49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B920499-28F2-3854-BB5A-FD1F276FE8F0}"/>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a16="http://schemas.microsoft.com/office/drawing/2014/main" id="{5D04E63D-10BE-8CD0-BC1C-7D49FE3434CB}"/>
              </a:ext>
            </a:extLst>
          </p:cNvPr>
          <p:cNvSpPr>
            <a:spLocks noGrp="1"/>
          </p:cNvSpPr>
          <p:nvPr>
            <p:ph idx="1"/>
          </p:nvPr>
        </p:nvSpPr>
        <p:spPr/>
        <p:txBody>
          <a:bodyPr/>
          <a:lstStyle/>
          <a:p>
            <a:endParaRPr lang="pl-PL" dirty="0"/>
          </a:p>
        </p:txBody>
      </p:sp>
      <p:pic>
        <p:nvPicPr>
          <p:cNvPr id="2052" name="Picture 4">
            <a:extLst>
              <a:ext uri="{FF2B5EF4-FFF2-40B4-BE49-F238E27FC236}">
                <a16:creationId xmlns:a16="http://schemas.microsoft.com/office/drawing/2014/main" id="{311AEB21-B258-4353-8337-68F06705E0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585"/>
            <a:ext cx="7524750" cy="46672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3430DE01-CF31-177F-03FF-3DF9E36B8D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6775" y="2383509"/>
            <a:ext cx="7515225"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136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826041C-8C46-BB16-17B0-8CFE8E259F74}"/>
              </a:ext>
            </a:extLst>
          </p:cNvPr>
          <p:cNvSpPr>
            <a:spLocks noGrp="1"/>
          </p:cNvSpPr>
          <p:nvPr>
            <p:ph type="title"/>
          </p:nvPr>
        </p:nvSpPr>
        <p:spPr/>
        <p:txBody>
          <a:bodyPr/>
          <a:lstStyle/>
          <a:p>
            <a:r>
              <a:rPr lang="pl-PL" dirty="0"/>
              <a:t> </a:t>
            </a:r>
          </a:p>
        </p:txBody>
      </p:sp>
      <p:sp>
        <p:nvSpPr>
          <p:cNvPr id="3" name="Symbol zastępczy zawartości 2">
            <a:extLst>
              <a:ext uri="{FF2B5EF4-FFF2-40B4-BE49-F238E27FC236}">
                <a16:creationId xmlns:a16="http://schemas.microsoft.com/office/drawing/2014/main" id="{2043D3C2-5B45-A14E-616A-3759058359A6}"/>
              </a:ext>
            </a:extLst>
          </p:cNvPr>
          <p:cNvSpPr>
            <a:spLocks noGrp="1"/>
          </p:cNvSpPr>
          <p:nvPr>
            <p:ph idx="1"/>
          </p:nvPr>
        </p:nvSpPr>
        <p:spPr>
          <a:xfrm>
            <a:off x="838200" y="185195"/>
            <a:ext cx="5400554" cy="5991768"/>
          </a:xfrm>
        </p:spPr>
        <p:txBody>
          <a:bodyPr>
            <a:normAutofit fontScale="85000" lnSpcReduction="20000"/>
          </a:bodyPr>
          <a:lstStyle/>
          <a:p>
            <a:pPr>
              <a:buNone/>
            </a:pPr>
            <a:endParaRPr lang="pl-PL" dirty="0">
              <a:latin typeface="-apple-system"/>
            </a:endParaRPr>
          </a:p>
          <a:p>
            <a:pPr>
              <a:buNone/>
            </a:pPr>
            <a:r>
              <a:rPr lang="pl-PL" dirty="0">
                <a:latin typeface="-apple-system"/>
              </a:rPr>
              <a:t> </a:t>
            </a:r>
          </a:p>
          <a:p>
            <a:pPr>
              <a:buNone/>
            </a:pPr>
            <a:r>
              <a:rPr lang="pl-PL" dirty="0">
                <a:latin typeface="-apple-system"/>
              </a:rPr>
              <a:t>Już rozumiem co wprowadza błędy - tak wyglądają wyniki tej samej próbki po pewnym okresie mielenia. Być może że trafiłam na taką nieszczęsną, gdzie dopasowanie jest bardzo dobrze pasujące do niemielonej próbki, a trochę przesunięte w przypadku pozostałych próbek, mimo wszystko sprawdziłam i różnią się te liczby nieznacznie, co oznacza, że dla każdego dopasowania pobrane zostały inne dane (sprawdzałam czy nie zdublowały się po prostu dane z jednej próbki na następne ale nie). Pewnie nie ma to w takim razie dla nas znaczenia ale i tak zostawię tą notkę w czacie, gdyby w przyszłości wywołało problemy.  </a:t>
            </a:r>
          </a:p>
          <a:p>
            <a:pPr>
              <a:buNone/>
            </a:pPr>
            <a:r>
              <a:rPr lang="pl-PL" dirty="0">
                <a:latin typeface="-apple-system"/>
              </a:rPr>
              <a:t> </a:t>
            </a:r>
            <a:endParaRPr lang="pl-PL" dirty="0"/>
          </a:p>
        </p:txBody>
      </p:sp>
      <p:pic>
        <p:nvPicPr>
          <p:cNvPr id="3074" name="Picture 2">
            <a:extLst>
              <a:ext uri="{FF2B5EF4-FFF2-40B4-BE49-F238E27FC236}">
                <a16:creationId xmlns:a16="http://schemas.microsoft.com/office/drawing/2014/main" id="{FAA7364D-CD0C-2DA3-EFF8-ACDF8F4258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7340" y="2514600"/>
            <a:ext cx="5524500"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331625"/>
      </p:ext>
    </p:extLst>
  </p:cSld>
  <p:clrMapOvr>
    <a:masterClrMapping/>
  </p:clrMapOvr>
</p:sld>
</file>

<file path=ppt/theme/theme1.xml><?xml version="1.0" encoding="utf-8"?>
<a:theme xmlns:a="http://schemas.openxmlformats.org/drawingml/2006/main" name="Motyw pakietu Office">
  <a:themeElements>
    <a:clrScheme name="Ciepły niebieski">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23D8374791C8F43B12F75E46849ABD2" ma:contentTypeVersion="10" ma:contentTypeDescription="Utwórz nowy dokument." ma:contentTypeScope="" ma:versionID="1b6257b1adf67f9077e764d91ef252ea">
  <xsd:schema xmlns:xsd="http://www.w3.org/2001/XMLSchema" xmlns:xs="http://www.w3.org/2001/XMLSchema" xmlns:p="http://schemas.microsoft.com/office/2006/metadata/properties" xmlns:ns3="c4c062c1-1785-4622-926e-e54f55d54382" xmlns:ns4="3d74851c-d6b5-40f3-8848-806f5d49d7c9" targetNamespace="http://schemas.microsoft.com/office/2006/metadata/properties" ma:root="true" ma:fieldsID="357a4fe7fed9c98a28e1e4e31bd258d7" ns3:_="" ns4:_="">
    <xsd:import namespace="c4c062c1-1785-4622-926e-e54f55d54382"/>
    <xsd:import namespace="3d74851c-d6b5-40f3-8848-806f5d49d7c9"/>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LengthInSecond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c062c1-1785-4622-926e-e54f55d54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LengthInSeconds" ma:index="15" nillable="true" ma:displayName="MediaLengthInSeconds" ma:hidden="true" ma:internalName="MediaLengthInSeconds" ma:readOnly="true">
      <xsd:simpleType>
        <xsd:restriction base="dms:Unknown"/>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d74851c-d6b5-40f3-8848-806f5d49d7c9" elementFormDefault="qualified">
    <xsd:import namespace="http://schemas.microsoft.com/office/2006/documentManagement/types"/>
    <xsd:import namespace="http://schemas.microsoft.com/office/infopath/2007/PartnerControls"/>
    <xsd:element name="SharedWithUsers" ma:index="12" nillable="true" ma:displayName="Udostępniani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Udostępnione dla — szczegóły" ma:internalName="SharedWithDetails" ma:readOnly="true">
      <xsd:simpleType>
        <xsd:restriction base="dms:Note">
          <xsd:maxLength value="255"/>
        </xsd:restriction>
      </xsd:simpleType>
    </xsd:element>
    <xsd:element name="SharingHintHash" ma:index="14" nillable="true" ma:displayName="Skrót wskazówki dotyczącej udostępniania"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4c062c1-1785-4622-926e-e54f55d54382" xsi:nil="true"/>
  </documentManagement>
</p:properties>
</file>

<file path=customXml/itemProps1.xml><?xml version="1.0" encoding="utf-8"?>
<ds:datastoreItem xmlns:ds="http://schemas.openxmlformats.org/officeDocument/2006/customXml" ds:itemID="{75386C64-BDBE-40F5-9E24-9B96BF1D24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c062c1-1785-4622-926e-e54f55d54382"/>
    <ds:schemaRef ds:uri="3d74851c-d6b5-40f3-8848-806f5d49d7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B27FA31-E297-43A3-AAB6-B6138774ECF0}">
  <ds:schemaRefs>
    <ds:schemaRef ds:uri="http://schemas.microsoft.com/sharepoint/v3/contenttype/forms"/>
  </ds:schemaRefs>
</ds:datastoreItem>
</file>

<file path=customXml/itemProps3.xml><?xml version="1.0" encoding="utf-8"?>
<ds:datastoreItem xmlns:ds="http://schemas.openxmlformats.org/officeDocument/2006/customXml" ds:itemID="{7E950858-356E-4FC6-8550-BE7CB4485409}">
  <ds:schemaRefs>
    <ds:schemaRef ds:uri="http://purl.org/dc/dcmitype/"/>
    <ds:schemaRef ds:uri="3d74851c-d6b5-40f3-8848-806f5d49d7c9"/>
    <ds:schemaRef ds:uri="http://purl.org/dc/terms/"/>
    <ds:schemaRef ds:uri="http://purl.org/dc/elements/1.1/"/>
    <ds:schemaRef ds:uri="http://schemas.openxmlformats.org/package/2006/metadata/core-properties"/>
    <ds:schemaRef ds:uri="http://www.w3.org/XML/1998/namespace"/>
    <ds:schemaRef ds:uri="c4c062c1-1785-4622-926e-e54f55d54382"/>
    <ds:schemaRef ds:uri="http://schemas.microsoft.com/office/2006/documentManagement/types"/>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1123</TotalTime>
  <Words>1507</Words>
  <Application>Microsoft Office PowerPoint</Application>
  <PresentationFormat>Panoramiczny</PresentationFormat>
  <Paragraphs>120</Paragraphs>
  <Slides>22</Slides>
  <Notes>15</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22</vt:i4>
      </vt:variant>
    </vt:vector>
  </HeadingPairs>
  <TitlesOfParts>
    <vt:vector size="29" baseType="lpstr">
      <vt:lpstr>-apple-system</vt:lpstr>
      <vt:lpstr>Aptos</vt:lpstr>
      <vt:lpstr>Aptos Display</vt:lpstr>
      <vt:lpstr>Arial</vt:lpstr>
      <vt:lpstr>Courier New</vt:lpstr>
      <vt:lpstr>Wingdings</vt:lpstr>
      <vt:lpstr>Motyw pakietu Office</vt:lpstr>
      <vt:lpstr>Rozmiar krystalitu, metody XRD  i   Williamsona - Halla</vt:lpstr>
      <vt:lpstr>Spis treści</vt:lpstr>
      <vt:lpstr>Krystalit</vt:lpstr>
      <vt:lpstr>Jakie znaczenie ma rozmiar krystalitu? </vt:lpstr>
      <vt:lpstr>Wpływ rozmiaru na właściwości materiałów</vt:lpstr>
      <vt:lpstr>Metody do pomiaru rozmiaru krystalitów</vt:lpstr>
      <vt:lpstr> </vt:lpstr>
      <vt:lpstr>Metoda XRF – analiza pików</vt:lpstr>
      <vt:lpstr>Metoda XRF</vt:lpstr>
      <vt:lpstr>Określenie szerokości połówkowej FWHM</vt:lpstr>
      <vt:lpstr>Metoda Williamsona-Halla (W-H)</vt:lpstr>
      <vt:lpstr>Metoda Williamsona-Halla (W-H)</vt:lpstr>
      <vt:lpstr> </vt:lpstr>
      <vt:lpstr> </vt:lpstr>
      <vt:lpstr>Prezentacja programu PowerPoint</vt:lpstr>
      <vt:lpstr>Cel projektu ? </vt:lpstr>
      <vt:lpstr>Sfery wymagające dopracowania lub doprecyzowania</vt:lpstr>
      <vt:lpstr>Dziękuję za uwagę</vt:lpstr>
      <vt:lpstr>Prezentacja programu PowerPoint</vt:lpstr>
      <vt:lpstr>Prezentacja programu PowerPoint</vt:lpstr>
      <vt:lpstr>Prezentacja programu PowerPoint</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Natalia Kurdziel</dc:creator>
  <cp:lastModifiedBy>Natalia Kurdziel</cp:lastModifiedBy>
  <cp:revision>7</cp:revision>
  <dcterms:created xsi:type="dcterms:W3CDTF">2025-06-23T14:35:25Z</dcterms:created>
  <dcterms:modified xsi:type="dcterms:W3CDTF">2026-01-02T23:33:26Z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0x010100A23D8374791C8F43B12F75E46849ABD2</vt:lpwstr>
  </property>
</Properties>
</file>